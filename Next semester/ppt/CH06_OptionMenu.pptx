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314" r:id="rId3"/>
    <p:sldId id="303" r:id="rId4"/>
    <p:sldId id="306" r:id="rId5"/>
    <p:sldId id="307" r:id="rId6"/>
    <p:sldId id="308" r:id="rId7"/>
    <p:sldId id="302" r:id="rId8"/>
    <p:sldId id="311" r:id="rId9"/>
    <p:sldId id="301" r:id="rId10"/>
    <p:sldId id="309" r:id="rId11"/>
    <p:sldId id="305" r:id="rId12"/>
    <p:sldId id="312" r:id="rId13"/>
    <p:sldId id="304" r:id="rId14"/>
    <p:sldId id="313" r:id="rId15"/>
    <p:sldId id="319" r:id="rId16"/>
    <p:sldId id="297" r:id="rId17"/>
    <p:sldId id="295" r:id="rId18"/>
    <p:sldId id="316" r:id="rId19"/>
    <p:sldId id="317" r:id="rId20"/>
    <p:sldId id="318" r:id="rId21"/>
    <p:sldId id="315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>
      <p:cViewPr varScale="1">
        <p:scale>
          <a:sx n="108" d="100"/>
          <a:sy n="108" d="100"/>
        </p:scale>
        <p:origin x="17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81699-69A6-452F-94A2-04B496C86193}" type="datetimeFigureOut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5B030-809D-4F61-94E6-0002C8946A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970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27AE2D2-A899-4222-B9E0-2F69355B53BC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192E-6208-4E27-A69B-DF41C22FD586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82997-9E3C-4301-9282-F0F92367602E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8171-A347-4DE4-88EE-D86B84DCD9DD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5533-66AC-48FB-8D23-2B4034A4DE38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48968-96BB-4BFF-A510-AD4037A29133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D790-731F-4A61-9FC7-05D45F6D1FAF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928DF2AF-5749-46D1-9AE0-D7EC8D4C4B64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A8F7E521-B9D8-4552-956E-0B4097B33FC4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7E005-3431-4CA6-99FE-DC8F94E06F88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12D6-09A4-4224-925F-508AFE4BDD81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0293653-15F7-4FC6-B79E-128EDD0C8141}" type="datetime1">
              <a:rPr lang="zh-TW" altLang="en-US" smtClean="0"/>
              <a:t>2024/5/22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-course.eu/tkinter_entry_widgets.php" TargetMode="External"/><Relationship Id="rId2" Type="http://schemas.openxmlformats.org/officeDocument/2006/relationships/hyperlink" Target="http://pan.baidu.com/share/link?shareid=2190696726&amp;uk=338543583&amp;fid=714357500588689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OptionMenu</a:t>
            </a:r>
            <a:r>
              <a:rPr lang="zh-TW" altLang="en-US" dirty="0"/>
              <a:t>組件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9071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學習目標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本章節介紹</a:t>
            </a:r>
            <a:r>
              <a:rPr lang="en-US" altLang="zh-TW" dirty="0"/>
              <a:t>:</a:t>
            </a:r>
            <a:endParaRPr lang="en-US" altLang="zh-TW" sz="2400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建立一個</a:t>
            </a:r>
            <a:r>
              <a:rPr lang="en-US" altLang="zh-TW" dirty="0" err="1"/>
              <a:t>OptionMenu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顯示</a:t>
            </a:r>
            <a:r>
              <a:rPr lang="en-US" altLang="zh-TW" dirty="0" err="1"/>
              <a:t>OptionMenu</a:t>
            </a:r>
            <a:r>
              <a:rPr lang="zh-TW" altLang="en-US" dirty="0"/>
              <a:t>選項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err="1"/>
              <a:t>Menubar</a:t>
            </a:r>
            <a:r>
              <a:rPr lang="zh-TW" altLang="en-US" dirty="0"/>
              <a:t>應用</a:t>
            </a:r>
            <a:endParaRPr lang="en-US" altLang="zh-TW" sz="24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748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建立一個</a:t>
            </a:r>
            <a:r>
              <a:rPr lang="en-US" altLang="zh-TW" dirty="0" err="1"/>
              <a:t>OptionMenu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語法</a:t>
            </a:r>
            <a:r>
              <a:rPr lang="en-US" altLang="zh-TW" dirty="0"/>
              <a:t>1:</a:t>
            </a:r>
          </a:p>
          <a:p>
            <a:pPr marL="365760" lvl="1" indent="0">
              <a:buNone/>
            </a:pPr>
            <a:r>
              <a:rPr lang="en-US" altLang="zh-TW" sz="1600" dirty="0"/>
              <a:t>v = </a:t>
            </a:r>
            <a:r>
              <a:rPr lang="en-US" altLang="zh-TW" sz="1600" dirty="0" err="1"/>
              <a:t>StringVar</a:t>
            </a:r>
            <a:r>
              <a:rPr lang="en-US" altLang="zh-TW" sz="1600" dirty="0"/>
              <a:t>(root)</a:t>
            </a:r>
            <a:r>
              <a:rPr lang="en-US" altLang="zh-TW" sz="1600" dirty="0">
                <a:solidFill>
                  <a:srgbClr val="FF0000"/>
                </a:solidFill>
              </a:rPr>
              <a:t>#</a:t>
            </a:r>
            <a:r>
              <a:rPr lang="zh-TW" altLang="en-US" sz="1600" dirty="0">
                <a:solidFill>
                  <a:srgbClr val="FF0000"/>
                </a:solidFill>
              </a:rPr>
              <a:t>變動字元變數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600" dirty="0" err="1"/>
              <a:t>v.set</a:t>
            </a:r>
            <a:r>
              <a:rPr lang="en-US" altLang="zh-TW" sz="1600" dirty="0"/>
              <a:t>("</a:t>
            </a:r>
            <a:r>
              <a:rPr lang="zh-TW" altLang="en-US" sz="1600" dirty="0"/>
              <a:t>電子系</a:t>
            </a:r>
            <a:r>
              <a:rPr lang="en-US" altLang="zh-TW" sz="1600" dirty="0"/>
              <a:t>")</a:t>
            </a:r>
            <a:r>
              <a:rPr lang="en-US" altLang="zh-TW" sz="1600" dirty="0">
                <a:solidFill>
                  <a:srgbClr val="FF0000"/>
                </a:solidFill>
              </a:rPr>
              <a:t> #</a:t>
            </a:r>
            <a:r>
              <a:rPr lang="zh-TW" altLang="en-US" sz="1600" dirty="0">
                <a:solidFill>
                  <a:srgbClr val="FF0000"/>
                </a:solidFill>
              </a:rPr>
              <a:t>設定為電子系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600" dirty="0">
                <a:solidFill>
                  <a:srgbClr val="FF0000"/>
                </a:solidFill>
              </a:rPr>
              <a:t>#</a:t>
            </a:r>
            <a:r>
              <a:rPr lang="zh-TW" altLang="en-US" sz="1600" dirty="0">
                <a:solidFill>
                  <a:srgbClr val="FF0000"/>
                </a:solidFill>
              </a:rPr>
              <a:t>預設為電子系，其中選項有電子系、電機系、資工系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600" dirty="0" err="1"/>
              <a:t>om</a:t>
            </a:r>
            <a:r>
              <a:rPr lang="en-US" altLang="zh-TW" sz="1600" dirty="0"/>
              <a:t> = </a:t>
            </a:r>
            <a:r>
              <a:rPr lang="en-US" altLang="zh-TW" sz="1600" dirty="0" err="1"/>
              <a:t>OptionMenu</a:t>
            </a:r>
            <a:r>
              <a:rPr lang="en-US" altLang="zh-TW" sz="1600" dirty="0"/>
              <a:t>(root,</a:t>
            </a:r>
          </a:p>
          <a:p>
            <a:pPr marL="365760" lvl="1" indent="0">
              <a:buNone/>
            </a:pPr>
            <a:r>
              <a:rPr lang="en-US" altLang="zh-TW" sz="1600" dirty="0"/>
              <a:t>v,"</a:t>
            </a:r>
            <a:r>
              <a:rPr lang="zh-TW" altLang="en-US" sz="1600" dirty="0"/>
              <a:t>電子系</a:t>
            </a:r>
            <a:r>
              <a:rPr lang="en-US" altLang="zh-TW" sz="1600" dirty="0"/>
              <a:t>","</a:t>
            </a:r>
            <a:r>
              <a:rPr lang="zh-TW" altLang="en-US" sz="1600" dirty="0"/>
              <a:t>電機系</a:t>
            </a:r>
            <a:r>
              <a:rPr lang="en-US" altLang="zh-TW" sz="1600" dirty="0"/>
              <a:t>","</a:t>
            </a:r>
            <a:r>
              <a:rPr lang="zh-TW" altLang="en-US" sz="1600" dirty="0"/>
              <a:t>資工系</a:t>
            </a:r>
            <a:r>
              <a:rPr lang="en-US" altLang="zh-TW" sz="1600" dirty="0"/>
              <a:t>")</a:t>
            </a:r>
          </a:p>
          <a:p>
            <a:pPr marL="365760" lvl="1" indent="0">
              <a:buNone/>
            </a:pPr>
            <a:r>
              <a:rPr lang="en-US" altLang="zh-TW" sz="1600" dirty="0" err="1"/>
              <a:t>om.pack</a:t>
            </a:r>
            <a:r>
              <a:rPr lang="en-US" altLang="zh-TW" sz="1600" dirty="0"/>
              <a:t>()</a:t>
            </a:r>
            <a:r>
              <a:rPr lang="en-US" altLang="zh-TW" sz="1600" dirty="0">
                <a:solidFill>
                  <a:srgbClr val="FF0000"/>
                </a:solidFill>
              </a:rPr>
              <a:t> #</a:t>
            </a:r>
            <a:r>
              <a:rPr lang="zh-TW" altLang="en-US" sz="1600" dirty="0">
                <a:solidFill>
                  <a:srgbClr val="FF0000"/>
                </a:solidFill>
              </a:rPr>
              <a:t>建立</a:t>
            </a:r>
            <a:r>
              <a:rPr lang="en-US" altLang="zh-TW" sz="1600" dirty="0" err="1">
                <a:solidFill>
                  <a:srgbClr val="FF0000"/>
                </a:solidFill>
              </a:rPr>
              <a:t>OptionMenu</a:t>
            </a:r>
            <a:endParaRPr lang="en-US" altLang="zh-TW" sz="1600" dirty="0"/>
          </a:p>
          <a:p>
            <a:r>
              <a:rPr lang="zh-TW" altLang="en-US" dirty="0"/>
              <a:t>語法</a:t>
            </a:r>
            <a:r>
              <a:rPr lang="en-US" altLang="zh-TW" dirty="0"/>
              <a:t>2:</a:t>
            </a:r>
          </a:p>
          <a:p>
            <a:pPr marL="320040" lvl="2" indent="0">
              <a:buNone/>
            </a:pPr>
            <a:r>
              <a:rPr lang="en-US" altLang="zh-TW" sz="1600" dirty="0"/>
              <a:t>department=["</a:t>
            </a:r>
            <a:r>
              <a:rPr lang="zh-TW" altLang="en-US" sz="1600" dirty="0"/>
              <a:t>電子系</a:t>
            </a:r>
            <a:r>
              <a:rPr lang="en-US" altLang="zh-TW" sz="1600" dirty="0"/>
              <a:t>","</a:t>
            </a:r>
            <a:r>
              <a:rPr lang="zh-TW" altLang="en-US" sz="1600" dirty="0"/>
              <a:t>電機系</a:t>
            </a:r>
            <a:r>
              <a:rPr lang="en-US" altLang="zh-TW" sz="1600" dirty="0"/>
              <a:t>","</a:t>
            </a:r>
            <a:r>
              <a:rPr lang="zh-TW" altLang="en-US" sz="1600" dirty="0"/>
              <a:t>資工系</a:t>
            </a:r>
            <a:r>
              <a:rPr lang="en-US" altLang="zh-TW" sz="1600" dirty="0"/>
              <a:t>"]</a:t>
            </a:r>
            <a:r>
              <a:rPr lang="zh-TW" altLang="en-US" sz="1600" dirty="0"/>
              <a:t> </a:t>
            </a:r>
            <a:r>
              <a:rPr lang="en-US" altLang="zh-TW" sz="1600" dirty="0">
                <a:solidFill>
                  <a:srgbClr val="FF0000"/>
                </a:solidFill>
              </a:rPr>
              <a:t>#</a:t>
            </a:r>
            <a:r>
              <a:rPr lang="zh-TW" altLang="en-US" sz="1600" dirty="0">
                <a:solidFill>
                  <a:srgbClr val="FF0000"/>
                </a:solidFill>
              </a:rPr>
              <a:t>建立串列放置字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320040" lvl="2" indent="0">
              <a:buNone/>
            </a:pPr>
            <a:r>
              <a:rPr lang="en-US" altLang="zh-TW" sz="1600" dirty="0"/>
              <a:t>v = </a:t>
            </a:r>
            <a:r>
              <a:rPr lang="en-US" altLang="zh-TW" sz="1600" dirty="0" err="1"/>
              <a:t>StringVar</a:t>
            </a:r>
            <a:r>
              <a:rPr lang="en-US" altLang="zh-TW" sz="1600" dirty="0"/>
              <a:t>() </a:t>
            </a:r>
            <a:r>
              <a:rPr lang="en-US" altLang="zh-TW" sz="1600" dirty="0">
                <a:solidFill>
                  <a:srgbClr val="FF0000"/>
                </a:solidFill>
              </a:rPr>
              <a:t>#</a:t>
            </a:r>
            <a:r>
              <a:rPr lang="zh-TW" altLang="en-US" sz="1600" dirty="0">
                <a:solidFill>
                  <a:srgbClr val="FF0000"/>
                </a:solidFill>
              </a:rPr>
              <a:t>變動字元變數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320040" lvl="2" indent="0">
              <a:buNone/>
            </a:pPr>
            <a:r>
              <a:rPr lang="en-US" altLang="zh-TW" sz="1600" dirty="0" err="1"/>
              <a:t>v.set</a:t>
            </a:r>
            <a:r>
              <a:rPr lang="en-US" altLang="zh-TW" sz="1600" dirty="0"/>
              <a:t>("</a:t>
            </a:r>
            <a:r>
              <a:rPr lang="zh-TW" altLang="en-US" sz="1600" dirty="0"/>
              <a:t>電子系</a:t>
            </a:r>
            <a:r>
              <a:rPr lang="en-US" altLang="zh-TW" sz="1600" dirty="0"/>
              <a:t>") </a:t>
            </a:r>
            <a:r>
              <a:rPr lang="en-US" altLang="zh-TW" sz="1600" dirty="0">
                <a:solidFill>
                  <a:srgbClr val="FF0000"/>
                </a:solidFill>
              </a:rPr>
              <a:t>#</a:t>
            </a:r>
            <a:r>
              <a:rPr lang="zh-TW" altLang="en-US" sz="1600" dirty="0">
                <a:solidFill>
                  <a:srgbClr val="FF0000"/>
                </a:solidFill>
              </a:rPr>
              <a:t>設定為電子系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320040" lvl="2" indent="0">
              <a:buNone/>
            </a:pPr>
            <a:r>
              <a:rPr lang="en-US" altLang="zh-TW" sz="1600" dirty="0">
                <a:solidFill>
                  <a:srgbClr val="FF0000"/>
                </a:solidFill>
              </a:rPr>
              <a:t>#</a:t>
            </a:r>
            <a:r>
              <a:rPr lang="zh-TW" altLang="en-US" sz="1600" dirty="0">
                <a:solidFill>
                  <a:srgbClr val="FF0000"/>
                </a:solidFill>
              </a:rPr>
              <a:t>預設為電子系，其中選項有電子系、電機系、資工系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320040" lvl="2" indent="0">
              <a:buNone/>
            </a:pPr>
            <a:r>
              <a:rPr lang="en-US" altLang="zh-TW" sz="1600" dirty="0" err="1"/>
              <a:t>om</a:t>
            </a:r>
            <a:r>
              <a:rPr lang="en-US" altLang="zh-TW" sz="1600" dirty="0"/>
              <a:t>=</a:t>
            </a:r>
            <a:r>
              <a:rPr lang="en-US" altLang="zh-TW" sz="1600" dirty="0" err="1"/>
              <a:t>OptionMenu</a:t>
            </a:r>
            <a:r>
              <a:rPr lang="en-US" altLang="zh-TW" sz="1600" dirty="0"/>
              <a:t>(root, v, *department)</a:t>
            </a:r>
          </a:p>
          <a:p>
            <a:pPr marL="320040" lvl="2" indent="0">
              <a:buNone/>
            </a:pPr>
            <a:r>
              <a:rPr lang="en-US" altLang="zh-TW" sz="1600" dirty="0" err="1"/>
              <a:t>om.pack</a:t>
            </a:r>
            <a:r>
              <a:rPr lang="en-US" altLang="zh-TW" sz="1600" dirty="0"/>
              <a:t>() </a:t>
            </a:r>
            <a:r>
              <a:rPr lang="en-US" altLang="zh-TW" sz="1600" dirty="0">
                <a:solidFill>
                  <a:srgbClr val="FF0000"/>
                </a:solidFill>
              </a:rPr>
              <a:t>#</a:t>
            </a:r>
            <a:r>
              <a:rPr lang="zh-TW" altLang="en-US" sz="1600" dirty="0">
                <a:solidFill>
                  <a:srgbClr val="FF0000"/>
                </a:solidFill>
              </a:rPr>
              <a:t>建立</a:t>
            </a:r>
            <a:r>
              <a:rPr lang="en-US" altLang="zh-TW" sz="1600" dirty="0" err="1">
                <a:solidFill>
                  <a:srgbClr val="FF0000"/>
                </a:solidFill>
              </a:rPr>
              <a:t>OptionMenu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274320" lvl="1"/>
            <a:endParaRPr lang="zh-TW" altLang="en-US" dirty="0">
              <a:solidFill>
                <a:srgbClr val="FF0000"/>
              </a:solidFill>
            </a:endParaRP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352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建立一個</a:t>
            </a:r>
            <a:r>
              <a:rPr lang="en-US" altLang="zh-TW" dirty="0" err="1"/>
              <a:t>OptionMenu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v = </a:t>
            </a:r>
            <a:r>
              <a:rPr lang="en-US" altLang="zh-TW" dirty="0" err="1"/>
              <a:t>StringVar</a:t>
            </a:r>
            <a:r>
              <a:rPr lang="en-US" altLang="zh-TW" dirty="0"/>
              <a:t>(root)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變動字元變數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v.set</a:t>
            </a:r>
            <a:r>
              <a:rPr lang="en-US" altLang="zh-TW" dirty="0"/>
              <a:t>("</a:t>
            </a:r>
            <a:r>
              <a:rPr lang="zh-TW" altLang="en-US" dirty="0"/>
              <a:t>電子系</a:t>
            </a:r>
            <a:r>
              <a:rPr lang="en-US" altLang="zh-TW" dirty="0"/>
              <a:t>")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設定為電子系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預設為電子系，其中選項有電子系、電機系、資工系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om</a:t>
            </a:r>
            <a:r>
              <a:rPr lang="en-US" altLang="zh-TW" dirty="0"/>
              <a:t> = </a:t>
            </a:r>
            <a:r>
              <a:rPr lang="en-US" altLang="zh-TW" dirty="0" err="1"/>
              <a:t>OptionMenu</a:t>
            </a:r>
            <a:r>
              <a:rPr lang="en-US" altLang="zh-TW" dirty="0"/>
              <a:t>(root,</a:t>
            </a:r>
          </a:p>
          <a:p>
            <a:pPr marL="365760" lvl="1" indent="0">
              <a:buNone/>
            </a:pPr>
            <a:r>
              <a:rPr lang="en-US" altLang="zh-TW" dirty="0"/>
              <a:t>v,"</a:t>
            </a:r>
            <a:r>
              <a:rPr lang="zh-TW" altLang="en-US" dirty="0"/>
              <a:t>電子系</a:t>
            </a:r>
            <a:r>
              <a:rPr lang="en-US" altLang="zh-TW" dirty="0"/>
              <a:t>","</a:t>
            </a:r>
            <a:r>
              <a:rPr lang="zh-TW" altLang="en-US" dirty="0"/>
              <a:t>電機系</a:t>
            </a:r>
            <a:r>
              <a:rPr lang="en-US" altLang="zh-TW" dirty="0"/>
              <a:t>","</a:t>
            </a:r>
            <a:r>
              <a:rPr lang="zh-TW" altLang="en-US" dirty="0"/>
              <a:t>資工系</a:t>
            </a:r>
            <a:r>
              <a:rPr lang="en-US" altLang="zh-TW" dirty="0"/>
              <a:t>")</a:t>
            </a:r>
          </a:p>
          <a:p>
            <a:pPr marL="365760" lvl="1" indent="0">
              <a:buNone/>
            </a:pPr>
            <a:r>
              <a:rPr lang="en-US" altLang="zh-TW" dirty="0" err="1"/>
              <a:t>om.pack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 err="1">
                <a:solidFill>
                  <a:srgbClr val="FF0000"/>
                </a:solidFill>
              </a:rPr>
              <a:t>OptionMenu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4856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 err="1"/>
              <a:t>OptionMenu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924944"/>
            <a:ext cx="12573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2593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以上範例還沒有任何功能，可以透過</a:t>
            </a:r>
            <a:r>
              <a:rPr lang="en-US" altLang="zh-TW" dirty="0"/>
              <a:t>command</a:t>
            </a:r>
            <a:r>
              <a:rPr lang="zh-TW" altLang="en-US" dirty="0"/>
              <a:t>呼叫函式，將選擇到的選項顯示出來。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565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顯示</a:t>
            </a:r>
            <a:r>
              <a:rPr lang="en-US" altLang="zh-TW" dirty="0" err="1"/>
              <a:t>OptionMenu</a:t>
            </a:r>
            <a:r>
              <a:rPr lang="zh-TW" altLang="en-US" dirty="0"/>
              <a:t>選項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262071"/>
          </a:xfrm>
        </p:spPr>
        <p:txBody>
          <a:bodyPr>
            <a:noAutofit/>
          </a:bodyPr>
          <a:lstStyle/>
          <a:p>
            <a:r>
              <a:rPr lang="zh-TW" altLang="en-US" sz="1800" dirty="0"/>
              <a:t>範例</a:t>
            </a:r>
            <a:r>
              <a:rPr lang="en-US" altLang="zh-TW" sz="1800" dirty="0"/>
              <a:t>:</a:t>
            </a:r>
          </a:p>
          <a:p>
            <a:pPr marL="365760" lvl="1" indent="0">
              <a:buNone/>
            </a:pPr>
            <a:r>
              <a:rPr lang="en-US" altLang="zh-TW" sz="1200" dirty="0"/>
              <a:t>from </a:t>
            </a:r>
            <a:r>
              <a:rPr lang="en-US" altLang="zh-TW" sz="1200" dirty="0" err="1"/>
              <a:t>tkinter</a:t>
            </a:r>
            <a:r>
              <a:rPr lang="en-US" altLang="zh-TW" sz="1200" dirty="0"/>
              <a:t> import *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sz="1200" dirty="0"/>
              <a:t>root = </a:t>
            </a:r>
            <a:r>
              <a:rPr lang="en-US" altLang="zh-TW" sz="1200" dirty="0" err="1"/>
              <a:t>Tk</a:t>
            </a:r>
            <a:r>
              <a:rPr lang="en-US" altLang="zh-TW" sz="1200" dirty="0"/>
              <a:t>()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建立視窗</a:t>
            </a:r>
          </a:p>
          <a:p>
            <a:pPr marL="365760" lvl="1" indent="0">
              <a:buNone/>
            </a:pPr>
            <a:r>
              <a:rPr lang="en-US" altLang="zh-TW" sz="1200" dirty="0"/>
              <a:t>v = </a:t>
            </a:r>
            <a:r>
              <a:rPr lang="en-US" altLang="zh-TW" sz="1200" dirty="0" err="1"/>
              <a:t>StringVar</a:t>
            </a:r>
            <a:r>
              <a:rPr lang="en-US" altLang="zh-TW" sz="1200" dirty="0"/>
              <a:t>(root) 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變動字元變數</a:t>
            </a:r>
          </a:p>
          <a:p>
            <a:pPr marL="365760" lvl="1" indent="0">
              <a:buNone/>
            </a:pPr>
            <a:r>
              <a:rPr lang="en-US" altLang="zh-TW" sz="1200" dirty="0" err="1"/>
              <a:t>v.set</a:t>
            </a:r>
            <a:r>
              <a:rPr lang="en-US" altLang="zh-TW" sz="1200" dirty="0"/>
              <a:t>("</a:t>
            </a:r>
            <a:r>
              <a:rPr lang="zh-TW" altLang="en-US" sz="1200" dirty="0"/>
              <a:t>電子系</a:t>
            </a:r>
            <a:r>
              <a:rPr lang="en-US" altLang="zh-TW" sz="1200" dirty="0"/>
              <a:t>") 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設定為電子系</a:t>
            </a:r>
          </a:p>
          <a:p>
            <a:pPr marL="365760" lvl="1" indent="0">
              <a:buNone/>
            </a:pP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自行定義的函式</a:t>
            </a:r>
          </a:p>
          <a:p>
            <a:pPr marL="365760" lvl="1" indent="0">
              <a:buNone/>
            </a:pP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按下按鈕後顯示選擇的選項</a:t>
            </a:r>
          </a:p>
          <a:p>
            <a:pPr marL="365760" lvl="1" indent="0">
              <a:buNone/>
            </a:pPr>
            <a:r>
              <a:rPr lang="en-US" altLang="zh-TW" sz="1200" dirty="0" err="1"/>
              <a:t>def</a:t>
            </a:r>
            <a:r>
              <a:rPr lang="en-US" altLang="zh-TW" sz="1200" dirty="0"/>
              <a:t> ok():</a:t>
            </a:r>
          </a:p>
          <a:p>
            <a:pPr marL="365760" lvl="1" indent="0">
              <a:buNone/>
            </a:pPr>
            <a:r>
              <a:rPr lang="en-US" altLang="zh-TW" sz="1200" dirty="0"/>
              <a:t>    print( "</a:t>
            </a:r>
            <a:r>
              <a:rPr lang="zh-TW" altLang="en-US" sz="1200" dirty="0"/>
              <a:t>選擇的選項是</a:t>
            </a:r>
            <a:r>
              <a:rPr lang="en-US" altLang="zh-TW" sz="1200" dirty="0"/>
              <a:t>:", </a:t>
            </a:r>
            <a:r>
              <a:rPr lang="en-US" altLang="zh-TW" sz="1200" dirty="0" err="1"/>
              <a:t>v.get</a:t>
            </a:r>
            <a:r>
              <a:rPr lang="en-US" altLang="zh-TW" sz="1200" dirty="0"/>
              <a:t>() )</a:t>
            </a:r>
          </a:p>
          <a:p>
            <a:pPr marL="365760" lvl="1" indent="0">
              <a:buNone/>
            </a:pP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預設為電子系，其中選項有電子系、電機系、資工系</a:t>
            </a:r>
          </a:p>
          <a:p>
            <a:pPr marL="365760" lvl="1" indent="0">
              <a:buNone/>
            </a:pPr>
            <a:r>
              <a:rPr lang="en-US" altLang="zh-TW" sz="1200" dirty="0" err="1"/>
              <a:t>om</a:t>
            </a:r>
            <a:r>
              <a:rPr lang="en-US" altLang="zh-TW" sz="1200" dirty="0"/>
              <a:t> = </a:t>
            </a:r>
            <a:r>
              <a:rPr lang="en-US" altLang="zh-TW" sz="1200" dirty="0" err="1"/>
              <a:t>OptionMenu</a:t>
            </a:r>
            <a:r>
              <a:rPr lang="en-US" altLang="zh-TW" sz="1200" dirty="0"/>
              <a:t>(root,</a:t>
            </a:r>
          </a:p>
          <a:p>
            <a:pPr marL="365760" lvl="1" indent="0">
              <a:buNone/>
            </a:pPr>
            <a:r>
              <a:rPr lang="en-US" altLang="zh-TW" sz="1200" dirty="0"/>
              <a:t>v,"</a:t>
            </a:r>
            <a:r>
              <a:rPr lang="zh-TW" altLang="en-US" sz="1200" dirty="0"/>
              <a:t>電子系</a:t>
            </a:r>
            <a:r>
              <a:rPr lang="en-US" altLang="zh-TW" sz="1200" dirty="0"/>
              <a:t>","</a:t>
            </a:r>
            <a:r>
              <a:rPr lang="zh-TW" altLang="en-US" sz="1200" dirty="0"/>
              <a:t>電機系</a:t>
            </a:r>
            <a:r>
              <a:rPr lang="en-US" altLang="zh-TW" sz="1200" dirty="0"/>
              <a:t>","</a:t>
            </a:r>
            <a:r>
              <a:rPr lang="zh-TW" altLang="en-US" sz="1200" dirty="0"/>
              <a:t>資工系</a:t>
            </a:r>
            <a:r>
              <a:rPr lang="en-US" altLang="zh-TW" sz="1200" dirty="0"/>
              <a:t>")</a:t>
            </a:r>
          </a:p>
          <a:p>
            <a:pPr marL="365760" lvl="1" indent="0">
              <a:buNone/>
            </a:pPr>
            <a:r>
              <a:rPr lang="en-US" altLang="zh-TW" sz="1200" dirty="0" err="1"/>
              <a:t>om.pack</a:t>
            </a:r>
            <a:r>
              <a:rPr lang="en-US" altLang="zh-TW" sz="1200" dirty="0"/>
              <a:t>()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建立</a:t>
            </a:r>
            <a:r>
              <a:rPr lang="en-US" altLang="zh-TW" sz="1200" dirty="0" err="1">
                <a:solidFill>
                  <a:srgbClr val="FF0000"/>
                </a:solidFill>
              </a:rPr>
              <a:t>OptionMenu</a:t>
            </a:r>
            <a:endParaRPr lang="en-US" altLang="zh-TW" sz="12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200" dirty="0">
                <a:solidFill>
                  <a:srgbClr val="FF0000"/>
                </a:solidFill>
              </a:rPr>
              <a:t>#Button</a:t>
            </a:r>
            <a:r>
              <a:rPr lang="zh-TW" altLang="en-US" sz="1200" dirty="0">
                <a:solidFill>
                  <a:srgbClr val="FF0000"/>
                </a:solidFill>
              </a:rPr>
              <a:t>顯示</a:t>
            </a:r>
            <a:r>
              <a:rPr lang="en-US" altLang="zh-TW" sz="1200" dirty="0">
                <a:solidFill>
                  <a:srgbClr val="FF0000"/>
                </a:solidFill>
              </a:rPr>
              <a:t>OK</a:t>
            </a:r>
            <a:r>
              <a:rPr lang="zh-TW" altLang="en-US" sz="1200" dirty="0">
                <a:solidFill>
                  <a:srgbClr val="FF0000"/>
                </a:solidFill>
              </a:rPr>
              <a:t>字串，按下後呼叫</a:t>
            </a:r>
            <a:r>
              <a:rPr lang="en-US" altLang="zh-TW" sz="1200" dirty="0">
                <a:solidFill>
                  <a:srgbClr val="FF0000"/>
                </a:solidFill>
              </a:rPr>
              <a:t>ok</a:t>
            </a:r>
            <a:r>
              <a:rPr lang="zh-TW" altLang="en-US" sz="1200" dirty="0">
                <a:solidFill>
                  <a:srgbClr val="FF0000"/>
                </a:solidFill>
              </a:rPr>
              <a:t>函式</a:t>
            </a:r>
          </a:p>
          <a:p>
            <a:pPr marL="365760" lvl="1" indent="0">
              <a:buNone/>
            </a:pPr>
            <a:r>
              <a:rPr lang="en-US" altLang="zh-TW" sz="1200" dirty="0"/>
              <a:t>button = Button(root, text="OK", command= ok) </a:t>
            </a:r>
          </a:p>
          <a:p>
            <a:pPr marL="365760" lvl="1" indent="0">
              <a:buNone/>
            </a:pPr>
            <a:r>
              <a:rPr lang="en-US" altLang="zh-TW" sz="1200" dirty="0" err="1"/>
              <a:t>button.pack</a:t>
            </a:r>
            <a:r>
              <a:rPr lang="en-US" altLang="zh-TW" sz="1200" dirty="0"/>
              <a:t>()</a:t>
            </a:r>
            <a:r>
              <a:rPr lang="en-US" altLang="zh-TW" sz="1200" dirty="0">
                <a:solidFill>
                  <a:srgbClr val="FF0000"/>
                </a:solidFill>
              </a:rPr>
              <a:t>#</a:t>
            </a:r>
            <a:r>
              <a:rPr lang="zh-TW" altLang="en-US" sz="1200" dirty="0">
                <a:solidFill>
                  <a:srgbClr val="FF0000"/>
                </a:solidFill>
              </a:rPr>
              <a:t>建立</a:t>
            </a:r>
            <a:r>
              <a:rPr lang="en-US" altLang="zh-TW" sz="1200" dirty="0">
                <a:solidFill>
                  <a:srgbClr val="FF0000"/>
                </a:solidFill>
              </a:rPr>
              <a:t>Button</a:t>
            </a:r>
          </a:p>
          <a:p>
            <a:pPr marL="365760" lvl="1" indent="0">
              <a:buNone/>
            </a:pPr>
            <a:r>
              <a:rPr lang="en-US" altLang="zh-TW" sz="1200" dirty="0" err="1"/>
              <a:t>root.mainloop</a:t>
            </a:r>
            <a:r>
              <a:rPr lang="en-US" altLang="zh-TW" sz="1200" dirty="0"/>
              <a:t>()</a:t>
            </a:r>
          </a:p>
          <a:p>
            <a:endParaRPr lang="en-US" altLang="zh-TW" sz="11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471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顯示</a:t>
            </a:r>
            <a:r>
              <a:rPr lang="en-US" altLang="zh-TW" dirty="0" err="1"/>
              <a:t>OptionMenu</a:t>
            </a:r>
            <a:r>
              <a:rPr lang="zh-TW" altLang="en-US" dirty="0"/>
              <a:t>選項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預設狀態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</a:t>
            </a:r>
            <a:r>
              <a:rPr lang="en-US" altLang="zh-TW" dirty="0"/>
              <a:t>OK</a:t>
            </a:r>
            <a:r>
              <a:rPr lang="zh-TW" altLang="en-US" dirty="0"/>
              <a:t>鈕後結果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068960"/>
            <a:ext cx="12573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" t="86699" r="75384" b="9107"/>
          <a:stretch/>
        </p:blipFill>
        <p:spPr bwMode="auto">
          <a:xfrm>
            <a:off x="3635896" y="5354299"/>
            <a:ext cx="2268246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3594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顯示</a:t>
            </a:r>
            <a:r>
              <a:rPr lang="en-US" altLang="zh-TW" dirty="0" err="1"/>
              <a:t>OptionMenu</a:t>
            </a:r>
            <a:r>
              <a:rPr lang="zh-TW" altLang="en-US" dirty="0"/>
              <a:t>選項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import*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department=["</a:t>
            </a:r>
            <a:r>
              <a:rPr lang="zh-TW" altLang="en-US" dirty="0"/>
              <a:t>電子系</a:t>
            </a:r>
            <a:r>
              <a:rPr lang="en-US" altLang="zh-TW" dirty="0"/>
              <a:t>","</a:t>
            </a:r>
            <a:r>
              <a:rPr lang="zh-TW" altLang="en-US" dirty="0"/>
              <a:t>電機系</a:t>
            </a:r>
            <a:r>
              <a:rPr lang="en-US" altLang="zh-TW" dirty="0"/>
              <a:t>","</a:t>
            </a:r>
            <a:r>
              <a:rPr lang="zh-TW" altLang="en-US" dirty="0"/>
              <a:t>資工系</a:t>
            </a:r>
            <a:r>
              <a:rPr lang="en-US" altLang="zh-TW" dirty="0"/>
              <a:t>"]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建立串列放置字串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自行定義的函式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按下按鈕後顯示選擇的選項</a:t>
            </a:r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</a:t>
            </a:r>
            <a:r>
              <a:rPr lang="en-US" altLang="zh-TW" dirty="0" err="1"/>
              <a:t>func</a:t>
            </a:r>
            <a:r>
              <a:rPr lang="en-US" altLang="zh-TW" dirty="0"/>
              <a:t>(value):</a:t>
            </a:r>
          </a:p>
          <a:p>
            <a:pPr marL="365760" lvl="1" indent="0">
              <a:buNone/>
            </a:pPr>
            <a:r>
              <a:rPr lang="en-US" altLang="zh-TW" dirty="0"/>
              <a:t>    print(value)</a:t>
            </a:r>
          </a:p>
          <a:p>
            <a:pPr lvl="1"/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建立視窗</a:t>
            </a:r>
          </a:p>
          <a:p>
            <a:pPr marL="365760" lvl="1" indent="0">
              <a:buNone/>
            </a:pPr>
            <a:r>
              <a:rPr lang="en-US" altLang="zh-TW" dirty="0"/>
              <a:t>v = </a:t>
            </a:r>
            <a:r>
              <a:rPr lang="en-US" altLang="zh-TW" dirty="0" err="1"/>
              <a:t>StringVar</a:t>
            </a:r>
            <a:r>
              <a:rPr lang="en-US" altLang="zh-TW" dirty="0"/>
              <a:t>()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變動字元變數</a:t>
            </a:r>
          </a:p>
          <a:p>
            <a:pPr marL="365760" lvl="1" indent="0">
              <a:buNone/>
            </a:pPr>
            <a:r>
              <a:rPr lang="en-US" altLang="zh-TW" dirty="0" err="1"/>
              <a:t>v.set</a:t>
            </a:r>
            <a:r>
              <a:rPr lang="en-US" altLang="zh-TW" dirty="0"/>
              <a:t>("</a:t>
            </a:r>
            <a:r>
              <a:rPr lang="zh-TW" altLang="en-US" dirty="0"/>
              <a:t>電子系</a:t>
            </a:r>
            <a:r>
              <a:rPr lang="en-US" altLang="zh-TW" dirty="0"/>
              <a:t>")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設定為電子系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預設為電子系，其中選項有電子系、電機系、資工系</a:t>
            </a:r>
          </a:p>
          <a:p>
            <a:pPr marL="365760" lvl="1" indent="0">
              <a:buNone/>
            </a:pPr>
            <a:r>
              <a:rPr lang="en-US" altLang="zh-TW" dirty="0" err="1"/>
              <a:t>om</a:t>
            </a:r>
            <a:r>
              <a:rPr lang="en-US" altLang="zh-TW" dirty="0"/>
              <a:t>=</a:t>
            </a:r>
            <a:r>
              <a:rPr lang="en-US" altLang="zh-TW" dirty="0" err="1"/>
              <a:t>OptionMenu</a:t>
            </a:r>
            <a:r>
              <a:rPr lang="en-US" altLang="zh-TW" dirty="0"/>
              <a:t>(root, v, *department, command=</a:t>
            </a:r>
            <a:r>
              <a:rPr lang="en-US" altLang="zh-TW" dirty="0" err="1"/>
              <a:t>func</a:t>
            </a:r>
            <a:r>
              <a:rPr lang="en-US" altLang="zh-TW" dirty="0"/>
              <a:t>)</a:t>
            </a:r>
          </a:p>
          <a:p>
            <a:pPr marL="365760" lvl="1" indent="0">
              <a:buNone/>
            </a:pPr>
            <a:r>
              <a:rPr lang="en-US" altLang="zh-TW" dirty="0" err="1"/>
              <a:t>om.pack</a:t>
            </a:r>
            <a:r>
              <a:rPr lang="en-US" altLang="zh-TW" dirty="0"/>
              <a:t>()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 err="1">
                <a:solidFill>
                  <a:srgbClr val="FF0000"/>
                </a:solidFill>
              </a:rPr>
              <a:t>OptionMenu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54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顯示</a:t>
            </a:r>
            <a:r>
              <a:rPr lang="en-US" altLang="zh-TW" dirty="0" err="1"/>
              <a:t>OptionMenu</a:t>
            </a:r>
            <a:r>
              <a:rPr lang="zh-TW" altLang="en-US" dirty="0"/>
              <a:t>選項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預設狀態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marL="365760" lvl="1" indent="0">
              <a:buNone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選擇電機系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選擇電機系後顯示的資訊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149080"/>
            <a:ext cx="12573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" t="89251" r="91460" b="6878"/>
          <a:stretch/>
        </p:blipFill>
        <p:spPr bwMode="auto">
          <a:xfrm>
            <a:off x="4012518" y="5558902"/>
            <a:ext cx="648072" cy="393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762250"/>
            <a:ext cx="12573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5219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22960" lvl="1" indent="-457200" algn="ctr"/>
            <a:r>
              <a:rPr lang="en-US" altLang="zh-TW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Menubar</a:t>
            </a:r>
            <a:r>
              <a:rPr lang="zh-TW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應用</a:t>
            </a:r>
            <a:endParaRPr lang="en-US" altLang="zh-TW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118055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建立視窗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自行定義的函式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按下按鈕後顯示</a:t>
            </a:r>
            <a:r>
              <a:rPr lang="en-US" altLang="zh-TW" dirty="0">
                <a:solidFill>
                  <a:srgbClr val="FF0000"/>
                </a:solidFill>
              </a:rPr>
              <a:t>"</a:t>
            </a:r>
            <a:r>
              <a:rPr lang="zh-TW" altLang="en-US" dirty="0">
                <a:solidFill>
                  <a:srgbClr val="FF0000"/>
                </a:solidFill>
              </a:rPr>
              <a:t>已選擇</a:t>
            </a:r>
            <a:r>
              <a:rPr lang="en-US" altLang="zh-TW" dirty="0">
                <a:solidFill>
                  <a:srgbClr val="FF0000"/>
                </a:solidFill>
              </a:rPr>
              <a:t>"</a:t>
            </a:r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chose():</a:t>
            </a:r>
          </a:p>
          <a:p>
            <a:pPr marL="365760" lvl="1" indent="0">
              <a:buNone/>
            </a:pPr>
            <a:r>
              <a:rPr lang="en-US" altLang="zh-TW" dirty="0"/>
              <a:t>    print("</a:t>
            </a:r>
            <a:r>
              <a:rPr lang="zh-TW" altLang="en-US" dirty="0"/>
              <a:t>已選擇</a:t>
            </a:r>
            <a:r>
              <a:rPr lang="en-US" altLang="zh-TW" dirty="0"/>
              <a:t>")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初始化方塊選項</a:t>
            </a:r>
          </a:p>
          <a:p>
            <a:pPr marL="365760" lvl="1" indent="0">
              <a:buNone/>
            </a:pPr>
            <a:r>
              <a:rPr lang="en-US" altLang="zh-TW" dirty="0" err="1"/>
              <a:t>menubar</a:t>
            </a:r>
            <a:r>
              <a:rPr lang="en-US" altLang="zh-TW" dirty="0"/>
              <a:t> = Menu(root)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初始化下拉清單</a:t>
            </a:r>
          </a:p>
          <a:p>
            <a:pPr marL="365760" lvl="1" indent="0">
              <a:buNone/>
            </a:pPr>
            <a:r>
              <a:rPr lang="en-US" altLang="zh-TW" dirty="0" err="1"/>
              <a:t>filemenu</a:t>
            </a:r>
            <a:r>
              <a:rPr lang="en-US" altLang="zh-TW" dirty="0"/>
              <a:t> = Menu(root)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新稱至檔案下拉清單</a:t>
            </a:r>
          </a:p>
          <a:p>
            <a:pPr marL="365760" lvl="1" indent="0">
              <a:buNone/>
            </a:pPr>
            <a:r>
              <a:rPr lang="en-US" altLang="zh-TW" dirty="0"/>
              <a:t>for item in ["</a:t>
            </a:r>
            <a:r>
              <a:rPr lang="zh-TW" altLang="en-US" dirty="0"/>
              <a:t>電子系</a:t>
            </a:r>
            <a:r>
              <a:rPr lang="en-US" altLang="zh-TW" dirty="0"/>
              <a:t>","</a:t>
            </a:r>
            <a:r>
              <a:rPr lang="zh-TW" altLang="en-US" dirty="0"/>
              <a:t>電機系</a:t>
            </a:r>
            <a:r>
              <a:rPr lang="en-US" altLang="zh-TW" dirty="0"/>
              <a:t>","</a:t>
            </a:r>
            <a:r>
              <a:rPr lang="zh-TW" altLang="en-US" dirty="0"/>
              <a:t>資工系</a:t>
            </a:r>
            <a:r>
              <a:rPr lang="en-US" altLang="zh-TW" dirty="0"/>
              <a:t>"]:</a:t>
            </a: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filemenu.add_command</a:t>
            </a:r>
            <a:r>
              <a:rPr lang="en-US" altLang="zh-TW" dirty="0"/>
              <a:t>(label = </a:t>
            </a:r>
            <a:r>
              <a:rPr lang="en-US" altLang="zh-TW" dirty="0" err="1"/>
              <a:t>item,command</a:t>
            </a:r>
            <a:r>
              <a:rPr lang="en-US" altLang="zh-TW" dirty="0"/>
              <a:t> = chose)</a:t>
            </a:r>
          </a:p>
          <a:p>
            <a:pPr marL="365760" lvl="1" indent="0">
              <a:buNone/>
            </a:pPr>
            <a:r>
              <a:rPr lang="en-US" altLang="zh-TW" dirty="0" err="1"/>
              <a:t>menubar.add_cascade</a:t>
            </a:r>
            <a:r>
              <a:rPr lang="en-US" altLang="zh-TW" dirty="0"/>
              <a:t>(label = "</a:t>
            </a:r>
            <a:r>
              <a:rPr lang="zh-TW" altLang="en-US" dirty="0"/>
              <a:t>系所</a:t>
            </a:r>
            <a:r>
              <a:rPr lang="en-US" altLang="zh-TW" dirty="0"/>
              <a:t>",menu = </a:t>
            </a:r>
            <a:r>
              <a:rPr lang="en-US" altLang="zh-TW" dirty="0" err="1"/>
              <a:t>filemenu</a:t>
            </a:r>
            <a:r>
              <a:rPr lang="en-US" altLang="zh-TW" dirty="0"/>
              <a:t>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新稱至選項</a:t>
            </a:r>
          </a:p>
          <a:p>
            <a:pPr marL="365760" lvl="1" indent="0">
              <a:buNone/>
            </a:pPr>
            <a:r>
              <a:rPr lang="en-US" altLang="zh-TW" dirty="0"/>
              <a:t>root["menu"] = </a:t>
            </a:r>
            <a:r>
              <a:rPr lang="en-US" altLang="zh-TW" dirty="0" err="1"/>
              <a:t>menubar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建立選項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577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Menubar</a:t>
            </a:r>
            <a:r>
              <a:rPr lang="zh-TW" altLang="en-US" dirty="0"/>
              <a:t>應用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預設狀態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點選電子系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點選電子系顯示結果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496" y="2492896"/>
            <a:ext cx="1011460" cy="1208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844" y="3795881"/>
            <a:ext cx="1008112" cy="12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" t="89667" r="91314" b="5167"/>
          <a:stretch/>
        </p:blipFill>
        <p:spPr bwMode="auto">
          <a:xfrm>
            <a:off x="4326194" y="5733256"/>
            <a:ext cx="576064" cy="437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0144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Menubar</a:t>
            </a:r>
            <a:r>
              <a:rPr lang="zh-TW" altLang="en-US" dirty="0"/>
              <a:t>應用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1700808"/>
            <a:ext cx="6597228" cy="4968552"/>
          </a:xfrm>
        </p:spPr>
        <p:txBody>
          <a:bodyPr>
            <a:normAutofit fontScale="32500" lnSpcReduction="20000"/>
          </a:bodyPr>
          <a:lstStyle/>
          <a:p>
            <a:r>
              <a:rPr lang="zh-TW" altLang="en-US" sz="4000" dirty="0"/>
              <a:t>範例</a:t>
            </a:r>
            <a:r>
              <a:rPr lang="en-US" altLang="zh-TW" sz="4000" dirty="0"/>
              <a:t>:</a:t>
            </a:r>
          </a:p>
          <a:p>
            <a:pPr marL="365760" lvl="1" indent="0">
              <a:buNone/>
            </a:pPr>
            <a:r>
              <a:rPr lang="en-US" altLang="zh-TW" sz="2800" dirty="0"/>
              <a:t>from </a:t>
            </a:r>
            <a:r>
              <a:rPr lang="en-US" altLang="zh-TW" sz="2800" dirty="0" err="1"/>
              <a:t>tkinter</a:t>
            </a:r>
            <a:r>
              <a:rPr lang="en-US" altLang="zh-TW" sz="2800" dirty="0"/>
              <a:t> import * </a:t>
            </a: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sz="2800" dirty="0"/>
              <a:t>from </a:t>
            </a:r>
            <a:r>
              <a:rPr lang="en-US" altLang="zh-TW" sz="2800" dirty="0" err="1"/>
              <a:t>tkinter</a:t>
            </a:r>
            <a:r>
              <a:rPr lang="en-US" altLang="zh-TW" sz="2800" dirty="0"/>
              <a:t> import </a:t>
            </a:r>
            <a:r>
              <a:rPr lang="en-US" altLang="zh-TW" sz="2800" dirty="0" err="1"/>
              <a:t>filedialog</a:t>
            </a:r>
            <a:r>
              <a:rPr lang="en-US" altLang="zh-TW" sz="2800" dirty="0"/>
              <a:t> </a:t>
            </a:r>
          </a:p>
          <a:p>
            <a:pPr marL="365760" lvl="1" indent="0"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開檔函式</a:t>
            </a:r>
          </a:p>
          <a:p>
            <a:pPr marL="365760" lvl="1" indent="0">
              <a:buNone/>
            </a:pPr>
            <a:r>
              <a:rPr lang="en-US" altLang="zh-TW" sz="2800" dirty="0" err="1"/>
              <a:t>def</a:t>
            </a:r>
            <a:r>
              <a:rPr lang="en-US" altLang="zh-TW" sz="2800" dirty="0"/>
              <a:t> </a:t>
            </a:r>
            <a:r>
              <a:rPr lang="en-US" altLang="zh-TW" sz="2800" dirty="0" err="1"/>
              <a:t>OpenFile</a:t>
            </a:r>
            <a:r>
              <a:rPr lang="en-US" altLang="zh-TW" sz="2800" dirty="0"/>
              <a:t>():</a:t>
            </a:r>
            <a:endParaRPr lang="en-US" altLang="zh-TW" sz="28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    #</a:t>
            </a:r>
            <a:r>
              <a:rPr lang="zh-TW" altLang="en-US" sz="2800" dirty="0">
                <a:solidFill>
                  <a:srgbClr val="FF0000"/>
                </a:solidFill>
              </a:rPr>
              <a:t>預設讀取檔案的資料夾、讀檔對話框</a:t>
            </a:r>
            <a:r>
              <a:rPr lang="en-US" altLang="zh-TW" sz="2800" dirty="0">
                <a:solidFill>
                  <a:srgbClr val="FF0000"/>
                </a:solidFill>
              </a:rPr>
              <a:t>title</a:t>
            </a:r>
            <a:r>
              <a:rPr lang="zh-TW" altLang="en-US" sz="2800" dirty="0">
                <a:solidFill>
                  <a:srgbClr val="FF0000"/>
                </a:solidFill>
              </a:rPr>
              <a:t>設定、設定可以開啟的檔案類型</a:t>
            </a:r>
          </a:p>
          <a:p>
            <a:pPr marL="365760" lvl="1" indent="0">
              <a:buNone/>
            </a:pPr>
            <a:r>
              <a:rPr lang="zh-TW" altLang="en-US" sz="2800" dirty="0"/>
              <a:t>    </a:t>
            </a:r>
            <a:r>
              <a:rPr lang="en-US" altLang="zh-TW" sz="2800" dirty="0" err="1"/>
              <a:t>root.filename</a:t>
            </a:r>
            <a:r>
              <a:rPr lang="en-US" altLang="zh-TW" sz="2800" dirty="0"/>
              <a:t> =  </a:t>
            </a:r>
            <a:r>
              <a:rPr lang="en-US" altLang="zh-TW" sz="2800" dirty="0" err="1"/>
              <a:t>filedialog.askopenfilename</a:t>
            </a:r>
            <a:r>
              <a:rPr lang="en-US" altLang="zh-TW" sz="2800" dirty="0"/>
              <a:t>(</a:t>
            </a:r>
            <a:r>
              <a:rPr lang="en-US" altLang="zh-TW" sz="2800" dirty="0" err="1"/>
              <a:t>initialdir</a:t>
            </a:r>
            <a:r>
              <a:rPr lang="en-US" altLang="zh-TW" sz="2800" dirty="0"/>
              <a:t> = "C:/",title = "choose your file",</a:t>
            </a:r>
            <a:r>
              <a:rPr lang="en-US" altLang="zh-TW" sz="2800" dirty="0" err="1"/>
              <a:t>filetypes</a:t>
            </a:r>
            <a:r>
              <a:rPr lang="en-US" altLang="zh-TW" sz="2800" dirty="0"/>
              <a:t> = (("jpeg files","*.jpg"),("all files","*.*")))</a:t>
            </a:r>
          </a:p>
          <a:p>
            <a:pPr marL="365760" lvl="1" indent="0"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    #</a:t>
            </a:r>
            <a:r>
              <a:rPr lang="zh-TW" altLang="en-US" sz="2800" dirty="0">
                <a:solidFill>
                  <a:srgbClr val="FF0000"/>
                </a:solidFill>
              </a:rPr>
              <a:t>顯示檔案路徑與名稱</a:t>
            </a:r>
          </a:p>
          <a:p>
            <a:pPr marL="365760" lvl="1" indent="0">
              <a:buNone/>
            </a:pPr>
            <a:r>
              <a:rPr lang="zh-TW" altLang="en-US" sz="2800" dirty="0"/>
              <a:t>    </a:t>
            </a:r>
            <a:r>
              <a:rPr lang="en-US" altLang="zh-TW" sz="2800" dirty="0"/>
              <a:t>print (</a:t>
            </a:r>
            <a:r>
              <a:rPr lang="en-US" altLang="zh-TW" sz="2800" dirty="0" err="1"/>
              <a:t>root.filename</a:t>
            </a:r>
            <a:r>
              <a:rPr lang="en-US" altLang="zh-TW" sz="2800" dirty="0"/>
              <a:t>)</a:t>
            </a:r>
          </a:p>
          <a:p>
            <a:pPr marL="365760" lvl="1" indent="0"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顯示字串</a:t>
            </a:r>
          </a:p>
          <a:p>
            <a:pPr marL="365760" lvl="1" indent="0">
              <a:buNone/>
            </a:pPr>
            <a:r>
              <a:rPr lang="en-US" altLang="zh-TW" sz="2800" dirty="0" err="1"/>
              <a:t>def</a:t>
            </a:r>
            <a:r>
              <a:rPr lang="en-US" altLang="zh-TW" sz="2800" dirty="0"/>
              <a:t> About():</a:t>
            </a:r>
          </a:p>
          <a:p>
            <a:pPr marL="365760" lvl="1" indent="0">
              <a:buNone/>
            </a:pPr>
            <a:r>
              <a:rPr lang="en-US" altLang="zh-TW" sz="2800" dirty="0"/>
              <a:t>    print ("This is a simple example of a menu")</a:t>
            </a:r>
          </a:p>
          <a:p>
            <a:pPr marL="365760" lvl="1" indent="0">
              <a:buNone/>
            </a:pPr>
            <a:r>
              <a:rPr lang="en-US" altLang="zh-TW" sz="2800" dirty="0"/>
              <a:t>root = </a:t>
            </a:r>
            <a:r>
              <a:rPr lang="en-US" altLang="zh-TW" sz="2800" dirty="0" err="1"/>
              <a:t>Tk</a:t>
            </a:r>
            <a:r>
              <a:rPr lang="en-US" altLang="zh-TW" sz="2800" dirty="0"/>
              <a:t>()</a:t>
            </a: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建立視窗</a:t>
            </a:r>
          </a:p>
          <a:p>
            <a:pPr marL="365760" lvl="1" indent="0">
              <a:buNone/>
            </a:pPr>
            <a:r>
              <a:rPr lang="en-US" altLang="zh-TW" sz="2800" dirty="0"/>
              <a:t>menu = Menu(root)</a:t>
            </a: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初始化方塊選項</a:t>
            </a:r>
          </a:p>
          <a:p>
            <a:pPr marL="365760" lvl="1" indent="0"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初始化下拉清單</a:t>
            </a:r>
          </a:p>
          <a:p>
            <a:pPr marL="365760" lvl="1" indent="0">
              <a:buNone/>
            </a:pPr>
            <a:r>
              <a:rPr lang="en-US" altLang="zh-TW" sz="2800" dirty="0" err="1"/>
              <a:t>filemenu</a:t>
            </a:r>
            <a:r>
              <a:rPr lang="en-US" altLang="zh-TW" sz="2800" dirty="0"/>
              <a:t> = Menu(menu)</a:t>
            </a:r>
          </a:p>
          <a:p>
            <a:pPr marL="365760" lvl="1" indent="0"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新增</a:t>
            </a:r>
            <a:r>
              <a:rPr lang="en-US" altLang="zh-TW" sz="2800" dirty="0">
                <a:solidFill>
                  <a:srgbClr val="FF0000"/>
                </a:solidFill>
              </a:rPr>
              <a:t>File</a:t>
            </a:r>
            <a:r>
              <a:rPr lang="zh-TW" altLang="en-US" sz="2800" dirty="0">
                <a:solidFill>
                  <a:srgbClr val="FF0000"/>
                </a:solidFill>
              </a:rPr>
              <a:t>至方塊選項</a:t>
            </a:r>
          </a:p>
          <a:p>
            <a:pPr marL="365760" lvl="1" indent="0">
              <a:buNone/>
            </a:pPr>
            <a:r>
              <a:rPr lang="en-US" altLang="zh-TW" sz="2800" dirty="0" err="1"/>
              <a:t>menu.add_cascade</a:t>
            </a:r>
            <a:r>
              <a:rPr lang="en-US" altLang="zh-TW" sz="2800" dirty="0"/>
              <a:t>(label="File", menu=</a:t>
            </a:r>
            <a:r>
              <a:rPr lang="en-US" altLang="zh-TW" sz="2800" dirty="0" err="1"/>
              <a:t>filemenu</a:t>
            </a:r>
            <a:r>
              <a:rPr lang="en-US" altLang="zh-TW" sz="2800" dirty="0"/>
              <a:t>)</a:t>
            </a:r>
            <a:endParaRPr lang="en-US" altLang="zh-TW" sz="28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新增</a:t>
            </a:r>
            <a:r>
              <a:rPr lang="en-US" altLang="zh-TW" sz="2800" dirty="0">
                <a:solidFill>
                  <a:srgbClr val="FF0000"/>
                </a:solidFill>
              </a:rPr>
              <a:t>Open</a:t>
            </a:r>
            <a:r>
              <a:rPr lang="zh-TW" altLang="en-US" sz="2800" dirty="0">
                <a:solidFill>
                  <a:srgbClr val="FF0000"/>
                </a:solidFill>
              </a:rPr>
              <a:t>與</a:t>
            </a:r>
            <a:r>
              <a:rPr lang="en-US" altLang="zh-TW" sz="2800" dirty="0">
                <a:solidFill>
                  <a:srgbClr val="FF0000"/>
                </a:solidFill>
              </a:rPr>
              <a:t>Exit</a:t>
            </a:r>
            <a:r>
              <a:rPr lang="zh-TW" altLang="en-US" sz="2800" dirty="0">
                <a:solidFill>
                  <a:srgbClr val="FF0000"/>
                </a:solidFill>
              </a:rPr>
              <a:t>選項至</a:t>
            </a:r>
            <a:r>
              <a:rPr lang="en-US" altLang="zh-TW" sz="2800" dirty="0">
                <a:solidFill>
                  <a:srgbClr val="FF0000"/>
                </a:solidFill>
              </a:rPr>
              <a:t>File</a:t>
            </a:r>
            <a:r>
              <a:rPr lang="zh-TW" altLang="en-US" sz="2800" dirty="0">
                <a:solidFill>
                  <a:srgbClr val="FF0000"/>
                </a:solidFill>
              </a:rPr>
              <a:t>方塊選項中</a:t>
            </a:r>
          </a:p>
          <a:p>
            <a:pPr marL="365760" lvl="1" indent="0">
              <a:buNone/>
            </a:pPr>
            <a:r>
              <a:rPr lang="en-US" altLang="zh-TW" sz="2800" dirty="0" err="1"/>
              <a:t>filemenu.add_command</a:t>
            </a:r>
            <a:r>
              <a:rPr lang="en-US" altLang="zh-TW" sz="2800" dirty="0"/>
              <a:t>(label="Open...", command=</a:t>
            </a:r>
            <a:r>
              <a:rPr lang="en-US" altLang="zh-TW" sz="2800" dirty="0" err="1"/>
              <a:t>OpenFile</a:t>
            </a:r>
            <a:r>
              <a:rPr lang="en-US" altLang="zh-TW" sz="2800" dirty="0"/>
              <a:t>)</a:t>
            </a:r>
          </a:p>
          <a:p>
            <a:pPr marL="365760" lvl="1" indent="0">
              <a:buNone/>
            </a:pPr>
            <a:r>
              <a:rPr lang="en-US" altLang="zh-TW" sz="2800" dirty="0" err="1"/>
              <a:t>filemenu.add_command</a:t>
            </a:r>
            <a:r>
              <a:rPr lang="en-US" altLang="zh-TW" sz="2800" dirty="0"/>
              <a:t>(label="Exit", command=</a:t>
            </a:r>
            <a:r>
              <a:rPr lang="en-US" altLang="zh-TW" sz="2800" dirty="0" err="1"/>
              <a:t>root.quit</a:t>
            </a:r>
            <a:r>
              <a:rPr lang="en-US" altLang="zh-TW" sz="2800" dirty="0"/>
              <a:t>)</a:t>
            </a:r>
          </a:p>
          <a:p>
            <a:pPr marL="365760" lvl="1" indent="0"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初始化下拉清單</a:t>
            </a:r>
          </a:p>
          <a:p>
            <a:pPr marL="365760" lvl="1" indent="0">
              <a:buNone/>
            </a:pPr>
            <a:r>
              <a:rPr lang="en-US" altLang="zh-TW" sz="2800" dirty="0" err="1"/>
              <a:t>helpmenu</a:t>
            </a:r>
            <a:r>
              <a:rPr lang="en-US" altLang="zh-TW" sz="2800" dirty="0"/>
              <a:t> = Menu(menu)</a:t>
            </a:r>
          </a:p>
          <a:p>
            <a:pPr marL="365760" lvl="1" indent="0"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新增</a:t>
            </a:r>
            <a:r>
              <a:rPr lang="en-US" altLang="zh-TW" sz="2800" dirty="0">
                <a:solidFill>
                  <a:srgbClr val="FF0000"/>
                </a:solidFill>
              </a:rPr>
              <a:t>Help</a:t>
            </a:r>
            <a:r>
              <a:rPr lang="zh-TW" altLang="en-US" sz="2800" dirty="0">
                <a:solidFill>
                  <a:srgbClr val="FF0000"/>
                </a:solidFill>
              </a:rPr>
              <a:t>至方塊選項</a:t>
            </a:r>
          </a:p>
          <a:p>
            <a:pPr marL="365760" lvl="1" indent="0">
              <a:buNone/>
            </a:pPr>
            <a:r>
              <a:rPr lang="en-US" altLang="zh-TW" sz="2800" dirty="0" err="1"/>
              <a:t>menu.add_cascade</a:t>
            </a:r>
            <a:r>
              <a:rPr lang="en-US" altLang="zh-TW" sz="2800" dirty="0"/>
              <a:t>(label="Help", menu=</a:t>
            </a:r>
            <a:r>
              <a:rPr lang="en-US" altLang="zh-TW" sz="2800" dirty="0" err="1"/>
              <a:t>helpmenu</a:t>
            </a:r>
            <a:r>
              <a:rPr lang="en-US" altLang="zh-TW" sz="2800" dirty="0"/>
              <a:t>)</a:t>
            </a:r>
          </a:p>
          <a:p>
            <a:pPr marL="365760" lvl="1" indent="0">
              <a:buNone/>
            </a:pP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新增</a:t>
            </a:r>
            <a:r>
              <a:rPr lang="en-US" altLang="zh-TW" sz="2800" dirty="0">
                <a:solidFill>
                  <a:srgbClr val="FF0000"/>
                </a:solidFill>
              </a:rPr>
              <a:t>About</a:t>
            </a:r>
            <a:r>
              <a:rPr lang="zh-TW" altLang="en-US" sz="2800" dirty="0">
                <a:solidFill>
                  <a:srgbClr val="FF0000"/>
                </a:solidFill>
              </a:rPr>
              <a:t>選項至</a:t>
            </a:r>
            <a:r>
              <a:rPr lang="en-US" altLang="zh-TW" sz="2800" dirty="0">
                <a:solidFill>
                  <a:srgbClr val="FF0000"/>
                </a:solidFill>
              </a:rPr>
              <a:t>Help</a:t>
            </a:r>
            <a:r>
              <a:rPr lang="zh-TW" altLang="en-US" sz="2800" dirty="0">
                <a:solidFill>
                  <a:srgbClr val="FF0000"/>
                </a:solidFill>
              </a:rPr>
              <a:t>方塊選項中</a:t>
            </a:r>
          </a:p>
          <a:p>
            <a:pPr marL="365760" lvl="1" indent="0">
              <a:buNone/>
            </a:pPr>
            <a:r>
              <a:rPr lang="en-US" altLang="zh-TW" sz="2800" dirty="0" err="1"/>
              <a:t>helpmenu.add_command</a:t>
            </a:r>
            <a:r>
              <a:rPr lang="en-US" altLang="zh-TW" sz="2800" dirty="0"/>
              <a:t>(label="About...", command=About)</a:t>
            </a:r>
          </a:p>
          <a:p>
            <a:pPr marL="365760" lvl="1" indent="0">
              <a:buNone/>
            </a:pPr>
            <a:r>
              <a:rPr lang="en-US" altLang="zh-TW" sz="2800" dirty="0"/>
              <a:t>root["menu"] = menu </a:t>
            </a:r>
            <a:r>
              <a:rPr lang="en-US" altLang="zh-TW" sz="2800" dirty="0">
                <a:solidFill>
                  <a:srgbClr val="FF0000"/>
                </a:solidFill>
              </a:rPr>
              <a:t>#</a:t>
            </a:r>
            <a:r>
              <a:rPr lang="zh-TW" altLang="en-US" sz="2800" dirty="0">
                <a:solidFill>
                  <a:srgbClr val="FF0000"/>
                </a:solidFill>
              </a:rPr>
              <a:t>建立選項與</a:t>
            </a:r>
            <a:r>
              <a:rPr lang="en-US" altLang="zh-TW" sz="2800" dirty="0" err="1">
                <a:solidFill>
                  <a:srgbClr val="FF0000"/>
                </a:solidFill>
              </a:rPr>
              <a:t>root.config</a:t>
            </a:r>
            <a:r>
              <a:rPr lang="en-US" altLang="zh-TW" sz="2800" dirty="0">
                <a:solidFill>
                  <a:srgbClr val="FF0000"/>
                </a:solidFill>
              </a:rPr>
              <a:t>(menu=menu)</a:t>
            </a:r>
            <a:r>
              <a:rPr lang="zh-TW" altLang="en-US" sz="2800" dirty="0">
                <a:solidFill>
                  <a:srgbClr val="FF0000"/>
                </a:solidFill>
              </a:rPr>
              <a:t>功能相同</a:t>
            </a:r>
          </a:p>
          <a:p>
            <a:pPr marL="365760" lvl="1" indent="0">
              <a:buNone/>
            </a:pPr>
            <a:r>
              <a:rPr lang="en-US" altLang="zh-TW" sz="2800" dirty="0" err="1"/>
              <a:t>mainloop</a:t>
            </a:r>
            <a:r>
              <a:rPr lang="en-US" altLang="zh-TW" sz="2800" dirty="0"/>
              <a:t>()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426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Menubar</a:t>
            </a:r>
            <a:r>
              <a:rPr lang="zh-TW" altLang="en-US" dirty="0"/>
              <a:t>應用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924944"/>
            <a:ext cx="1793085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6384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Menubar</a:t>
            </a:r>
            <a:r>
              <a:rPr lang="zh-TW" altLang="en-US" dirty="0"/>
              <a:t>應用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點選</a:t>
            </a:r>
            <a:r>
              <a:rPr lang="en-US" altLang="zh-TW" dirty="0"/>
              <a:t>OPEN</a:t>
            </a:r>
            <a:r>
              <a:rPr lang="zh-TW" altLang="en-US" dirty="0"/>
              <a:t>後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選擇圖片檔案後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564904"/>
            <a:ext cx="2520280" cy="173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" t="60024" r="27043" b="33898"/>
          <a:stretch/>
        </p:blipFill>
        <p:spPr bwMode="auto">
          <a:xfrm>
            <a:off x="1979712" y="5373216"/>
            <a:ext cx="4659086" cy="41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1776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資料來源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http://pan.baidu.com/share/link?shareid=2190696726&amp;uk=338543583&amp;fid=714357500588689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http://www.python-course.eu/tkinter_entry_widgets.php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282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 err="1"/>
              <a:t>OptionMenu</a:t>
            </a:r>
            <a:r>
              <a:rPr lang="zh-TW" altLang="en-US" dirty="0"/>
              <a:t>，按下按鈕後顯示選項，其中有</a:t>
            </a:r>
            <a:r>
              <a:rPr lang="en-US" altLang="zh-TW" dirty="0"/>
              <a:t>0~49</a:t>
            </a:r>
            <a:r>
              <a:rPr lang="zh-TW" altLang="en-US" dirty="0"/>
              <a:t>，共</a:t>
            </a:r>
            <a:r>
              <a:rPr lang="en-US" altLang="zh-TW" dirty="0"/>
              <a:t>50</a:t>
            </a:r>
            <a:r>
              <a:rPr lang="zh-TW" altLang="en-US" dirty="0"/>
              <a:t>項選項，點選選項後，顯示該選項的數值。</a:t>
            </a:r>
            <a:r>
              <a:rPr lang="en-US" altLang="zh-TW" dirty="0"/>
              <a:t>(</a:t>
            </a:r>
            <a:r>
              <a:rPr lang="zh-TW" altLang="en-US" dirty="0"/>
              <a:t>使用</a:t>
            </a:r>
            <a:r>
              <a:rPr lang="en-US" altLang="zh-TW" dirty="0"/>
              <a:t>for</a:t>
            </a:r>
            <a:r>
              <a:rPr lang="zh-TW" altLang="en-US" dirty="0"/>
              <a:t>迴圈搭配</a:t>
            </a:r>
            <a:r>
              <a:rPr lang="en-US" altLang="zh-TW" dirty="0"/>
              <a:t>list</a:t>
            </a:r>
            <a:r>
              <a:rPr lang="zh-TW" altLang="en-US" dirty="0"/>
              <a:t>較佳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3243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預設狀態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364822"/>
            <a:ext cx="1901011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4570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Wingdings" pitchFamily="2" charset="2"/>
              <a:buChar char="l"/>
            </a:pPr>
            <a:r>
              <a:rPr lang="zh-TW" altLang="en-US" dirty="0"/>
              <a:t>展開後的結果</a:t>
            </a:r>
            <a:r>
              <a:rPr lang="en-US" altLang="zh-TW" dirty="0"/>
              <a:t>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211003"/>
            <a:ext cx="1182479" cy="3845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4788023" y="2348880"/>
            <a:ext cx="303207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580112" y="2708920"/>
            <a:ext cx="226215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/>
              <a:t>展開候顯示所有選項</a:t>
            </a:r>
            <a:endParaRPr lang="en-US" altLang="zh-TW" dirty="0"/>
          </a:p>
        </p:txBody>
      </p:sp>
      <p:cxnSp>
        <p:nvCxnSpPr>
          <p:cNvPr id="8" name="直線單箭頭接點 7"/>
          <p:cNvCxnSpPr/>
          <p:nvPr/>
        </p:nvCxnSpPr>
        <p:spPr>
          <a:xfrm flipH="1" flipV="1">
            <a:off x="5220072" y="2492896"/>
            <a:ext cx="360040" cy="1440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463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l"/>
            </a:pPr>
            <a:r>
              <a:rPr lang="zh-TW" altLang="en-US" dirty="0"/>
              <a:t>選擇</a:t>
            </a:r>
            <a:r>
              <a:rPr lang="en-US" altLang="zh-TW" dirty="0"/>
              <a:t>"2"</a:t>
            </a:r>
            <a:r>
              <a:rPr lang="zh-TW" altLang="en-US" dirty="0"/>
              <a:t>的結果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" t="89086" r="84636" b="5457"/>
          <a:stretch/>
        </p:blipFill>
        <p:spPr bwMode="auto">
          <a:xfrm>
            <a:off x="2153302" y="3104964"/>
            <a:ext cx="1533946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1512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altLang="zh-TW" dirty="0"/>
          </a:p>
          <a:p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import* #</a:t>
            </a:r>
            <a:r>
              <a:rPr lang="zh-TW" altLang="en-US" dirty="0"/>
              <a:t>載入函式庫</a:t>
            </a:r>
          </a:p>
          <a:p>
            <a:r>
              <a:rPr lang="en-US" altLang="zh-TW" dirty="0"/>
              <a:t>department=[]</a:t>
            </a:r>
          </a:p>
          <a:p>
            <a:r>
              <a:rPr lang="en-US" altLang="zh-TW" dirty="0"/>
              <a:t>#</a:t>
            </a:r>
            <a:r>
              <a:rPr lang="zh-TW" altLang="en-US" dirty="0"/>
              <a:t>自行定義的函式</a:t>
            </a:r>
          </a:p>
          <a:p>
            <a:r>
              <a:rPr lang="en-US" altLang="zh-TW" dirty="0"/>
              <a:t>#</a:t>
            </a:r>
            <a:r>
              <a:rPr lang="zh-TW" altLang="en-US" dirty="0"/>
              <a:t>按下按鈕後顯示選擇的選項</a:t>
            </a:r>
          </a:p>
          <a:p>
            <a:r>
              <a:rPr lang="en-US" altLang="zh-TW" dirty="0" err="1"/>
              <a:t>def</a:t>
            </a:r>
            <a:r>
              <a:rPr lang="en-US" altLang="zh-TW" dirty="0"/>
              <a:t> </a:t>
            </a:r>
            <a:r>
              <a:rPr lang="en-US" altLang="zh-TW" dirty="0" err="1"/>
              <a:t>func</a:t>
            </a:r>
            <a:r>
              <a:rPr lang="en-US" altLang="zh-TW" dirty="0"/>
              <a:t>(value):</a:t>
            </a:r>
          </a:p>
          <a:p>
            <a:r>
              <a:rPr lang="en-US" altLang="zh-TW" dirty="0"/>
              <a:t>    print(value)</a:t>
            </a:r>
          </a:p>
          <a:p>
            <a:endParaRPr lang="en-US" altLang="zh-TW" dirty="0"/>
          </a:p>
          <a:p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 #</a:t>
            </a:r>
            <a:r>
              <a:rPr lang="zh-TW" altLang="en-US" dirty="0"/>
              <a:t>建立視窗</a:t>
            </a:r>
          </a:p>
          <a:p>
            <a:r>
              <a:rPr lang="en-US" altLang="zh-TW" dirty="0"/>
              <a:t>v = </a:t>
            </a:r>
            <a:r>
              <a:rPr lang="en-US" altLang="zh-TW" dirty="0" err="1"/>
              <a:t>IntVar</a:t>
            </a:r>
            <a:r>
              <a:rPr lang="en-US" altLang="zh-TW" dirty="0"/>
              <a:t>() #</a:t>
            </a:r>
            <a:r>
              <a:rPr lang="zh-TW" altLang="en-US" dirty="0"/>
              <a:t>變動字元變數</a:t>
            </a:r>
          </a:p>
          <a:p>
            <a:r>
              <a:rPr lang="en-US" altLang="zh-TW" dirty="0" err="1"/>
              <a:t>v.set</a:t>
            </a:r>
            <a:r>
              <a:rPr lang="en-US" altLang="zh-TW" dirty="0"/>
              <a:t>(0) #</a:t>
            </a:r>
            <a:r>
              <a:rPr lang="zh-TW" altLang="en-US" dirty="0"/>
              <a:t>設定為電子系</a:t>
            </a:r>
          </a:p>
          <a:p>
            <a:r>
              <a:rPr lang="en-US" altLang="zh-TW" dirty="0"/>
              <a:t>#</a:t>
            </a:r>
            <a:r>
              <a:rPr lang="zh-TW" altLang="en-US" dirty="0"/>
              <a:t>預設為電子系，其中選項有電子系、電機系、資工系</a:t>
            </a:r>
          </a:p>
          <a:p>
            <a:r>
              <a:rPr lang="en-US" altLang="zh-TW" dirty="0"/>
              <a:t>count=0</a:t>
            </a:r>
          </a:p>
          <a:p>
            <a:r>
              <a:rPr lang="en-US" altLang="zh-TW" dirty="0"/>
              <a:t>for a in range(0,50):</a:t>
            </a:r>
          </a:p>
          <a:p>
            <a:r>
              <a:rPr lang="en-US" altLang="zh-TW" dirty="0"/>
              <a:t>  </a:t>
            </a:r>
            <a:r>
              <a:rPr lang="en-US" altLang="zh-TW" dirty="0" err="1"/>
              <a:t>department.append</a:t>
            </a:r>
            <a:r>
              <a:rPr lang="en-US" altLang="zh-TW" dirty="0"/>
              <a:t>(a)</a:t>
            </a:r>
          </a:p>
          <a:p>
            <a:r>
              <a:rPr lang="en-US" altLang="zh-TW" dirty="0"/>
              <a:t>print(type(department[0]))</a:t>
            </a:r>
          </a:p>
          <a:p>
            <a:r>
              <a:rPr lang="en-US" altLang="zh-TW" dirty="0"/>
              <a:t>  </a:t>
            </a:r>
          </a:p>
          <a:p>
            <a:r>
              <a:rPr lang="en-US" altLang="zh-TW" dirty="0" err="1"/>
              <a:t>om</a:t>
            </a:r>
            <a:r>
              <a:rPr lang="en-US" altLang="zh-TW" dirty="0"/>
              <a:t>=</a:t>
            </a:r>
            <a:r>
              <a:rPr lang="en-US" altLang="zh-TW" dirty="0" err="1"/>
              <a:t>OptionMenu</a:t>
            </a:r>
            <a:r>
              <a:rPr lang="en-US" altLang="zh-TW" dirty="0"/>
              <a:t>(root, v, *department, command=</a:t>
            </a:r>
            <a:r>
              <a:rPr lang="en-US" altLang="zh-TW" dirty="0" err="1"/>
              <a:t>func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om.pack</a:t>
            </a:r>
            <a:r>
              <a:rPr lang="en-US" altLang="zh-TW" dirty="0"/>
              <a:t>() #</a:t>
            </a:r>
            <a:r>
              <a:rPr lang="zh-TW" altLang="en-US" dirty="0"/>
              <a:t>建立</a:t>
            </a:r>
            <a:r>
              <a:rPr lang="en-US" altLang="zh-TW" dirty="0" err="1"/>
              <a:t>OptionMenu</a:t>
            </a:r>
            <a:endParaRPr lang="en-US" altLang="zh-TW" dirty="0"/>
          </a:p>
          <a:p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7182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圖釘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圖釘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1469</TotalTime>
  <Words>1276</Words>
  <Application>Microsoft Office PowerPoint</Application>
  <PresentationFormat>如螢幕大小 (4:3)</PresentationFormat>
  <Paragraphs>221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0" baseType="lpstr">
      <vt:lpstr>微軟正黑體</vt:lpstr>
      <vt:lpstr>新細明體</vt:lpstr>
      <vt:lpstr>Brush Script MT</vt:lpstr>
      <vt:lpstr>Calibri</vt:lpstr>
      <vt:lpstr>Constantia</vt:lpstr>
      <vt:lpstr>Franklin Gothic Book</vt:lpstr>
      <vt:lpstr>Rage Italic</vt:lpstr>
      <vt:lpstr>Wingdings</vt:lpstr>
      <vt:lpstr>圖釘</vt:lpstr>
      <vt:lpstr>OptionMenu組件</vt:lpstr>
      <vt:lpstr>學習目標</vt:lpstr>
      <vt:lpstr>建立一個OptionMenu</vt:lpstr>
      <vt:lpstr>建立一個OptionMenu</vt:lpstr>
      <vt:lpstr>建立一個OptionMenu</vt:lpstr>
      <vt:lpstr>PowerPoint 簡報</vt:lpstr>
      <vt:lpstr>顯示OptionMenu選項</vt:lpstr>
      <vt:lpstr>顯示OptionMenu選項</vt:lpstr>
      <vt:lpstr>顯示OptionMenu選項</vt:lpstr>
      <vt:lpstr>顯示OptionMenu選項</vt:lpstr>
      <vt:lpstr>Menubar應用</vt:lpstr>
      <vt:lpstr>Menubar應用</vt:lpstr>
      <vt:lpstr>Menubar應用</vt:lpstr>
      <vt:lpstr>Menubar應用</vt:lpstr>
      <vt:lpstr>Menubar應用</vt:lpstr>
      <vt:lpstr>資料來源</vt:lpstr>
      <vt:lpstr>作業</vt:lpstr>
      <vt:lpstr>作業</vt:lpstr>
      <vt:lpstr>作業</vt:lpstr>
      <vt:lpstr>作業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weng1</dc:creator>
  <cp:lastModifiedBy>user</cp:lastModifiedBy>
  <cp:revision>448</cp:revision>
  <dcterms:created xsi:type="dcterms:W3CDTF">2015-08-18T06:38:18Z</dcterms:created>
  <dcterms:modified xsi:type="dcterms:W3CDTF">2024-05-22T08:01:44Z</dcterms:modified>
</cp:coreProperties>
</file>