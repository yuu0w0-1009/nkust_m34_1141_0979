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256" r:id="rId2"/>
    <p:sldId id="328" r:id="rId3"/>
    <p:sldId id="299" r:id="rId4"/>
    <p:sldId id="302" r:id="rId5"/>
    <p:sldId id="303" r:id="rId6"/>
    <p:sldId id="316" r:id="rId7"/>
    <p:sldId id="300" r:id="rId8"/>
    <p:sldId id="320" r:id="rId9"/>
    <p:sldId id="321" r:id="rId10"/>
    <p:sldId id="304" r:id="rId11"/>
    <p:sldId id="301" r:id="rId12"/>
    <p:sldId id="317" r:id="rId13"/>
    <p:sldId id="318" r:id="rId14"/>
    <p:sldId id="319" r:id="rId15"/>
    <p:sldId id="311" r:id="rId16"/>
    <p:sldId id="313" r:id="rId17"/>
    <p:sldId id="329" r:id="rId18"/>
    <p:sldId id="330" r:id="rId19"/>
    <p:sldId id="326" r:id="rId20"/>
    <p:sldId id="327" r:id="rId21"/>
    <p:sldId id="331" r:id="rId22"/>
    <p:sldId id="332" r:id="rId23"/>
    <p:sldId id="297" r:id="rId24"/>
    <p:sldId id="314" r:id="rId25"/>
    <p:sldId id="325" r:id="rId26"/>
    <p:sldId id="324" r:id="rId27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48" autoAdjust="0"/>
    <p:restoredTop sz="94660"/>
  </p:normalViewPr>
  <p:slideViewPr>
    <p:cSldViewPr>
      <p:cViewPr varScale="1">
        <p:scale>
          <a:sx n="108" d="100"/>
          <a:sy n="108" d="100"/>
        </p:scale>
        <p:origin x="177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481699-69A6-452F-94A2-04B496C86193}" type="datetimeFigureOut">
              <a:rPr lang="zh-TW" altLang="en-US" smtClean="0"/>
              <a:t>2020/5/20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85B030-809D-4F61-94E6-0002C8946A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5970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891821" y="5617774"/>
            <a:ext cx="7382935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89952" y="1016990"/>
            <a:ext cx="7179733" cy="4831643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90600" y="1009650"/>
            <a:ext cx="7179733" cy="4831643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769521" y="702069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7855433" y="749720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7201" y="1794935"/>
            <a:ext cx="5723468" cy="182809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7200" y="3736622"/>
            <a:ext cx="5712179" cy="1524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70676" y="5357592"/>
            <a:ext cx="1213821" cy="365125"/>
          </a:xfrm>
        </p:spPr>
        <p:txBody>
          <a:bodyPr/>
          <a:lstStyle/>
          <a:p>
            <a:fld id="{D27AE2D2-A899-4222-B9E0-2F69355B53BC}" type="datetime1">
              <a:rPr lang="zh-TW" altLang="en-US" smtClean="0"/>
              <a:t>2020/5/20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74044" y="5357592"/>
            <a:ext cx="5034845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13930" y="5357592"/>
            <a:ext cx="554023" cy="365125"/>
          </a:xfrm>
        </p:spPr>
        <p:txBody>
          <a:bodyPr/>
          <a:lstStyle>
            <a:lvl1pPr algn="ctr">
              <a:defRPr/>
            </a:lvl1pPr>
          </a:lstStyle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5192E-6208-4E27-A69B-DF41C22FD586}" type="datetime1">
              <a:rPr lang="zh-TW" altLang="en-US" smtClean="0"/>
              <a:t>2020/5/20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979" y="2239430"/>
            <a:ext cx="6254044" cy="1362075"/>
          </a:xfrm>
        </p:spPr>
        <p:txBody>
          <a:bodyPr anchor="b"/>
          <a:lstStyle>
            <a:lvl1pPr algn="ctr">
              <a:defRPr sz="4000" b="0" cap="none" baseline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6267" y="3725334"/>
            <a:ext cx="6231467" cy="1309511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82997-9E3C-4301-9282-F0F92367602E}" type="datetime1">
              <a:rPr lang="zh-TW" altLang="en-US" smtClean="0"/>
              <a:t>2020/5/20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38171-A347-4DE4-88EE-D86B84DCD9DD}" type="datetime1">
              <a:rPr lang="zh-TW" altLang="en-US" smtClean="0"/>
              <a:t>2020/5/20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298448" y="2121407"/>
            <a:ext cx="3200400" cy="360273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63440" y="2119313"/>
            <a:ext cx="3200400" cy="360521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7869" y="2122312"/>
            <a:ext cx="2939521" cy="820208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669" y="2122311"/>
            <a:ext cx="2944368" cy="822960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35533-66AC-48FB-8D23-2B4034A4DE38}" type="datetime1">
              <a:rPr lang="zh-TW" altLang="en-US" smtClean="0"/>
              <a:t>2020/5/20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298448" y="2944368"/>
            <a:ext cx="3227832" cy="277977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45151" y="2944813"/>
            <a:ext cx="3227832" cy="277977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48968-96BB-4BFF-A510-AD4037A29133}" type="datetime1">
              <a:rPr lang="zh-TW" altLang="en-US" smtClean="0"/>
              <a:t>2020/5/20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0D790-731F-4A61-9FC7-05D45F6D1FAF}" type="datetime1">
              <a:rPr lang="zh-TW" altLang="en-US" smtClean="0"/>
              <a:t>2020/5/20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Freeform 1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 rot="60000">
            <a:off x="4471416" y="603504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 rot="21540000">
            <a:off x="749808" y="576072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9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8976" y="2020042"/>
            <a:ext cx="3064827" cy="1503037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60000">
            <a:off x="4854291" y="1150993"/>
            <a:ext cx="3020792" cy="4625489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48125" y="3623748"/>
            <a:ext cx="3048891" cy="2100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1698" y="5885672"/>
            <a:ext cx="1213821" cy="365125"/>
          </a:xfrm>
        </p:spPr>
        <p:txBody>
          <a:bodyPr/>
          <a:lstStyle/>
          <a:p>
            <a:fld id="{928DF2AF-5749-46D1-9AE0-D7EC8D4C4B64}" type="datetime1">
              <a:rPr lang="zh-TW" altLang="en-US" smtClean="0"/>
              <a:t>2020/5/20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54" y="5829261"/>
            <a:ext cx="3522607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57313" y="5896961"/>
            <a:ext cx="554023" cy="365125"/>
          </a:xfrm>
        </p:spPr>
        <p:txBody>
          <a:bodyPr/>
          <a:lstStyle/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Freeform 3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5058" y="575769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60000">
            <a:off x="4464768" y="603920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5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6424" y="2020824"/>
            <a:ext cx="3063240" cy="1499616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60000">
            <a:off x="4898615" y="1207272"/>
            <a:ext cx="2913863" cy="4539412"/>
          </a:xfrm>
          <a:ln w="101600" cap="rnd">
            <a:solidFill>
              <a:srgbClr val="FFFFFF"/>
            </a:solidFill>
          </a:ln>
          <a:effectLst>
            <a:outerShdw blurRad="889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52144" y="3621024"/>
            <a:ext cx="3044952" cy="210312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5936" y="5888737"/>
            <a:ext cx="1213821" cy="365125"/>
          </a:xfrm>
        </p:spPr>
        <p:txBody>
          <a:bodyPr/>
          <a:lstStyle/>
          <a:p>
            <a:fld id="{A8F7E521-B9D8-4552-956E-0B4097B33FC4}" type="datetime1">
              <a:rPr lang="zh-TW" altLang="en-US" smtClean="0"/>
              <a:t>2020/5/20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69" y="5831037"/>
            <a:ext cx="3319043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62089" y="5900026"/>
            <a:ext cx="554023" cy="365125"/>
          </a:xfrm>
        </p:spPr>
        <p:txBody>
          <a:bodyPr/>
          <a:lstStyle/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7E005-3431-4CA6-99FE-DC8F94E06F88}" type="datetime1">
              <a:rPr lang="zh-TW" altLang="en-US" smtClean="0"/>
              <a:t>2020/5/20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925690"/>
            <a:ext cx="1430867" cy="476391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8221" y="1106312"/>
            <a:ext cx="5178779" cy="440266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A12D6-09A4-4224-925F-508AFE4BDD81}" type="datetime1">
              <a:rPr lang="zh-TW" altLang="en-US" smtClean="0"/>
              <a:t>2020/5/20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628650" y="6069330"/>
            <a:ext cx="792099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31520" y="575310"/>
            <a:ext cx="7696200" cy="5715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31520" y="576072"/>
            <a:ext cx="7696200" cy="5715000"/>
          </a:xfrm>
          <a:prstGeom prst="rect">
            <a:avLst/>
          </a:prstGeom>
          <a:blipFill dpi="0" rotWithShape="1">
            <a:blip r:embed="rId13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1435684">
            <a:off x="543741" y="273091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4096196">
            <a:off x="8115079" y="298163"/>
            <a:ext cx="566928" cy="566928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5023" y="817582"/>
            <a:ext cx="6965245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0" y="2119257"/>
            <a:ext cx="6196405" cy="36038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54588" y="5809152"/>
            <a:ext cx="12138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A0293653-15F7-4FC6-B79E-128EDD0C8141}" type="datetime1">
              <a:rPr lang="zh-TW" altLang="en-US" smtClean="0"/>
              <a:t>2020/5/20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401" y="5809152"/>
            <a:ext cx="5540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0202" y="5809152"/>
            <a:ext cx="5540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ython-course.eu/tkinter_entry_widgets.php" TargetMode="External"/><Relationship Id="rId2" Type="http://schemas.openxmlformats.org/officeDocument/2006/relationships/hyperlink" Target="http://pan.baidu.com/share/link?shareid=2190696726&amp;uk=338543583&amp;fid=714357500588689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python-course.eu/tkinter_text_widget.php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Entry</a:t>
            </a:r>
            <a:r>
              <a:rPr lang="zh-TW" altLang="en-US"/>
              <a:t>組件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9071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學習目標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本章節介紹</a:t>
            </a:r>
            <a:r>
              <a:rPr lang="en-US" altLang="zh-TW" dirty="0"/>
              <a:t>:</a:t>
            </a:r>
          </a:p>
          <a:p>
            <a:pPr marL="822960" lvl="1" indent="-457200">
              <a:buFont typeface="+mj-lt"/>
              <a:buAutoNum type="arabicPeriod"/>
            </a:pPr>
            <a:r>
              <a:rPr lang="zh-TW" altLang="en-US" dirty="0"/>
              <a:t>建立一個</a:t>
            </a:r>
            <a:r>
              <a:rPr lang="en-US" altLang="zh-TW" dirty="0"/>
              <a:t>Entry</a:t>
            </a:r>
          </a:p>
          <a:p>
            <a:pPr marL="822960" lvl="1" indent="-457200">
              <a:buFont typeface="+mj-lt"/>
              <a:buAutoNum type="arabicPeriod"/>
            </a:pPr>
            <a:r>
              <a:rPr lang="zh-TW" altLang="en-US" dirty="0"/>
              <a:t>預設</a:t>
            </a:r>
            <a:r>
              <a:rPr lang="en-US" altLang="zh-TW" dirty="0"/>
              <a:t>Entry</a:t>
            </a:r>
            <a:r>
              <a:rPr lang="zh-TW" altLang="en-US" dirty="0"/>
              <a:t>中的字串</a:t>
            </a:r>
            <a:endParaRPr lang="en-US" altLang="zh-TW" dirty="0"/>
          </a:p>
          <a:p>
            <a:pPr marL="822960" lvl="1" indent="-457200">
              <a:buFont typeface="+mj-lt"/>
              <a:buAutoNum type="arabicPeriod"/>
            </a:pPr>
            <a:r>
              <a:rPr lang="zh-TW" altLang="en-US" dirty="0"/>
              <a:t>讀取</a:t>
            </a:r>
            <a:r>
              <a:rPr lang="en-US" altLang="zh-TW" dirty="0"/>
              <a:t>Entry</a:t>
            </a:r>
            <a:r>
              <a:rPr lang="zh-TW" altLang="en-US" dirty="0"/>
              <a:t>中的字串</a:t>
            </a:r>
            <a:endParaRPr lang="en-US" altLang="zh-TW" dirty="0"/>
          </a:p>
          <a:p>
            <a:pPr marL="822960" lvl="1" indent="-457200">
              <a:buFont typeface="+mj-lt"/>
              <a:buAutoNum type="arabicPeriod"/>
            </a:pPr>
            <a:r>
              <a:rPr lang="zh-TW" altLang="en-US" dirty="0"/>
              <a:t>設定</a:t>
            </a:r>
            <a:r>
              <a:rPr lang="en-US" altLang="zh-TW" dirty="0"/>
              <a:t>Entry</a:t>
            </a:r>
            <a:r>
              <a:rPr lang="zh-TW" altLang="en-US" dirty="0"/>
              <a:t>為只能讀取</a:t>
            </a:r>
            <a:endParaRPr lang="en-US" altLang="zh-TW" dirty="0"/>
          </a:p>
          <a:p>
            <a:pPr marL="822960" lvl="1" indent="-457200">
              <a:buFont typeface="+mj-lt"/>
              <a:buAutoNum type="arabicPeriod"/>
            </a:pPr>
            <a:r>
              <a:rPr lang="zh-TW" altLang="en-US" dirty="0"/>
              <a:t>設定</a:t>
            </a:r>
            <a:r>
              <a:rPr lang="en-US" altLang="zh-TW" dirty="0"/>
              <a:t>Entry</a:t>
            </a:r>
            <a:r>
              <a:rPr lang="zh-TW" altLang="en-US" dirty="0"/>
              <a:t>為密碼輸入框</a:t>
            </a:r>
            <a:endParaRPr lang="en-US" altLang="zh-TW" dirty="0"/>
          </a:p>
          <a:p>
            <a:pPr marL="822960" lvl="1" indent="-457200">
              <a:buFont typeface="+mj-lt"/>
              <a:buAutoNum type="arabicPeriod"/>
            </a:pPr>
            <a:r>
              <a:rPr lang="zh-TW" altLang="en-US" dirty="0"/>
              <a:t>驗證</a:t>
            </a:r>
            <a:r>
              <a:rPr lang="en-US" altLang="zh-TW" dirty="0"/>
              <a:t>Entry</a:t>
            </a:r>
            <a:r>
              <a:rPr lang="zh-TW" altLang="en-US" dirty="0"/>
              <a:t>中的內容</a:t>
            </a:r>
            <a:endParaRPr lang="en-US" altLang="zh-TW" dirty="0"/>
          </a:p>
          <a:p>
            <a:pPr marL="822960" lvl="1" indent="-457200">
              <a:buFont typeface="+mj-lt"/>
              <a:buAutoNum type="arabicPeriod"/>
            </a:pPr>
            <a:r>
              <a:rPr lang="en-US" altLang="zh-TW" dirty="0"/>
              <a:t>Text</a:t>
            </a:r>
            <a:r>
              <a:rPr lang="zh-TW" altLang="en-US" dirty="0"/>
              <a:t>組件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2721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建立一個</a:t>
            </a:r>
            <a:r>
              <a:rPr lang="en-US" altLang="zh-TW" dirty="0"/>
              <a:t>Entry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/>
              <a:t>語法</a:t>
            </a:r>
            <a:r>
              <a:rPr lang="en-US" altLang="zh-TW" dirty="0"/>
              <a:t>:</a:t>
            </a:r>
          </a:p>
          <a:p>
            <a:pPr marL="365760" lvl="1" indent="0">
              <a:buNone/>
            </a:pPr>
            <a:r>
              <a:rPr lang="en-US" altLang="zh-TW" dirty="0"/>
              <a:t>Entry(root).pack()</a:t>
            </a:r>
          </a:p>
          <a:p>
            <a:r>
              <a:rPr lang="zh-TW" altLang="en-US" dirty="0"/>
              <a:t>範例</a:t>
            </a:r>
            <a:r>
              <a:rPr lang="en-US" altLang="zh-TW" dirty="0"/>
              <a:t>:</a:t>
            </a:r>
          </a:p>
          <a:p>
            <a:pPr marL="365760" lvl="1" indent="0">
              <a:buNone/>
            </a:pPr>
            <a:r>
              <a:rPr lang="en-US" altLang="zh-TW" dirty="0"/>
              <a:t>from </a:t>
            </a:r>
            <a:r>
              <a:rPr lang="en-US" altLang="zh-TW" dirty="0" err="1"/>
              <a:t>tkinter</a:t>
            </a:r>
            <a:r>
              <a:rPr lang="en-US" altLang="zh-TW" dirty="0"/>
              <a:t> import *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en-US" altLang="zh-TW" dirty="0" err="1">
                <a:solidFill>
                  <a:srgbClr val="FF0000"/>
                </a:solidFill>
              </a:rPr>
              <a:t>載入函示庫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/>
              <a:t>root = </a:t>
            </a:r>
            <a:r>
              <a:rPr lang="en-US" altLang="zh-TW" dirty="0" err="1"/>
              <a:t>Tk</a:t>
            </a:r>
            <a:r>
              <a:rPr lang="en-US" altLang="zh-TW" dirty="0"/>
              <a:t>()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en-US" altLang="zh-TW" dirty="0" err="1">
                <a:solidFill>
                  <a:srgbClr val="FF0000"/>
                </a:solidFill>
              </a:rPr>
              <a:t>建立視窗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/>
              <a:t>Entry(root).pack()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en-US" altLang="zh-TW" dirty="0" err="1">
                <a:solidFill>
                  <a:srgbClr val="FF0000"/>
                </a:solidFill>
              </a:rPr>
              <a:t>建立</a:t>
            </a:r>
            <a:r>
              <a:rPr lang="en-US" altLang="zh-TW" dirty="0">
                <a:solidFill>
                  <a:srgbClr val="FF0000"/>
                </a:solidFill>
              </a:rPr>
              <a:t> Entry</a:t>
            </a:r>
          </a:p>
          <a:p>
            <a:pPr marL="365760" lvl="1" indent="0">
              <a:buNone/>
            </a:pPr>
            <a:r>
              <a:rPr lang="en-US" altLang="zh-TW" dirty="0" err="1"/>
              <a:t>root.geometry</a:t>
            </a:r>
            <a:r>
              <a:rPr lang="en-US" altLang="zh-TW" dirty="0"/>
              <a:t>("300x100+0+0")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en-US" altLang="zh-TW" dirty="0" err="1">
                <a:solidFill>
                  <a:srgbClr val="FF0000"/>
                </a:solidFill>
              </a:rPr>
              <a:t>設定視窗大小與顯示的位置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 err="1"/>
              <a:t>root.mainloop</a:t>
            </a:r>
            <a:r>
              <a:rPr lang="en-US" altLang="zh-TW" dirty="0"/>
              <a:t>()</a:t>
            </a:r>
          </a:p>
          <a:p>
            <a:r>
              <a:rPr lang="zh-TW" altLang="en-US" dirty="0"/>
              <a:t>執行結果</a:t>
            </a:r>
            <a:r>
              <a:rPr lang="en-US" altLang="zh-TW" dirty="0"/>
              <a:t>:</a:t>
            </a:r>
          </a:p>
          <a:p>
            <a:pPr marL="365760" lvl="1" indent="0">
              <a:buNone/>
            </a:pP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3</a:t>
            </a:fld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5229200"/>
            <a:ext cx="3009900" cy="131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8329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預設</a:t>
            </a:r>
            <a:r>
              <a:rPr lang="en-US" altLang="zh-TW" dirty="0"/>
              <a:t>Entry</a:t>
            </a:r>
            <a:r>
              <a:rPr lang="zh-TW" altLang="en-US" dirty="0"/>
              <a:t>中的字串</a:t>
            </a:r>
            <a:endParaRPr lang="en-US" altLang="zh-TW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範例</a:t>
            </a:r>
            <a:r>
              <a:rPr lang="en-US" altLang="zh-TW" dirty="0"/>
              <a:t>:</a:t>
            </a:r>
          </a:p>
          <a:p>
            <a:pPr marL="365760" lvl="1" indent="0">
              <a:buNone/>
            </a:pPr>
            <a:r>
              <a:rPr lang="en-US" altLang="zh-TW" dirty="0"/>
              <a:t>from </a:t>
            </a:r>
            <a:r>
              <a:rPr lang="en-US" altLang="zh-TW" dirty="0" err="1"/>
              <a:t>tkinter</a:t>
            </a:r>
            <a:r>
              <a:rPr lang="en-US" altLang="zh-TW" dirty="0"/>
              <a:t> import *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en-US" altLang="zh-TW" dirty="0" err="1">
                <a:solidFill>
                  <a:srgbClr val="FF0000"/>
                </a:solidFill>
              </a:rPr>
              <a:t>載入函示庫</a:t>
            </a:r>
            <a:endParaRPr lang="en-US" altLang="zh-TW" dirty="0"/>
          </a:p>
          <a:p>
            <a:pPr marL="365760" lvl="1" indent="0">
              <a:buNone/>
            </a:pPr>
            <a:r>
              <a:rPr lang="en-US" altLang="zh-TW" dirty="0"/>
              <a:t>root = </a:t>
            </a:r>
            <a:r>
              <a:rPr lang="en-US" altLang="zh-TW" dirty="0" err="1"/>
              <a:t>Tk</a:t>
            </a:r>
            <a:r>
              <a:rPr lang="en-US" altLang="zh-TW" dirty="0"/>
              <a:t>()</a:t>
            </a:r>
            <a:r>
              <a:rPr lang="en-US" altLang="zh-TW" dirty="0">
                <a:solidFill>
                  <a:srgbClr val="FF0000"/>
                </a:solidFill>
              </a:rPr>
              <a:t> #</a:t>
            </a:r>
            <a:r>
              <a:rPr lang="en-US" altLang="zh-TW" dirty="0" err="1">
                <a:solidFill>
                  <a:srgbClr val="FF0000"/>
                </a:solidFill>
              </a:rPr>
              <a:t>建立視窗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輸出字串與建立</a:t>
            </a:r>
            <a:r>
              <a:rPr lang="en-US" altLang="zh-TW" dirty="0">
                <a:solidFill>
                  <a:srgbClr val="FF0000"/>
                </a:solidFill>
              </a:rPr>
              <a:t>Entry(</a:t>
            </a:r>
            <a:r>
              <a:rPr lang="zh-TW" altLang="en-US" dirty="0">
                <a:solidFill>
                  <a:srgbClr val="FF0000"/>
                </a:solidFill>
              </a:rPr>
              <a:t>但是無法實現</a:t>
            </a:r>
            <a:r>
              <a:rPr lang="en-US" altLang="zh-TW" dirty="0">
                <a:solidFill>
                  <a:srgbClr val="FF0000"/>
                </a:solidFill>
              </a:rPr>
              <a:t>)</a:t>
            </a:r>
          </a:p>
          <a:p>
            <a:pPr marL="365760" lvl="1" indent="0">
              <a:buNone/>
            </a:pPr>
            <a:r>
              <a:rPr lang="en-US" altLang="zh-TW" dirty="0"/>
              <a:t>Entry(</a:t>
            </a:r>
            <a:r>
              <a:rPr lang="en-US" altLang="zh-TW" dirty="0" err="1"/>
              <a:t>root,text</a:t>
            </a:r>
            <a:r>
              <a:rPr lang="en-US" altLang="zh-TW" dirty="0"/>
              <a:t>=" input your text here ").pack()</a:t>
            </a:r>
          </a:p>
          <a:p>
            <a:pPr marL="365760" lvl="1" indent="0">
              <a:buNone/>
            </a:pPr>
            <a:r>
              <a:rPr lang="en-US" altLang="zh-TW" dirty="0" err="1"/>
              <a:t>root.mainloop</a:t>
            </a:r>
            <a:r>
              <a:rPr lang="en-US" altLang="zh-TW" dirty="0"/>
              <a:t>()</a:t>
            </a:r>
          </a:p>
          <a:p>
            <a:r>
              <a:rPr lang="zh-TW" altLang="en-US" dirty="0"/>
              <a:t>執行結果</a:t>
            </a:r>
            <a:r>
              <a:rPr lang="en-US" altLang="zh-TW" dirty="0"/>
              <a:t>: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4</a:t>
            </a:fld>
            <a:endParaRPr lang="zh-TW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5353347"/>
            <a:ext cx="1524000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2627784" y="1916832"/>
            <a:ext cx="2031325" cy="646331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3600" dirty="0">
                <a:solidFill>
                  <a:srgbClr val="FF0000"/>
                </a:solidFill>
              </a:rPr>
              <a:t>無法實現</a:t>
            </a:r>
            <a:endParaRPr lang="zh-TW" altLang="en-US" sz="3600" dirty="0"/>
          </a:p>
        </p:txBody>
      </p:sp>
      <p:sp>
        <p:nvSpPr>
          <p:cNvPr id="6" name="乘號 5"/>
          <p:cNvSpPr/>
          <p:nvPr/>
        </p:nvSpPr>
        <p:spPr>
          <a:xfrm>
            <a:off x="3471082" y="3789040"/>
            <a:ext cx="3024336" cy="504056"/>
          </a:xfrm>
          <a:prstGeom prst="mathMultiply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1275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預設</a:t>
            </a:r>
            <a:r>
              <a:rPr lang="en-US" altLang="zh-TW" dirty="0"/>
              <a:t>Entry</a:t>
            </a:r>
            <a:r>
              <a:rPr lang="zh-TW" altLang="en-US" dirty="0"/>
              <a:t>中的字串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以上範例，無法透過</a:t>
            </a:r>
            <a:r>
              <a:rPr lang="en-US" altLang="zh-TW" dirty="0"/>
              <a:t>Label</a:t>
            </a:r>
            <a:r>
              <a:rPr lang="zh-TW" altLang="en-US" dirty="0"/>
              <a:t>和</a:t>
            </a:r>
            <a:r>
              <a:rPr lang="en-US" altLang="zh-TW" dirty="0"/>
              <a:t>Button</a:t>
            </a:r>
            <a:r>
              <a:rPr lang="zh-TW" altLang="en-US" dirty="0"/>
              <a:t>中的</a:t>
            </a:r>
            <a:r>
              <a:rPr lang="en-US" altLang="zh-TW" dirty="0"/>
              <a:t>text</a:t>
            </a:r>
            <a:r>
              <a:rPr lang="zh-TW" altLang="en-US" dirty="0"/>
              <a:t>方法直接預設字串，以下範例介紹該如何預設字串。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2658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預設</a:t>
            </a:r>
            <a:r>
              <a:rPr lang="en-US" altLang="zh-TW" dirty="0"/>
              <a:t>Entry</a:t>
            </a:r>
            <a:r>
              <a:rPr lang="zh-TW" altLang="en-US" dirty="0"/>
              <a:t>中的字串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5" name="內容版面配置區 2"/>
          <p:cNvSpPr txBox="1">
            <a:spLocks/>
          </p:cNvSpPr>
          <p:nvPr/>
        </p:nvSpPr>
        <p:spPr>
          <a:xfrm>
            <a:off x="1615440" y="2271657"/>
            <a:ext cx="6196405" cy="36038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Brush Script MT" pitchFamily="66" charset="0"/>
              <a:buChar char="O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Brush Script MT" pitchFamily="66" charset="0"/>
              <a:buChar char="O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Brush Script MT" pitchFamily="66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Brush Script MT" pitchFamily="66" charset="0"/>
              <a:buChar char="O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Brush Script MT" pitchFamily="66" charset="0"/>
              <a:buChar char="O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16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Brush Script MT" pitchFamily="66" charset="0"/>
              <a:buChar char="O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Brush Script MT" pitchFamily="66" charset="0"/>
              <a:buChar char="O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Brush Script MT" pitchFamily="66" charset="0"/>
              <a:buChar char="O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Brush Script MT" pitchFamily="66" charset="0"/>
              <a:buChar char="O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在使用者介面中，常常需要追蹤變量的數值變化，保證變更後可以顯示在介面上，可以透過</a:t>
            </a:r>
            <a:r>
              <a:rPr lang="en-US" altLang="zh-TW" dirty="0"/>
              <a:t>get()</a:t>
            </a:r>
            <a:r>
              <a:rPr lang="zh-TW" altLang="en-US" dirty="0"/>
              <a:t>與</a:t>
            </a:r>
            <a:r>
              <a:rPr lang="en-US" altLang="zh-TW" dirty="0"/>
              <a:t>set()</a:t>
            </a:r>
            <a:r>
              <a:rPr lang="zh-TW" altLang="en-US" dirty="0"/>
              <a:t>取得與設定變量的數值。例如</a:t>
            </a:r>
            <a:r>
              <a:rPr lang="en-US" altLang="zh-TW" dirty="0"/>
              <a:t>:</a:t>
            </a:r>
            <a:r>
              <a:rPr lang="en-US" altLang="zh-TW" dirty="0" err="1"/>
              <a:t>StringVar</a:t>
            </a:r>
            <a:r>
              <a:rPr lang="en-US" altLang="zh-TW" dirty="0"/>
              <a:t>()</a:t>
            </a:r>
            <a:r>
              <a:rPr lang="zh-TW" altLang="en-US" dirty="0"/>
              <a:t>、</a:t>
            </a:r>
            <a:r>
              <a:rPr lang="en-US" altLang="zh-TW" dirty="0" err="1"/>
              <a:t>BooleanVar</a:t>
            </a:r>
            <a:r>
              <a:rPr lang="en-US" altLang="zh-TW" dirty="0"/>
              <a:t> () </a:t>
            </a:r>
            <a:r>
              <a:rPr lang="zh-TW" altLang="en-US" dirty="0"/>
              <a:t>、</a:t>
            </a:r>
            <a:r>
              <a:rPr lang="en-US" altLang="zh-TW" dirty="0" err="1"/>
              <a:t>DoubleVar</a:t>
            </a:r>
            <a:r>
              <a:rPr lang="en-US" altLang="zh-TW" dirty="0"/>
              <a:t> () </a:t>
            </a:r>
            <a:r>
              <a:rPr lang="zh-TW" altLang="en-US" dirty="0"/>
              <a:t>、</a:t>
            </a:r>
            <a:r>
              <a:rPr lang="en-US" altLang="zh-TW" dirty="0" err="1"/>
              <a:t>IntVar</a:t>
            </a:r>
            <a:r>
              <a:rPr lang="en-US" altLang="zh-TW" dirty="0"/>
              <a:t> ()</a:t>
            </a:r>
            <a:endParaRPr lang="zh-TW" altLang="en-US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950188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預設</a:t>
            </a:r>
            <a:r>
              <a:rPr lang="en-US" altLang="zh-TW" dirty="0"/>
              <a:t>Entry</a:t>
            </a:r>
            <a:r>
              <a:rPr lang="zh-TW" altLang="en-US" dirty="0"/>
              <a:t>中的字串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set()</a:t>
            </a:r>
            <a:r>
              <a:rPr lang="zh-TW" altLang="en-US" dirty="0"/>
              <a:t>使用範例</a:t>
            </a:r>
            <a:r>
              <a:rPr lang="en-US" altLang="zh-TW" dirty="0"/>
              <a:t>:</a:t>
            </a:r>
          </a:p>
          <a:p>
            <a:pPr marL="365760" lvl="1" indent="0">
              <a:buNone/>
            </a:pPr>
            <a:r>
              <a:rPr lang="en-US" altLang="zh-TW" dirty="0"/>
              <a:t>from </a:t>
            </a:r>
            <a:r>
              <a:rPr lang="en-US" altLang="zh-TW" dirty="0" err="1"/>
              <a:t>tkinter</a:t>
            </a:r>
            <a:r>
              <a:rPr lang="en-US" altLang="zh-TW" dirty="0"/>
              <a:t> import *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en-US" altLang="zh-TW" dirty="0" err="1">
                <a:solidFill>
                  <a:srgbClr val="FF0000"/>
                </a:solidFill>
              </a:rPr>
              <a:t>載入函示庫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/>
              <a:t>root = </a:t>
            </a:r>
            <a:r>
              <a:rPr lang="en-US" altLang="zh-TW" dirty="0" err="1"/>
              <a:t>Tk</a:t>
            </a:r>
            <a:r>
              <a:rPr lang="en-US" altLang="zh-TW" dirty="0"/>
              <a:t>()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en-US" altLang="zh-TW" dirty="0" err="1">
                <a:solidFill>
                  <a:srgbClr val="FF0000"/>
                </a:solidFill>
              </a:rPr>
              <a:t>建立視窗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/>
              <a:t>e = </a:t>
            </a:r>
            <a:r>
              <a:rPr lang="en-US" altLang="zh-TW" dirty="0" err="1"/>
              <a:t>StringVar</a:t>
            </a:r>
            <a:r>
              <a:rPr lang="en-US" altLang="zh-TW" dirty="0"/>
              <a:t>()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變動文字變數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 err="1"/>
              <a:t>e.set</a:t>
            </a:r>
            <a:r>
              <a:rPr lang="en-US" altLang="zh-TW" dirty="0"/>
              <a:t>("input your text here") 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設定字串變量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/>
              <a:t>entry = Entry(</a:t>
            </a:r>
            <a:r>
              <a:rPr lang="en-US" altLang="zh-TW" dirty="0" err="1"/>
              <a:t>root,textvariable</a:t>
            </a:r>
            <a:r>
              <a:rPr lang="en-US" altLang="zh-TW" dirty="0"/>
              <a:t> = e)</a:t>
            </a:r>
            <a:r>
              <a:rPr lang="en-US" altLang="zh-TW" dirty="0">
                <a:solidFill>
                  <a:srgbClr val="FF0000"/>
                </a:solidFill>
              </a:rPr>
              <a:t>#text</a:t>
            </a:r>
            <a:r>
              <a:rPr lang="zh-TW" altLang="en-US" dirty="0">
                <a:solidFill>
                  <a:srgbClr val="FF0000"/>
                </a:solidFill>
              </a:rPr>
              <a:t>中的字串設為變動文字變數</a:t>
            </a:r>
            <a:r>
              <a:rPr lang="en-US" altLang="zh-TW" dirty="0">
                <a:solidFill>
                  <a:srgbClr val="FF0000"/>
                </a:solidFill>
              </a:rPr>
              <a:t>(e)</a:t>
            </a:r>
          </a:p>
          <a:p>
            <a:pPr marL="365760" lvl="1" indent="0">
              <a:buNone/>
            </a:pPr>
            <a:r>
              <a:rPr lang="en-US" altLang="zh-TW" dirty="0" err="1"/>
              <a:t>entry.pack</a:t>
            </a:r>
            <a:r>
              <a:rPr lang="en-US" altLang="zh-TW" dirty="0"/>
              <a:t>()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建立</a:t>
            </a:r>
            <a:r>
              <a:rPr lang="en-US" altLang="zh-TW" dirty="0">
                <a:solidFill>
                  <a:srgbClr val="FF0000"/>
                </a:solidFill>
              </a:rPr>
              <a:t>entry</a:t>
            </a:r>
          </a:p>
          <a:p>
            <a:pPr marL="365760" lvl="1" indent="0">
              <a:buNone/>
            </a:pPr>
            <a:r>
              <a:rPr lang="en-US" altLang="zh-TW" dirty="0" err="1"/>
              <a:t>root.mainloop</a:t>
            </a:r>
            <a:r>
              <a:rPr lang="en-US" altLang="zh-TW" dirty="0"/>
              <a:t>()</a:t>
            </a:r>
          </a:p>
          <a:p>
            <a:r>
              <a:rPr lang="zh-TW" altLang="en-US" dirty="0"/>
              <a:t>執行結果</a:t>
            </a:r>
            <a:r>
              <a:rPr lang="en-US" altLang="zh-TW" dirty="0"/>
              <a:t>: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7</a:t>
            </a:fld>
            <a:endParaRPr lang="zh-TW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5661248"/>
            <a:ext cx="1524000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86234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讀取</a:t>
            </a:r>
            <a:r>
              <a:rPr lang="en-US" altLang="zh-TW" dirty="0"/>
              <a:t>Entry</a:t>
            </a:r>
            <a:r>
              <a:rPr lang="zh-TW" altLang="en-US" dirty="0"/>
              <a:t>中的字串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63040" y="2119256"/>
            <a:ext cx="6196405" cy="4190063"/>
          </a:xfrm>
        </p:spPr>
        <p:txBody>
          <a:bodyPr>
            <a:normAutofit fontScale="40000" lnSpcReduction="20000"/>
          </a:bodyPr>
          <a:lstStyle/>
          <a:p>
            <a:r>
              <a:rPr lang="en-US" altLang="zh-TW" sz="5100" dirty="0"/>
              <a:t>get()</a:t>
            </a:r>
            <a:r>
              <a:rPr lang="zh-TW" altLang="en-US" sz="5100" dirty="0"/>
              <a:t>使用範例</a:t>
            </a:r>
            <a:r>
              <a:rPr lang="en-US" altLang="zh-TW" sz="5100" dirty="0"/>
              <a:t>:</a:t>
            </a:r>
          </a:p>
          <a:p>
            <a:pPr marL="365760" lvl="1" indent="0">
              <a:buNone/>
            </a:pPr>
            <a:r>
              <a:rPr lang="en-US" altLang="zh-TW" sz="3500" dirty="0"/>
              <a:t>from </a:t>
            </a:r>
            <a:r>
              <a:rPr lang="en-US" altLang="zh-TW" sz="3500" dirty="0" err="1"/>
              <a:t>tkinter</a:t>
            </a:r>
            <a:r>
              <a:rPr lang="en-US" altLang="zh-TW" sz="3500" dirty="0"/>
              <a:t> import *</a:t>
            </a:r>
            <a:r>
              <a:rPr lang="en-US" altLang="zh-TW" sz="3500" dirty="0">
                <a:solidFill>
                  <a:srgbClr val="FF0000"/>
                </a:solidFill>
              </a:rPr>
              <a:t>#</a:t>
            </a:r>
            <a:r>
              <a:rPr lang="en-US" altLang="zh-TW" sz="3500" dirty="0" err="1">
                <a:solidFill>
                  <a:srgbClr val="FF0000"/>
                </a:solidFill>
              </a:rPr>
              <a:t>載入函示庫</a:t>
            </a:r>
            <a:endParaRPr lang="en-US" altLang="zh-TW" sz="3500" dirty="0"/>
          </a:p>
          <a:p>
            <a:pPr marL="365760" lvl="1" indent="0">
              <a:buNone/>
            </a:pPr>
            <a:r>
              <a:rPr lang="en-US" altLang="zh-TW" sz="3500" dirty="0"/>
              <a:t>root = </a:t>
            </a:r>
            <a:r>
              <a:rPr lang="en-US" altLang="zh-TW" sz="3500" dirty="0" err="1"/>
              <a:t>Tk</a:t>
            </a:r>
            <a:r>
              <a:rPr lang="en-US" altLang="zh-TW" sz="3500" dirty="0"/>
              <a:t>()</a:t>
            </a:r>
            <a:r>
              <a:rPr lang="en-US" altLang="zh-TW" sz="3500" dirty="0">
                <a:solidFill>
                  <a:srgbClr val="FF0000"/>
                </a:solidFill>
              </a:rPr>
              <a:t>#</a:t>
            </a:r>
            <a:r>
              <a:rPr lang="zh-TW" altLang="en-US" sz="3500" dirty="0">
                <a:solidFill>
                  <a:srgbClr val="FF0000"/>
                </a:solidFill>
              </a:rPr>
              <a:t>建立視窗</a:t>
            </a:r>
            <a:endParaRPr lang="en-US" altLang="zh-TW" sz="3500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sz="3500" dirty="0"/>
              <a:t>e = </a:t>
            </a:r>
            <a:r>
              <a:rPr lang="en-US" altLang="zh-TW" sz="3500" dirty="0" err="1"/>
              <a:t>StringVar</a:t>
            </a:r>
            <a:r>
              <a:rPr lang="en-US" altLang="zh-TW" sz="3500" dirty="0"/>
              <a:t>()</a:t>
            </a:r>
            <a:r>
              <a:rPr lang="en-US" altLang="zh-TW" sz="3500" dirty="0">
                <a:solidFill>
                  <a:srgbClr val="FF0000"/>
                </a:solidFill>
              </a:rPr>
              <a:t> #</a:t>
            </a:r>
            <a:r>
              <a:rPr lang="zh-TW" altLang="en-US" sz="3500" dirty="0">
                <a:solidFill>
                  <a:srgbClr val="FF0000"/>
                </a:solidFill>
              </a:rPr>
              <a:t>變動文字變數</a:t>
            </a:r>
            <a:endParaRPr lang="en-US" altLang="zh-TW" sz="3500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sz="3500" dirty="0">
                <a:solidFill>
                  <a:srgbClr val="FF0000"/>
                </a:solidFill>
              </a:rPr>
              <a:t>#</a:t>
            </a:r>
            <a:r>
              <a:rPr lang="zh-TW" altLang="en-US" sz="3500" dirty="0">
                <a:solidFill>
                  <a:srgbClr val="FF0000"/>
                </a:solidFill>
              </a:rPr>
              <a:t>自行定義的函式</a:t>
            </a:r>
            <a:endParaRPr lang="en-US" altLang="zh-TW" sz="3500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sz="3500" dirty="0" err="1"/>
              <a:t>def</a:t>
            </a:r>
            <a:r>
              <a:rPr lang="en-US" altLang="zh-TW" sz="3500" dirty="0"/>
              <a:t> </a:t>
            </a:r>
            <a:r>
              <a:rPr lang="en-US" altLang="zh-TW" sz="3500" dirty="0" err="1"/>
              <a:t>func</a:t>
            </a:r>
            <a:r>
              <a:rPr lang="en-US" altLang="zh-TW" sz="3500" dirty="0"/>
              <a:t>():</a:t>
            </a:r>
          </a:p>
          <a:p>
            <a:pPr marL="365760" lvl="1" indent="0">
              <a:buNone/>
            </a:pPr>
            <a:r>
              <a:rPr lang="en-US" altLang="zh-TW" sz="3500" dirty="0"/>
              <a:t>  print (</a:t>
            </a:r>
            <a:r>
              <a:rPr lang="en-US" altLang="zh-TW" sz="3500" dirty="0" err="1"/>
              <a:t>e.get</a:t>
            </a:r>
            <a:r>
              <a:rPr lang="en-US" altLang="zh-TW" sz="3500" dirty="0"/>
              <a:t>())</a:t>
            </a:r>
            <a:r>
              <a:rPr lang="en-US" altLang="zh-TW" sz="3500" dirty="0">
                <a:solidFill>
                  <a:srgbClr val="FF0000"/>
                </a:solidFill>
              </a:rPr>
              <a:t>#</a:t>
            </a:r>
            <a:r>
              <a:rPr lang="zh-TW" altLang="en-US" sz="3500" dirty="0">
                <a:solidFill>
                  <a:srgbClr val="FF0000"/>
                </a:solidFill>
              </a:rPr>
              <a:t>取得變動文字變數且顯示變動文字</a:t>
            </a:r>
            <a:endParaRPr lang="en-US" altLang="zh-TW" sz="3500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sz="3500" dirty="0"/>
              <a:t>  </a:t>
            </a:r>
            <a:r>
              <a:rPr lang="en-US" altLang="zh-TW" sz="3500" dirty="0">
                <a:solidFill>
                  <a:srgbClr val="FF0000"/>
                </a:solidFill>
              </a:rPr>
              <a:t>#print (</a:t>
            </a:r>
            <a:r>
              <a:rPr lang="en-US" altLang="zh-TW" sz="3500" dirty="0" err="1">
                <a:solidFill>
                  <a:srgbClr val="FF0000"/>
                </a:solidFill>
              </a:rPr>
              <a:t>entry.get</a:t>
            </a:r>
            <a:r>
              <a:rPr lang="en-US" altLang="zh-TW" sz="3500" dirty="0">
                <a:solidFill>
                  <a:srgbClr val="FF0000"/>
                </a:solidFill>
              </a:rPr>
              <a:t>())</a:t>
            </a:r>
          </a:p>
          <a:p>
            <a:pPr marL="365760" lvl="1" indent="0">
              <a:buNone/>
            </a:pPr>
            <a:r>
              <a:rPr lang="en-US" altLang="zh-TW" sz="3500" dirty="0">
                <a:solidFill>
                  <a:srgbClr val="FF0000"/>
                </a:solidFill>
              </a:rPr>
              <a:t>#</a:t>
            </a:r>
            <a:r>
              <a:rPr lang="zh-TW" altLang="en-US" sz="3500" dirty="0">
                <a:solidFill>
                  <a:srgbClr val="FF0000"/>
                </a:solidFill>
              </a:rPr>
              <a:t>建立一個</a:t>
            </a:r>
            <a:r>
              <a:rPr lang="en-US" altLang="zh-TW" sz="3500" dirty="0">
                <a:solidFill>
                  <a:srgbClr val="FF0000"/>
                </a:solidFill>
              </a:rPr>
              <a:t>Button</a:t>
            </a:r>
            <a:r>
              <a:rPr lang="zh-TW" altLang="en-US" sz="3500" dirty="0">
                <a:solidFill>
                  <a:srgbClr val="FF0000"/>
                </a:solidFill>
              </a:rPr>
              <a:t>按下後會呼叫</a:t>
            </a:r>
            <a:r>
              <a:rPr lang="en-US" altLang="zh-TW" sz="3500" dirty="0" err="1">
                <a:solidFill>
                  <a:srgbClr val="FF0000"/>
                </a:solidFill>
              </a:rPr>
              <a:t>validateText</a:t>
            </a:r>
            <a:r>
              <a:rPr lang="zh-TW" altLang="en-US" sz="3500" dirty="0">
                <a:solidFill>
                  <a:srgbClr val="FF0000"/>
                </a:solidFill>
              </a:rPr>
              <a:t>函式</a:t>
            </a:r>
            <a:endParaRPr lang="en-US" altLang="zh-TW" sz="3500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sz="3500" dirty="0"/>
              <a:t>Button(root,</a:t>
            </a:r>
          </a:p>
          <a:p>
            <a:pPr marL="365760" lvl="1" indent="0">
              <a:buNone/>
            </a:pPr>
            <a:r>
              <a:rPr lang="en-US" altLang="zh-TW" sz="3500" dirty="0"/>
              <a:t>text = "</a:t>
            </a:r>
            <a:r>
              <a:rPr lang="zh-TW" altLang="en-US" sz="3500" dirty="0"/>
              <a:t>顯示</a:t>
            </a:r>
            <a:r>
              <a:rPr lang="en-US" altLang="zh-TW" sz="3500" dirty="0"/>
              <a:t>",</a:t>
            </a:r>
          </a:p>
          <a:p>
            <a:pPr marL="365760" lvl="1" indent="0">
              <a:buNone/>
            </a:pPr>
            <a:r>
              <a:rPr lang="en-US" altLang="zh-TW" sz="3500" dirty="0"/>
              <a:t>command = </a:t>
            </a:r>
            <a:r>
              <a:rPr lang="en-US" altLang="zh-TW" sz="3500" dirty="0" err="1"/>
              <a:t>func</a:t>
            </a:r>
            <a:endParaRPr lang="en-US" altLang="zh-TW" sz="3500" dirty="0"/>
          </a:p>
          <a:p>
            <a:pPr marL="365760" lvl="1" indent="0">
              <a:buNone/>
            </a:pPr>
            <a:r>
              <a:rPr lang="en-US" altLang="zh-TW" sz="3500" dirty="0"/>
              <a:t>).pack()</a:t>
            </a:r>
          </a:p>
          <a:p>
            <a:pPr marL="365760" lvl="1" indent="0">
              <a:buNone/>
            </a:pPr>
            <a:r>
              <a:rPr lang="en-US" altLang="zh-TW" sz="3500" dirty="0">
                <a:solidFill>
                  <a:srgbClr val="FF0000"/>
                </a:solidFill>
              </a:rPr>
              <a:t>#</a:t>
            </a:r>
            <a:r>
              <a:rPr lang="zh-TW" altLang="en-US" sz="3500" dirty="0">
                <a:solidFill>
                  <a:srgbClr val="FF0000"/>
                </a:solidFill>
              </a:rPr>
              <a:t>建立一個</a:t>
            </a:r>
            <a:r>
              <a:rPr lang="en-US" altLang="zh-TW" sz="3500" dirty="0">
                <a:solidFill>
                  <a:srgbClr val="FF0000"/>
                </a:solidFill>
              </a:rPr>
              <a:t>entry </a:t>
            </a:r>
            <a:r>
              <a:rPr lang="zh-TW" altLang="en-US" sz="3500" dirty="0">
                <a:solidFill>
                  <a:srgbClr val="FF0000"/>
                </a:solidFill>
              </a:rPr>
              <a:t>且</a:t>
            </a:r>
            <a:r>
              <a:rPr lang="en-US" altLang="zh-TW" sz="3500" dirty="0">
                <a:solidFill>
                  <a:srgbClr val="FF0000"/>
                </a:solidFill>
              </a:rPr>
              <a:t>text</a:t>
            </a:r>
            <a:r>
              <a:rPr lang="zh-TW" altLang="en-US" sz="3500" dirty="0">
                <a:solidFill>
                  <a:srgbClr val="FF0000"/>
                </a:solidFill>
              </a:rPr>
              <a:t>中的字串設為變動文字變數</a:t>
            </a:r>
            <a:r>
              <a:rPr lang="en-US" altLang="zh-TW" sz="3500" dirty="0">
                <a:solidFill>
                  <a:srgbClr val="FF0000"/>
                </a:solidFill>
              </a:rPr>
              <a:t>(e)</a:t>
            </a:r>
          </a:p>
          <a:p>
            <a:pPr marL="365760" lvl="1" indent="0">
              <a:buNone/>
            </a:pPr>
            <a:r>
              <a:rPr lang="en-US" altLang="zh-TW" sz="3500" dirty="0"/>
              <a:t>entry = Entry(root,</a:t>
            </a:r>
          </a:p>
          <a:p>
            <a:pPr marL="365760" lvl="1" indent="0">
              <a:buNone/>
            </a:pPr>
            <a:r>
              <a:rPr lang="en-US" altLang="zh-TW" sz="3500" dirty="0"/>
              <a:t> </a:t>
            </a:r>
            <a:r>
              <a:rPr lang="en-US" altLang="zh-TW" sz="3500" dirty="0" err="1"/>
              <a:t>textvariable</a:t>
            </a:r>
            <a:r>
              <a:rPr lang="en-US" altLang="zh-TW" sz="3500" dirty="0"/>
              <a:t> = e)</a:t>
            </a:r>
          </a:p>
          <a:p>
            <a:pPr marL="365760" lvl="1" indent="0">
              <a:buNone/>
            </a:pPr>
            <a:r>
              <a:rPr lang="en-US" altLang="zh-TW" sz="3500" dirty="0" err="1"/>
              <a:t>entry.pack</a:t>
            </a:r>
            <a:r>
              <a:rPr lang="en-US" altLang="zh-TW" sz="3500" dirty="0"/>
              <a:t>()</a:t>
            </a:r>
          </a:p>
          <a:p>
            <a:pPr marL="365760" lvl="1" indent="0">
              <a:buNone/>
            </a:pPr>
            <a:r>
              <a:rPr lang="en-US" altLang="zh-TW" sz="3500" dirty="0" err="1"/>
              <a:t>root.mainloop</a:t>
            </a:r>
            <a:r>
              <a:rPr lang="en-US" altLang="zh-TW" sz="3500" dirty="0"/>
              <a:t>()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1185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讀取</a:t>
            </a:r>
            <a:r>
              <a:rPr lang="en-US" altLang="zh-TW" dirty="0"/>
              <a:t>Entry</a:t>
            </a:r>
            <a:r>
              <a:rPr lang="zh-TW" altLang="en-US" dirty="0"/>
              <a:t>中的字串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執行結果</a:t>
            </a:r>
            <a:r>
              <a:rPr lang="en-US" altLang="zh-TW" dirty="0"/>
              <a:t>:</a:t>
            </a:r>
          </a:p>
          <a:p>
            <a:pPr lvl="1">
              <a:buFont typeface="Wingdings" pitchFamily="2" charset="2"/>
              <a:buChar char="l"/>
            </a:pPr>
            <a:r>
              <a:rPr lang="zh-TW" altLang="en-US" dirty="0"/>
              <a:t>輸入</a:t>
            </a:r>
            <a:r>
              <a:rPr lang="en-US" altLang="zh-TW" dirty="0"/>
              <a:t>KUAS:		</a:t>
            </a:r>
          </a:p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r>
              <a:rPr lang="zh-TW" altLang="en-US" dirty="0"/>
              <a:t>按下顯示後</a:t>
            </a:r>
            <a:r>
              <a:rPr lang="en-US" altLang="zh-TW" dirty="0"/>
              <a:t>: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212976"/>
            <a:ext cx="1524000" cy="81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7" t="89335" r="86934" b="5333"/>
          <a:stretch/>
        </p:blipFill>
        <p:spPr bwMode="auto">
          <a:xfrm>
            <a:off x="2195736" y="5301208"/>
            <a:ext cx="762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2421707" y="3517590"/>
            <a:ext cx="432048" cy="2160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1022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設定</a:t>
            </a:r>
            <a:r>
              <a:rPr lang="en-US" altLang="zh-TW" dirty="0"/>
              <a:t>Entry</a:t>
            </a:r>
            <a:r>
              <a:rPr lang="zh-TW" altLang="en-US" dirty="0"/>
              <a:t>為只能讀取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TW" altLang="en-US" dirty="0"/>
              <a:t>語法</a:t>
            </a:r>
            <a:r>
              <a:rPr lang="en-US" altLang="zh-TW" dirty="0"/>
              <a:t>1:</a:t>
            </a:r>
          </a:p>
          <a:p>
            <a:pPr marL="36576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設定與建立</a:t>
            </a:r>
            <a:r>
              <a:rPr lang="en-US" altLang="zh-TW" dirty="0">
                <a:solidFill>
                  <a:srgbClr val="FF0000"/>
                </a:solidFill>
              </a:rPr>
              <a:t>entry</a:t>
            </a:r>
          </a:p>
          <a:p>
            <a:pPr marL="365760" lvl="1" indent="0">
              <a:buNone/>
            </a:pPr>
            <a:r>
              <a:rPr lang="en-US" altLang="zh-TW" dirty="0"/>
              <a:t>entry = Entry(root)</a:t>
            </a:r>
          </a:p>
          <a:p>
            <a:pPr marL="365760" lvl="1" indent="0">
              <a:buNone/>
            </a:pPr>
            <a:r>
              <a:rPr lang="en-US" altLang="zh-TW" dirty="0" err="1"/>
              <a:t>entry.pack</a:t>
            </a:r>
            <a:r>
              <a:rPr lang="en-US" altLang="zh-TW" dirty="0"/>
              <a:t>()</a:t>
            </a:r>
          </a:p>
          <a:p>
            <a:pPr marL="36576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設定</a:t>
            </a:r>
            <a:r>
              <a:rPr lang="en-US" altLang="zh-TW" dirty="0">
                <a:solidFill>
                  <a:srgbClr val="FF0000"/>
                </a:solidFill>
              </a:rPr>
              <a:t>entry</a:t>
            </a:r>
            <a:r>
              <a:rPr lang="zh-TW" altLang="en-US" dirty="0">
                <a:solidFill>
                  <a:srgbClr val="FF0000"/>
                </a:solidFill>
              </a:rPr>
              <a:t>為只能讀不能寫入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/>
              <a:t>entry["state"] = "</a:t>
            </a:r>
            <a:r>
              <a:rPr lang="en-US" altLang="zh-TW" dirty="0" err="1"/>
              <a:t>readonly</a:t>
            </a:r>
            <a:r>
              <a:rPr lang="en-US" altLang="zh-TW" dirty="0"/>
              <a:t>"</a:t>
            </a:r>
          </a:p>
          <a:p>
            <a:r>
              <a:rPr lang="zh-TW" altLang="en-US" dirty="0"/>
              <a:t>語法</a:t>
            </a:r>
            <a:r>
              <a:rPr lang="en-US" altLang="zh-TW" dirty="0"/>
              <a:t>2:</a:t>
            </a:r>
          </a:p>
          <a:p>
            <a:pPr marL="36576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設定與建立</a:t>
            </a:r>
            <a:r>
              <a:rPr lang="en-US" altLang="zh-TW" dirty="0">
                <a:solidFill>
                  <a:srgbClr val="FF0000"/>
                </a:solidFill>
              </a:rPr>
              <a:t>entry</a:t>
            </a:r>
          </a:p>
          <a:p>
            <a:pPr marL="365760" lvl="1" indent="0">
              <a:buNone/>
            </a:pPr>
            <a:r>
              <a:rPr lang="en-US" altLang="zh-TW" dirty="0"/>
              <a:t>entry = Entry(root)</a:t>
            </a:r>
          </a:p>
          <a:p>
            <a:pPr marL="365760" lvl="1" indent="0">
              <a:buNone/>
            </a:pPr>
            <a:r>
              <a:rPr lang="en-US" altLang="zh-TW" dirty="0" err="1"/>
              <a:t>entry.pack</a:t>
            </a:r>
            <a:r>
              <a:rPr lang="en-US" altLang="zh-TW" dirty="0"/>
              <a:t>()</a:t>
            </a:r>
          </a:p>
          <a:p>
            <a:pPr marL="36576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設定</a:t>
            </a:r>
            <a:r>
              <a:rPr lang="en-US" altLang="zh-TW" dirty="0">
                <a:solidFill>
                  <a:srgbClr val="FF0000"/>
                </a:solidFill>
              </a:rPr>
              <a:t>entry</a:t>
            </a:r>
            <a:r>
              <a:rPr lang="zh-TW" altLang="en-US" dirty="0">
                <a:solidFill>
                  <a:srgbClr val="FF0000"/>
                </a:solidFill>
              </a:rPr>
              <a:t>為只能讀不能寫入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sz="2400" dirty="0" err="1"/>
              <a:t>entry.config</a:t>
            </a:r>
            <a:r>
              <a:rPr lang="en-US" altLang="zh-TW" sz="2400" dirty="0"/>
              <a:t>(state= "</a:t>
            </a:r>
            <a:r>
              <a:rPr lang="en-US" altLang="zh-TW" sz="2400" dirty="0" err="1"/>
              <a:t>readonly</a:t>
            </a:r>
            <a:r>
              <a:rPr lang="en-US" altLang="zh-TW" sz="2400" dirty="0"/>
              <a:t>")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9201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設定</a:t>
            </a:r>
            <a:r>
              <a:rPr lang="en-US" altLang="zh-TW" dirty="0"/>
              <a:t>Entry</a:t>
            </a:r>
            <a:r>
              <a:rPr lang="zh-TW" altLang="en-US" dirty="0"/>
              <a:t>為只能讀取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TW" altLang="en-US" dirty="0"/>
              <a:t>範例</a:t>
            </a:r>
            <a:r>
              <a:rPr lang="en-US" altLang="zh-TW" dirty="0"/>
              <a:t>:</a:t>
            </a:r>
          </a:p>
          <a:p>
            <a:pPr marL="365760" lvl="1" indent="0">
              <a:buNone/>
            </a:pPr>
            <a:r>
              <a:rPr lang="en-US" altLang="zh-TW" sz="1800" dirty="0"/>
              <a:t>from </a:t>
            </a:r>
            <a:r>
              <a:rPr lang="en-US" altLang="zh-TW" sz="1800" dirty="0" err="1"/>
              <a:t>tkinter</a:t>
            </a:r>
            <a:r>
              <a:rPr lang="en-US" altLang="zh-TW" sz="1800" dirty="0"/>
              <a:t> import *</a:t>
            </a:r>
            <a:r>
              <a:rPr lang="en-US" altLang="zh-TW" sz="1800" dirty="0">
                <a:solidFill>
                  <a:srgbClr val="FF0000"/>
                </a:solidFill>
              </a:rPr>
              <a:t>#</a:t>
            </a:r>
            <a:r>
              <a:rPr lang="zh-TW" altLang="en-US" sz="1800" dirty="0">
                <a:solidFill>
                  <a:srgbClr val="FF0000"/>
                </a:solidFill>
              </a:rPr>
              <a:t>載入函式庫</a:t>
            </a:r>
            <a:endParaRPr lang="en-US" altLang="zh-TW" sz="1800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sz="1800" dirty="0"/>
              <a:t>root = </a:t>
            </a:r>
            <a:r>
              <a:rPr lang="en-US" altLang="zh-TW" sz="1800" dirty="0" err="1"/>
              <a:t>Tk</a:t>
            </a:r>
            <a:r>
              <a:rPr lang="en-US" altLang="zh-TW" sz="1800" dirty="0"/>
              <a:t>()</a:t>
            </a:r>
            <a:r>
              <a:rPr lang="en-US" altLang="zh-TW" sz="1800" dirty="0">
                <a:solidFill>
                  <a:srgbClr val="FF0000"/>
                </a:solidFill>
              </a:rPr>
              <a:t>#</a:t>
            </a:r>
            <a:r>
              <a:rPr lang="zh-TW" altLang="en-US" sz="1800" dirty="0">
                <a:solidFill>
                  <a:srgbClr val="FF0000"/>
                </a:solidFill>
              </a:rPr>
              <a:t>建立視窗</a:t>
            </a:r>
            <a:endParaRPr lang="en-US" altLang="zh-TW" sz="1800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sz="1800" dirty="0"/>
              <a:t>e = </a:t>
            </a:r>
            <a:r>
              <a:rPr lang="en-US" altLang="zh-TW" sz="1800" dirty="0" err="1"/>
              <a:t>StringVar</a:t>
            </a:r>
            <a:r>
              <a:rPr lang="en-US" altLang="zh-TW" sz="1800" dirty="0"/>
              <a:t>()</a:t>
            </a:r>
            <a:r>
              <a:rPr lang="en-US" altLang="zh-TW" sz="1800" dirty="0">
                <a:solidFill>
                  <a:srgbClr val="FF0000"/>
                </a:solidFill>
              </a:rPr>
              <a:t> #</a:t>
            </a:r>
            <a:r>
              <a:rPr lang="zh-TW" altLang="en-US" sz="1800" dirty="0">
                <a:solidFill>
                  <a:srgbClr val="FF0000"/>
                </a:solidFill>
              </a:rPr>
              <a:t>變動文字變數</a:t>
            </a:r>
            <a:endParaRPr lang="en-US" altLang="zh-TW" sz="1800" dirty="0">
              <a:solidFill>
                <a:srgbClr val="FF0000"/>
              </a:solidFill>
            </a:endParaRPr>
          </a:p>
          <a:p>
            <a:pPr marL="274320" lvl="2" indent="0">
              <a:buNone/>
            </a:pPr>
            <a:r>
              <a:rPr lang="en-US" altLang="zh-TW" sz="1800" dirty="0">
                <a:solidFill>
                  <a:srgbClr val="FF0000"/>
                </a:solidFill>
              </a:rPr>
              <a:t>#text</a:t>
            </a:r>
            <a:r>
              <a:rPr lang="zh-TW" altLang="en-US" sz="1800" dirty="0">
                <a:solidFill>
                  <a:srgbClr val="FF0000"/>
                </a:solidFill>
              </a:rPr>
              <a:t>中的字串設為變動文字變數</a:t>
            </a:r>
            <a:r>
              <a:rPr lang="en-US" altLang="zh-TW" sz="1800" dirty="0">
                <a:solidFill>
                  <a:srgbClr val="FF0000"/>
                </a:solidFill>
              </a:rPr>
              <a:t>(e)</a:t>
            </a:r>
            <a:endParaRPr lang="en-US" altLang="zh-TW" sz="1800" dirty="0"/>
          </a:p>
          <a:p>
            <a:pPr marL="365760" lvl="1" indent="0">
              <a:buNone/>
            </a:pPr>
            <a:r>
              <a:rPr lang="en-US" altLang="zh-TW" sz="1800" dirty="0"/>
              <a:t>entry = Entry(</a:t>
            </a:r>
            <a:r>
              <a:rPr lang="en-US" altLang="zh-TW" sz="1800" dirty="0" err="1"/>
              <a:t>root,textvariable</a:t>
            </a:r>
            <a:r>
              <a:rPr lang="en-US" altLang="zh-TW" sz="1800" dirty="0"/>
              <a:t> = e)</a:t>
            </a:r>
          </a:p>
          <a:p>
            <a:pPr marL="365760" lvl="1" indent="0">
              <a:buNone/>
            </a:pPr>
            <a:r>
              <a:rPr lang="en-US" altLang="zh-TW" sz="1800" dirty="0">
                <a:solidFill>
                  <a:srgbClr val="FF0000"/>
                </a:solidFill>
              </a:rPr>
              <a:t>#</a:t>
            </a:r>
            <a:r>
              <a:rPr lang="zh-TW" altLang="en-US" sz="1800" dirty="0">
                <a:solidFill>
                  <a:srgbClr val="FF0000"/>
                </a:solidFill>
              </a:rPr>
              <a:t>設定變動文字變數為指定字串</a:t>
            </a:r>
            <a:endParaRPr lang="en-US" altLang="zh-TW" sz="1800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sz="1800" dirty="0" err="1"/>
              <a:t>e.set</a:t>
            </a:r>
            <a:r>
              <a:rPr lang="en-US" altLang="zh-TW" sz="1800" dirty="0"/>
              <a:t>("input your text here")</a:t>
            </a:r>
          </a:p>
          <a:p>
            <a:pPr marL="365760" lvl="1" indent="0">
              <a:buNone/>
            </a:pPr>
            <a:r>
              <a:rPr lang="en-US" altLang="zh-TW" sz="1800" dirty="0">
                <a:solidFill>
                  <a:srgbClr val="FF0000"/>
                </a:solidFill>
              </a:rPr>
              <a:t>#</a:t>
            </a:r>
            <a:r>
              <a:rPr lang="zh-TW" altLang="en-US" sz="1800" dirty="0">
                <a:solidFill>
                  <a:srgbClr val="FF0000"/>
                </a:solidFill>
              </a:rPr>
              <a:t>建立</a:t>
            </a:r>
            <a:r>
              <a:rPr lang="en-US" altLang="zh-TW" sz="1800" dirty="0">
                <a:solidFill>
                  <a:srgbClr val="FF0000"/>
                </a:solidFill>
              </a:rPr>
              <a:t>entry </a:t>
            </a:r>
          </a:p>
          <a:p>
            <a:pPr marL="365760" lvl="1" indent="0">
              <a:buNone/>
            </a:pPr>
            <a:r>
              <a:rPr lang="en-US" altLang="zh-TW" sz="1800" dirty="0" err="1"/>
              <a:t>entry.pack</a:t>
            </a:r>
            <a:r>
              <a:rPr lang="en-US" altLang="zh-TW" sz="1800" dirty="0"/>
              <a:t>()</a:t>
            </a:r>
          </a:p>
          <a:p>
            <a:pPr marL="365760" lvl="1" indent="0">
              <a:buNone/>
            </a:pPr>
            <a:r>
              <a:rPr lang="en-US" altLang="zh-TW" sz="1800" dirty="0">
                <a:solidFill>
                  <a:srgbClr val="FF0000"/>
                </a:solidFill>
              </a:rPr>
              <a:t>#</a:t>
            </a:r>
            <a:r>
              <a:rPr lang="zh-TW" altLang="en-US" sz="1800" dirty="0">
                <a:solidFill>
                  <a:srgbClr val="FF0000"/>
                </a:solidFill>
              </a:rPr>
              <a:t>設定為只能顯示</a:t>
            </a:r>
            <a:endParaRPr lang="en-US" altLang="zh-TW" sz="1800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sz="1800" dirty="0"/>
              <a:t>entry["state"] = "</a:t>
            </a:r>
            <a:r>
              <a:rPr lang="en-US" altLang="zh-TW" sz="1800" dirty="0" err="1"/>
              <a:t>readonly</a:t>
            </a:r>
            <a:r>
              <a:rPr lang="en-US" altLang="zh-TW" sz="1800" dirty="0"/>
              <a:t>“</a:t>
            </a:r>
          </a:p>
          <a:p>
            <a:pPr marL="365760" lvl="1" indent="0">
              <a:buNone/>
            </a:pPr>
            <a:r>
              <a:rPr lang="en-US" altLang="zh-TW" sz="1800" dirty="0">
                <a:solidFill>
                  <a:srgbClr val="FF0000"/>
                </a:solidFill>
              </a:rPr>
              <a:t>#</a:t>
            </a:r>
            <a:r>
              <a:rPr lang="en-US" altLang="zh-TW" sz="1800" dirty="0" err="1">
                <a:solidFill>
                  <a:srgbClr val="FF0000"/>
                </a:solidFill>
              </a:rPr>
              <a:t>entry.config</a:t>
            </a:r>
            <a:r>
              <a:rPr lang="en-US" altLang="zh-TW" sz="1800" dirty="0">
                <a:solidFill>
                  <a:srgbClr val="FF0000"/>
                </a:solidFill>
              </a:rPr>
              <a:t>(state= "</a:t>
            </a:r>
            <a:r>
              <a:rPr lang="en-US" altLang="zh-TW" sz="1800" dirty="0" err="1">
                <a:solidFill>
                  <a:srgbClr val="FF0000"/>
                </a:solidFill>
              </a:rPr>
              <a:t>readonly</a:t>
            </a:r>
            <a:r>
              <a:rPr lang="en-US" altLang="zh-TW" sz="1800" dirty="0">
                <a:solidFill>
                  <a:srgbClr val="FF0000"/>
                </a:solidFill>
              </a:rPr>
              <a:t>")#</a:t>
            </a:r>
            <a:r>
              <a:rPr lang="zh-TW" altLang="en-US" sz="1800" dirty="0">
                <a:solidFill>
                  <a:srgbClr val="FF0000"/>
                </a:solidFill>
              </a:rPr>
              <a:t>功能相同</a:t>
            </a:r>
            <a:endParaRPr lang="en-US" altLang="zh-TW" sz="1800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sz="1800" dirty="0" err="1"/>
              <a:t>root.mainloop</a:t>
            </a:r>
            <a:r>
              <a:rPr lang="en-US" altLang="zh-TW" sz="1800" dirty="0"/>
              <a:t>()</a:t>
            </a:r>
          </a:p>
          <a:p>
            <a:r>
              <a:rPr lang="zh-TW" altLang="en-US" dirty="0"/>
              <a:t>執行結果</a:t>
            </a:r>
            <a:r>
              <a:rPr lang="en-US" altLang="zh-TW" dirty="0"/>
              <a:t>: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11</a:t>
            </a:fld>
            <a:endParaRPr lang="zh-TW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5517232"/>
            <a:ext cx="1524000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1907704" y="5733256"/>
            <a:ext cx="1596008" cy="3364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" name="直線單箭頭接點 6"/>
          <p:cNvCxnSpPr>
            <a:stCxn id="5" idx="3"/>
          </p:cNvCxnSpPr>
          <p:nvPr/>
        </p:nvCxnSpPr>
        <p:spPr>
          <a:xfrm>
            <a:off x="3503712" y="5901469"/>
            <a:ext cx="780256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/>
          <p:cNvSpPr txBox="1"/>
          <p:nvPr/>
        </p:nvSpPr>
        <p:spPr>
          <a:xfrm>
            <a:off x="4499992" y="5793457"/>
            <a:ext cx="203132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dirty="0"/>
              <a:t>只能顯示不能輸入</a:t>
            </a:r>
          </a:p>
        </p:txBody>
      </p:sp>
    </p:spTree>
    <p:extLst>
      <p:ext uri="{BB962C8B-B14F-4D97-AF65-F5344CB8AC3E}">
        <p14:creationId xmlns:p14="http://schemas.microsoft.com/office/powerpoint/2010/main" val="1328366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設定</a:t>
            </a:r>
            <a:r>
              <a:rPr lang="en-US" altLang="zh-TW" dirty="0"/>
              <a:t>Entry</a:t>
            </a:r>
            <a:r>
              <a:rPr lang="zh-TW" altLang="en-US" dirty="0"/>
              <a:t>為密碼輸入框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/>
              <a:t>語法</a:t>
            </a:r>
            <a:r>
              <a:rPr lang="en-US" altLang="zh-TW" dirty="0"/>
              <a:t>1:</a:t>
            </a:r>
          </a:p>
          <a:p>
            <a:pPr marL="365760" lvl="1" indent="0">
              <a:buNone/>
            </a:pPr>
            <a:r>
              <a:rPr lang="en-US" altLang="zh-TW" dirty="0"/>
              <a:t>mask="*"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設定變數為指定字串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建立</a:t>
            </a:r>
            <a:r>
              <a:rPr lang="en-US" altLang="zh-TW" dirty="0">
                <a:solidFill>
                  <a:srgbClr val="FF0000"/>
                </a:solidFill>
              </a:rPr>
              <a:t>entry </a:t>
            </a:r>
          </a:p>
          <a:p>
            <a:pPr marL="365760" lvl="1" indent="0">
              <a:buNone/>
            </a:pPr>
            <a:r>
              <a:rPr lang="en-US" altLang="zh-TW" dirty="0"/>
              <a:t>entry = Entry(root)</a:t>
            </a:r>
          </a:p>
          <a:p>
            <a:pPr marL="365760" lvl="1" indent="0">
              <a:buNone/>
            </a:pPr>
            <a:r>
              <a:rPr lang="en-US" altLang="zh-TW" dirty="0" err="1"/>
              <a:t>entry.pack</a:t>
            </a:r>
            <a:r>
              <a:rPr lang="en-US" altLang="zh-TW" dirty="0"/>
              <a:t>()</a:t>
            </a:r>
          </a:p>
          <a:p>
            <a:pPr marL="36576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將輸入的顯示為 </a:t>
            </a:r>
            <a:r>
              <a:rPr lang="en-US" altLang="zh-TW" dirty="0">
                <a:solidFill>
                  <a:srgbClr val="FF0000"/>
                </a:solidFill>
              </a:rPr>
              <a:t>" </a:t>
            </a:r>
            <a:r>
              <a:rPr lang="zh-TW" altLang="en-US" dirty="0">
                <a:solidFill>
                  <a:srgbClr val="FF0000"/>
                </a:solidFill>
              </a:rPr>
              <a:t>*</a:t>
            </a:r>
            <a:r>
              <a:rPr lang="en-US" altLang="zh-TW" dirty="0">
                <a:solidFill>
                  <a:srgbClr val="FF0000"/>
                </a:solidFill>
              </a:rPr>
              <a:t> "</a:t>
            </a:r>
          </a:p>
          <a:p>
            <a:pPr marL="365760" lvl="1" indent="0">
              <a:buNone/>
            </a:pPr>
            <a:r>
              <a:rPr lang="en-US" altLang="zh-TW" dirty="0"/>
              <a:t>entry["show"] = mask</a:t>
            </a:r>
          </a:p>
          <a:p>
            <a:r>
              <a:rPr lang="zh-TW" altLang="en-US" dirty="0"/>
              <a:t>語法</a:t>
            </a:r>
            <a:r>
              <a:rPr lang="en-US" altLang="zh-TW" dirty="0"/>
              <a:t>2:</a:t>
            </a:r>
          </a:p>
          <a:p>
            <a:pPr marL="36576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設定為可顯示</a:t>
            </a:r>
            <a:r>
              <a:rPr lang="en-US" altLang="zh-TW" dirty="0">
                <a:solidFill>
                  <a:srgbClr val="FF0000"/>
                </a:solidFill>
              </a:rPr>
              <a:t>entry</a:t>
            </a:r>
            <a:r>
              <a:rPr lang="zh-TW" altLang="en-US" dirty="0">
                <a:solidFill>
                  <a:srgbClr val="FF0000"/>
                </a:solidFill>
              </a:rPr>
              <a:t>中的字串</a:t>
            </a:r>
            <a:endParaRPr lang="en-US" altLang="zh-TW" dirty="0">
              <a:solidFill>
                <a:srgbClr val="FF0000"/>
              </a:solidFill>
            </a:endParaRPr>
          </a:p>
          <a:p>
            <a:pPr marL="320040" lvl="2" indent="0">
              <a:buNone/>
            </a:pPr>
            <a:r>
              <a:rPr lang="en-US" altLang="zh-TW" dirty="0" err="1"/>
              <a:t>entry.config</a:t>
            </a:r>
            <a:r>
              <a:rPr lang="en-US" altLang="zh-TW" dirty="0"/>
              <a:t>(</a:t>
            </a:r>
            <a:r>
              <a:rPr lang="en-US" altLang="zh-TW"/>
              <a:t>show=“*");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1325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設定</a:t>
            </a:r>
            <a:r>
              <a:rPr lang="en-US" altLang="zh-TW" dirty="0"/>
              <a:t>Entry</a:t>
            </a:r>
            <a:r>
              <a:rPr lang="zh-TW" altLang="en-US" dirty="0"/>
              <a:t>為密碼輸入框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63040" y="2119256"/>
            <a:ext cx="6196405" cy="4478096"/>
          </a:xfrm>
        </p:spPr>
        <p:txBody>
          <a:bodyPr>
            <a:normAutofit fontScale="47500" lnSpcReduction="20000"/>
          </a:bodyPr>
          <a:lstStyle/>
          <a:p>
            <a:r>
              <a:rPr lang="zh-TW" altLang="en-US" sz="3800" dirty="0"/>
              <a:t>範例</a:t>
            </a:r>
            <a:r>
              <a:rPr lang="en-US" altLang="zh-TW" sz="3800" dirty="0"/>
              <a:t>:</a:t>
            </a:r>
          </a:p>
          <a:p>
            <a:pPr marL="365760" lvl="1" indent="0">
              <a:buNone/>
            </a:pPr>
            <a:r>
              <a:rPr lang="en-US" altLang="zh-TW" sz="2900" dirty="0"/>
              <a:t>from </a:t>
            </a:r>
            <a:r>
              <a:rPr lang="en-US" altLang="zh-TW" sz="2900" dirty="0" err="1"/>
              <a:t>tkinter</a:t>
            </a:r>
            <a:r>
              <a:rPr lang="en-US" altLang="zh-TW" sz="2900" dirty="0"/>
              <a:t> import *</a:t>
            </a:r>
            <a:r>
              <a:rPr lang="en-US" altLang="zh-TW" sz="2900" dirty="0">
                <a:solidFill>
                  <a:srgbClr val="FF0000"/>
                </a:solidFill>
              </a:rPr>
              <a:t>#</a:t>
            </a:r>
            <a:r>
              <a:rPr lang="zh-TW" altLang="en-US" sz="2900" dirty="0">
                <a:solidFill>
                  <a:srgbClr val="FF0000"/>
                </a:solidFill>
              </a:rPr>
              <a:t>載入函式庫</a:t>
            </a:r>
            <a:endParaRPr lang="en-US" altLang="zh-TW" sz="2900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sz="2900" dirty="0"/>
              <a:t>root = </a:t>
            </a:r>
            <a:r>
              <a:rPr lang="en-US" altLang="zh-TW" sz="2900" dirty="0" err="1"/>
              <a:t>Tk</a:t>
            </a:r>
            <a:r>
              <a:rPr lang="en-US" altLang="zh-TW" sz="2900" dirty="0"/>
              <a:t>()</a:t>
            </a:r>
            <a:r>
              <a:rPr lang="en-US" altLang="zh-TW" sz="2900" dirty="0">
                <a:solidFill>
                  <a:srgbClr val="FF0000"/>
                </a:solidFill>
              </a:rPr>
              <a:t>#</a:t>
            </a:r>
            <a:r>
              <a:rPr lang="zh-TW" altLang="en-US" sz="2900" dirty="0">
                <a:solidFill>
                  <a:srgbClr val="FF0000"/>
                </a:solidFill>
              </a:rPr>
              <a:t>建立視窗</a:t>
            </a:r>
            <a:endParaRPr lang="en-US" altLang="zh-TW" sz="2900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sz="2900" dirty="0"/>
              <a:t>e = </a:t>
            </a:r>
            <a:r>
              <a:rPr lang="en-US" altLang="zh-TW" sz="2900" dirty="0" err="1"/>
              <a:t>StringVar</a:t>
            </a:r>
            <a:r>
              <a:rPr lang="en-US" altLang="zh-TW" sz="2900" dirty="0"/>
              <a:t>()</a:t>
            </a:r>
            <a:r>
              <a:rPr lang="en-US" altLang="zh-TW" sz="2900" dirty="0">
                <a:solidFill>
                  <a:srgbClr val="FF0000"/>
                </a:solidFill>
              </a:rPr>
              <a:t> #</a:t>
            </a:r>
            <a:r>
              <a:rPr lang="zh-TW" altLang="en-US" sz="2900" dirty="0">
                <a:solidFill>
                  <a:srgbClr val="FF0000"/>
                </a:solidFill>
              </a:rPr>
              <a:t>變動文字變數</a:t>
            </a:r>
            <a:endParaRPr lang="en-US" altLang="zh-TW" sz="2900" dirty="0">
              <a:solidFill>
                <a:srgbClr val="FF0000"/>
              </a:solidFill>
            </a:endParaRPr>
          </a:p>
          <a:p>
            <a:pPr marL="274320" lvl="2" indent="0">
              <a:buNone/>
            </a:pPr>
            <a:r>
              <a:rPr lang="en-US" altLang="zh-TW" sz="2900" dirty="0">
                <a:solidFill>
                  <a:srgbClr val="FF0000"/>
                </a:solidFill>
              </a:rPr>
              <a:t>#text</a:t>
            </a:r>
            <a:r>
              <a:rPr lang="zh-TW" altLang="en-US" sz="2900" dirty="0">
                <a:solidFill>
                  <a:srgbClr val="FF0000"/>
                </a:solidFill>
              </a:rPr>
              <a:t>中的字串設為變動文字變數</a:t>
            </a:r>
            <a:r>
              <a:rPr lang="en-US" altLang="zh-TW" sz="2900" dirty="0">
                <a:solidFill>
                  <a:srgbClr val="FF0000"/>
                </a:solidFill>
              </a:rPr>
              <a:t>(e)</a:t>
            </a:r>
            <a:endParaRPr lang="en-US" altLang="zh-TW" sz="2900" dirty="0"/>
          </a:p>
          <a:p>
            <a:pPr marL="365760" lvl="1" indent="0">
              <a:buNone/>
            </a:pPr>
            <a:r>
              <a:rPr lang="en-US" altLang="zh-TW" sz="2900" dirty="0"/>
              <a:t>entry = Entry(</a:t>
            </a:r>
            <a:r>
              <a:rPr lang="en-US" altLang="zh-TW" sz="2900" dirty="0" err="1"/>
              <a:t>root,textvariable</a:t>
            </a:r>
            <a:r>
              <a:rPr lang="en-US" altLang="zh-TW" sz="2900" dirty="0"/>
              <a:t> = e)</a:t>
            </a:r>
          </a:p>
          <a:p>
            <a:pPr marL="365760" lvl="1" indent="0">
              <a:buNone/>
            </a:pPr>
            <a:r>
              <a:rPr lang="en-US" altLang="zh-TW" sz="2900" dirty="0">
                <a:solidFill>
                  <a:srgbClr val="FF0000"/>
                </a:solidFill>
              </a:rPr>
              <a:t>#</a:t>
            </a:r>
            <a:r>
              <a:rPr lang="zh-TW" altLang="en-US" sz="2900" dirty="0">
                <a:solidFill>
                  <a:srgbClr val="FF0000"/>
                </a:solidFill>
              </a:rPr>
              <a:t>設定變動文字變數為指定字串</a:t>
            </a:r>
            <a:endParaRPr lang="en-US" altLang="zh-TW" sz="2900" dirty="0"/>
          </a:p>
          <a:p>
            <a:pPr marL="365760" lvl="1" indent="0">
              <a:buNone/>
            </a:pPr>
            <a:r>
              <a:rPr lang="en-US" altLang="zh-TW" sz="2900" dirty="0" err="1"/>
              <a:t>e.set</a:t>
            </a:r>
            <a:r>
              <a:rPr lang="en-US" altLang="zh-TW" sz="2900" dirty="0"/>
              <a:t>("input your text here")</a:t>
            </a:r>
          </a:p>
          <a:p>
            <a:pPr marL="365760" lvl="1" indent="0">
              <a:buNone/>
            </a:pPr>
            <a:r>
              <a:rPr lang="en-US" altLang="zh-TW" sz="2900" dirty="0" err="1"/>
              <a:t>entry.pack</a:t>
            </a:r>
            <a:r>
              <a:rPr lang="en-US" altLang="zh-TW" sz="2900" dirty="0"/>
              <a:t>()</a:t>
            </a:r>
          </a:p>
          <a:p>
            <a:pPr marL="365760" lvl="1" indent="0">
              <a:buNone/>
            </a:pPr>
            <a:r>
              <a:rPr lang="en-US" altLang="zh-TW" sz="2900" dirty="0">
                <a:solidFill>
                  <a:srgbClr val="FF0000"/>
                </a:solidFill>
              </a:rPr>
              <a:t>#</a:t>
            </a:r>
            <a:r>
              <a:rPr lang="zh-TW" altLang="en-US" sz="2900" dirty="0">
                <a:solidFill>
                  <a:srgbClr val="FF0000"/>
                </a:solidFill>
              </a:rPr>
              <a:t>將</a:t>
            </a:r>
            <a:r>
              <a:rPr lang="en-US" altLang="zh-TW" sz="2900" dirty="0">
                <a:solidFill>
                  <a:srgbClr val="FF0000"/>
                </a:solidFill>
              </a:rPr>
              <a:t>entry</a:t>
            </a:r>
            <a:r>
              <a:rPr lang="zh-TW" altLang="en-US" sz="2900" dirty="0">
                <a:solidFill>
                  <a:srgbClr val="FF0000"/>
                </a:solidFill>
              </a:rPr>
              <a:t>中字串分別設定為指定字元</a:t>
            </a:r>
            <a:endParaRPr lang="en-US" altLang="zh-TW" sz="2900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sz="2900" dirty="0"/>
              <a:t>entry["show"] = "*"</a:t>
            </a:r>
          </a:p>
          <a:p>
            <a:pPr marL="365760" lvl="1" indent="0">
              <a:buNone/>
            </a:pPr>
            <a:r>
              <a:rPr lang="en-US" altLang="zh-TW" sz="2900" dirty="0">
                <a:solidFill>
                  <a:srgbClr val="FF0000"/>
                </a:solidFill>
              </a:rPr>
              <a:t>#</a:t>
            </a:r>
            <a:r>
              <a:rPr lang="zh-TW" altLang="en-US" sz="2900" dirty="0">
                <a:solidFill>
                  <a:srgbClr val="FF0000"/>
                </a:solidFill>
              </a:rPr>
              <a:t>也可以透過迴圈做多筆顯示</a:t>
            </a:r>
            <a:endParaRPr lang="en-US" altLang="zh-TW" sz="2900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sz="2900" dirty="0">
                <a:solidFill>
                  <a:srgbClr val="FF0000"/>
                </a:solidFill>
              </a:rPr>
              <a:t>#</a:t>
            </a:r>
            <a:r>
              <a:rPr lang="zh-TW" altLang="en-US" sz="2900" dirty="0">
                <a:solidFill>
                  <a:srgbClr val="FF0000"/>
                </a:solidFill>
              </a:rPr>
              <a:t>分別將字串顯示為</a:t>
            </a:r>
            <a:r>
              <a:rPr lang="en-US" altLang="zh-TW" sz="2900" dirty="0">
                <a:solidFill>
                  <a:srgbClr val="FF0000"/>
                </a:solidFill>
              </a:rPr>
              <a:t>"*", "#", "$"</a:t>
            </a:r>
          </a:p>
          <a:p>
            <a:pPr marL="365760" lvl="1" indent="0">
              <a:buNone/>
            </a:pPr>
            <a:r>
              <a:rPr lang="en-US" altLang="zh-TW" sz="2900" dirty="0"/>
              <a:t>for mask in ["*", "#", "$"]:</a:t>
            </a:r>
          </a:p>
          <a:p>
            <a:pPr marL="365760" lvl="1" indent="0">
              <a:buNone/>
            </a:pPr>
            <a:r>
              <a:rPr lang="en-US" altLang="zh-TW" sz="2900" dirty="0"/>
              <a:t>    entry = Entry(</a:t>
            </a:r>
            <a:r>
              <a:rPr lang="en-US" altLang="zh-TW" sz="2900" dirty="0" err="1"/>
              <a:t>root,textvariable</a:t>
            </a:r>
            <a:r>
              <a:rPr lang="en-US" altLang="zh-TW" sz="2900" dirty="0"/>
              <a:t> = e)</a:t>
            </a:r>
          </a:p>
          <a:p>
            <a:pPr marL="365760" lvl="1" indent="0">
              <a:buNone/>
            </a:pPr>
            <a:r>
              <a:rPr lang="en-US" altLang="zh-TW" sz="2900" dirty="0"/>
              <a:t>    </a:t>
            </a:r>
            <a:r>
              <a:rPr lang="en-US" altLang="zh-TW" sz="2900" dirty="0" err="1"/>
              <a:t>e.set</a:t>
            </a:r>
            <a:r>
              <a:rPr lang="en-US" altLang="zh-TW" sz="2900" dirty="0"/>
              <a:t>("password")</a:t>
            </a:r>
          </a:p>
          <a:p>
            <a:pPr marL="365760" lvl="1" indent="0">
              <a:buNone/>
            </a:pPr>
            <a:r>
              <a:rPr lang="en-US" altLang="zh-TW" sz="2900" dirty="0"/>
              <a:t>    </a:t>
            </a:r>
            <a:r>
              <a:rPr lang="en-US" altLang="zh-TW" sz="2900" dirty="0" err="1"/>
              <a:t>entry.pack</a:t>
            </a:r>
            <a:r>
              <a:rPr lang="en-US" altLang="zh-TW" sz="2900" dirty="0"/>
              <a:t>()</a:t>
            </a:r>
          </a:p>
          <a:p>
            <a:pPr marL="365760" lvl="1" indent="0">
              <a:buNone/>
            </a:pPr>
            <a:r>
              <a:rPr lang="en-US" altLang="zh-TW" sz="2900" dirty="0"/>
              <a:t>    entry["show"] = mask</a:t>
            </a:r>
          </a:p>
          <a:p>
            <a:pPr marL="365760" lvl="1" indent="0">
              <a:buNone/>
            </a:pPr>
            <a:r>
              <a:rPr lang="en-US" altLang="zh-TW" sz="2900" dirty="0" err="1"/>
              <a:t>root.mainloop</a:t>
            </a:r>
            <a:r>
              <a:rPr lang="en-US" altLang="zh-TW" sz="2900" dirty="0"/>
              <a:t>()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2780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設定</a:t>
            </a:r>
            <a:r>
              <a:rPr lang="en-US" altLang="zh-TW" dirty="0"/>
              <a:t>Entry</a:t>
            </a:r>
            <a:r>
              <a:rPr lang="zh-TW" altLang="en-US" dirty="0"/>
              <a:t>為密碼輸入框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執行結果</a:t>
            </a:r>
            <a:r>
              <a:rPr lang="en-US" altLang="zh-TW" dirty="0"/>
              <a:t>: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14</a:t>
            </a:fld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3068960"/>
            <a:ext cx="1524000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56754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驗證</a:t>
            </a:r>
            <a:r>
              <a:rPr lang="en-US" altLang="zh-TW" dirty="0"/>
              <a:t>Entry</a:t>
            </a:r>
            <a:r>
              <a:rPr lang="zh-TW" altLang="en-US" dirty="0"/>
              <a:t>中的內容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63040" y="2119256"/>
            <a:ext cx="6196405" cy="4406088"/>
          </a:xfrm>
        </p:spPr>
        <p:txBody>
          <a:bodyPr>
            <a:noAutofit/>
          </a:bodyPr>
          <a:lstStyle/>
          <a:p>
            <a:r>
              <a:rPr lang="zh-TW" altLang="en-US" sz="1800" dirty="0"/>
              <a:t>範例</a:t>
            </a:r>
            <a:r>
              <a:rPr lang="en-US" altLang="zh-TW" sz="1800" dirty="0"/>
              <a:t>:</a:t>
            </a:r>
          </a:p>
          <a:p>
            <a:pPr marL="365760" lvl="1" indent="0">
              <a:buNone/>
            </a:pPr>
            <a:r>
              <a:rPr lang="en-US" altLang="zh-TW" sz="900" dirty="0"/>
              <a:t>from </a:t>
            </a:r>
            <a:r>
              <a:rPr lang="en-US" altLang="zh-TW" sz="900" dirty="0" err="1"/>
              <a:t>tkinter</a:t>
            </a:r>
            <a:r>
              <a:rPr lang="en-US" altLang="zh-TW" sz="900" dirty="0"/>
              <a:t> import *</a:t>
            </a:r>
            <a:r>
              <a:rPr lang="en-US" altLang="zh-TW" sz="900" dirty="0">
                <a:solidFill>
                  <a:srgbClr val="FF0000"/>
                </a:solidFill>
              </a:rPr>
              <a:t>#</a:t>
            </a:r>
            <a:r>
              <a:rPr lang="zh-TW" altLang="en-US" sz="900" dirty="0">
                <a:solidFill>
                  <a:srgbClr val="FF0000"/>
                </a:solidFill>
              </a:rPr>
              <a:t>載入函式庫</a:t>
            </a:r>
            <a:endParaRPr lang="en-US" altLang="zh-TW" sz="900" dirty="0"/>
          </a:p>
          <a:p>
            <a:pPr marL="365760" lvl="1" indent="0">
              <a:buNone/>
            </a:pPr>
            <a:r>
              <a:rPr lang="en-US" altLang="zh-TW" sz="900" dirty="0"/>
              <a:t>root = </a:t>
            </a:r>
            <a:r>
              <a:rPr lang="en-US" altLang="zh-TW" sz="900" dirty="0" err="1"/>
              <a:t>Tk</a:t>
            </a:r>
            <a:r>
              <a:rPr lang="en-US" altLang="zh-TW" sz="900" dirty="0"/>
              <a:t>()</a:t>
            </a:r>
            <a:r>
              <a:rPr lang="en-US" altLang="zh-TW" sz="900" dirty="0">
                <a:solidFill>
                  <a:srgbClr val="FF0000"/>
                </a:solidFill>
              </a:rPr>
              <a:t> #</a:t>
            </a:r>
            <a:r>
              <a:rPr lang="zh-TW" altLang="en-US" sz="900" dirty="0">
                <a:solidFill>
                  <a:srgbClr val="FF0000"/>
                </a:solidFill>
              </a:rPr>
              <a:t>建立視窗</a:t>
            </a:r>
            <a:endParaRPr lang="en-US" altLang="zh-TW" sz="900" dirty="0"/>
          </a:p>
          <a:p>
            <a:pPr marL="365760" lvl="1" indent="0">
              <a:buNone/>
            </a:pPr>
            <a:r>
              <a:rPr lang="en-US" altLang="zh-TW" sz="900" dirty="0"/>
              <a:t>e = </a:t>
            </a:r>
            <a:r>
              <a:rPr lang="en-US" altLang="zh-TW" sz="900" dirty="0" err="1"/>
              <a:t>StringVar</a:t>
            </a:r>
            <a:r>
              <a:rPr lang="en-US" altLang="zh-TW" sz="900" dirty="0"/>
              <a:t>()</a:t>
            </a:r>
            <a:r>
              <a:rPr lang="en-US" altLang="zh-TW" sz="900" dirty="0">
                <a:solidFill>
                  <a:srgbClr val="FF0000"/>
                </a:solidFill>
              </a:rPr>
              <a:t> #</a:t>
            </a:r>
            <a:r>
              <a:rPr lang="zh-TW" altLang="en-US" sz="900" dirty="0">
                <a:solidFill>
                  <a:srgbClr val="FF0000"/>
                </a:solidFill>
              </a:rPr>
              <a:t>變動文字變數</a:t>
            </a:r>
            <a:endParaRPr lang="en-US" altLang="zh-TW" sz="900" dirty="0"/>
          </a:p>
          <a:p>
            <a:pPr marL="365760" lvl="1" indent="0">
              <a:buNone/>
            </a:pPr>
            <a:r>
              <a:rPr lang="en-US" altLang="zh-TW" sz="900" dirty="0"/>
              <a:t>password="KUAS"</a:t>
            </a:r>
            <a:r>
              <a:rPr lang="en-US" altLang="zh-TW" sz="900" dirty="0">
                <a:solidFill>
                  <a:srgbClr val="FF0000"/>
                </a:solidFill>
              </a:rPr>
              <a:t>#</a:t>
            </a:r>
            <a:r>
              <a:rPr lang="zh-TW" altLang="en-US" sz="900" dirty="0">
                <a:solidFill>
                  <a:srgbClr val="FF0000"/>
                </a:solidFill>
              </a:rPr>
              <a:t>將密碼預設為</a:t>
            </a:r>
            <a:r>
              <a:rPr lang="en-US" altLang="zh-TW" sz="900" dirty="0">
                <a:solidFill>
                  <a:srgbClr val="FF0000"/>
                </a:solidFill>
              </a:rPr>
              <a:t>KUAS</a:t>
            </a:r>
          </a:p>
          <a:p>
            <a:pPr marL="365760" lvl="1" indent="0">
              <a:buNone/>
            </a:pPr>
            <a:r>
              <a:rPr lang="en-US" altLang="zh-TW" sz="900" dirty="0">
                <a:solidFill>
                  <a:srgbClr val="FF0000"/>
                </a:solidFill>
              </a:rPr>
              <a:t>#</a:t>
            </a:r>
            <a:r>
              <a:rPr lang="zh-TW" altLang="en-US" sz="900" dirty="0">
                <a:solidFill>
                  <a:srgbClr val="FF0000"/>
                </a:solidFill>
              </a:rPr>
              <a:t>自行定義的函式</a:t>
            </a:r>
            <a:endParaRPr lang="en-US" altLang="zh-TW" sz="900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sz="900" dirty="0" err="1"/>
              <a:t>def</a:t>
            </a:r>
            <a:r>
              <a:rPr lang="en-US" altLang="zh-TW" sz="900" dirty="0"/>
              <a:t> </a:t>
            </a:r>
            <a:r>
              <a:rPr lang="en-US" altLang="zh-TW" sz="900" dirty="0" err="1"/>
              <a:t>validateText</a:t>
            </a:r>
            <a:r>
              <a:rPr lang="en-US" altLang="zh-TW" sz="900" dirty="0"/>
              <a:t>():</a:t>
            </a:r>
          </a:p>
          <a:p>
            <a:pPr marL="365760" lvl="1" indent="0">
              <a:buNone/>
            </a:pPr>
            <a:r>
              <a:rPr lang="en-US" altLang="zh-TW" sz="900" dirty="0">
                <a:solidFill>
                  <a:srgbClr val="FF0000"/>
                </a:solidFill>
              </a:rPr>
              <a:t>#</a:t>
            </a:r>
            <a:r>
              <a:rPr lang="zh-TW" altLang="en-US" sz="900" dirty="0">
                <a:solidFill>
                  <a:srgbClr val="FF0000"/>
                </a:solidFill>
              </a:rPr>
              <a:t>如果字串相等顯示密碼正確</a:t>
            </a:r>
            <a:endParaRPr lang="en-US" altLang="zh-TW" sz="900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sz="900" dirty="0"/>
              <a:t>  if(password==</a:t>
            </a:r>
            <a:r>
              <a:rPr lang="en-US" altLang="zh-TW" sz="900" dirty="0" err="1"/>
              <a:t>entry.get</a:t>
            </a:r>
            <a:r>
              <a:rPr lang="en-US" altLang="zh-TW" sz="900" dirty="0"/>
              <a:t>()):</a:t>
            </a:r>
          </a:p>
          <a:p>
            <a:pPr marL="365760" lvl="1" indent="0">
              <a:buNone/>
            </a:pPr>
            <a:r>
              <a:rPr lang="en-US" altLang="zh-TW" sz="900" dirty="0"/>
              <a:t>    print("</a:t>
            </a:r>
            <a:r>
              <a:rPr lang="zh-TW" altLang="en-US" sz="900" dirty="0"/>
              <a:t>密碼正確</a:t>
            </a:r>
            <a:r>
              <a:rPr lang="en-US" altLang="zh-TW" sz="900" dirty="0"/>
              <a:t>")</a:t>
            </a:r>
          </a:p>
          <a:p>
            <a:pPr marL="365760" lvl="1" indent="0">
              <a:buNone/>
            </a:pPr>
            <a:r>
              <a:rPr lang="en-US" altLang="zh-TW" sz="900" dirty="0">
                <a:solidFill>
                  <a:srgbClr val="FF0000"/>
                </a:solidFill>
              </a:rPr>
              <a:t>#</a:t>
            </a:r>
            <a:r>
              <a:rPr lang="zh-TW" altLang="en-US" sz="900" dirty="0">
                <a:solidFill>
                  <a:srgbClr val="FF0000"/>
                </a:solidFill>
              </a:rPr>
              <a:t>如果字串不相等顯示密碼錯誤</a:t>
            </a:r>
            <a:endParaRPr lang="en-US" altLang="zh-TW" sz="900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sz="900" dirty="0"/>
              <a:t>  else:</a:t>
            </a:r>
          </a:p>
          <a:p>
            <a:pPr marL="365760" lvl="1" indent="0">
              <a:buNone/>
            </a:pPr>
            <a:r>
              <a:rPr lang="en-US" altLang="zh-TW" sz="900" dirty="0"/>
              <a:t>    print("</a:t>
            </a:r>
            <a:r>
              <a:rPr lang="zh-TW" altLang="en-US" sz="900" dirty="0"/>
              <a:t>密碼錯誤</a:t>
            </a:r>
            <a:r>
              <a:rPr lang="en-US" altLang="zh-TW" sz="900" dirty="0"/>
              <a:t>")</a:t>
            </a:r>
          </a:p>
          <a:p>
            <a:pPr marL="365760" lvl="1" indent="0">
              <a:buNone/>
            </a:pPr>
            <a:r>
              <a:rPr lang="en-US" altLang="zh-TW" sz="900" dirty="0">
                <a:solidFill>
                  <a:srgbClr val="FF0000"/>
                </a:solidFill>
              </a:rPr>
              <a:t>#</a:t>
            </a:r>
            <a:r>
              <a:rPr lang="zh-TW" altLang="en-US" sz="900" dirty="0">
                <a:solidFill>
                  <a:srgbClr val="FF0000"/>
                </a:solidFill>
              </a:rPr>
              <a:t>建立</a:t>
            </a:r>
            <a:r>
              <a:rPr lang="en-US" altLang="zh-TW" sz="900" dirty="0">
                <a:solidFill>
                  <a:srgbClr val="FF0000"/>
                </a:solidFill>
              </a:rPr>
              <a:t>Button</a:t>
            </a:r>
          </a:p>
          <a:p>
            <a:pPr marL="365760" lvl="1" indent="0">
              <a:buNone/>
            </a:pPr>
            <a:r>
              <a:rPr lang="en-US" altLang="zh-TW" sz="900" dirty="0"/>
              <a:t>Button(root,</a:t>
            </a:r>
          </a:p>
          <a:p>
            <a:pPr marL="365760" lvl="1" indent="0">
              <a:buNone/>
            </a:pPr>
            <a:r>
              <a:rPr lang="en-US" altLang="zh-TW" sz="900" dirty="0"/>
              <a:t>text = "</a:t>
            </a:r>
            <a:r>
              <a:rPr lang="zh-TW" altLang="en-US" sz="900" dirty="0"/>
              <a:t>確認</a:t>
            </a:r>
            <a:r>
              <a:rPr lang="en-US" altLang="zh-TW" sz="900" dirty="0"/>
              <a:t>",</a:t>
            </a:r>
          </a:p>
          <a:p>
            <a:pPr marL="365760" lvl="1" indent="0">
              <a:buNone/>
            </a:pPr>
            <a:r>
              <a:rPr lang="en-US" altLang="zh-TW" sz="900" dirty="0"/>
              <a:t>command = </a:t>
            </a:r>
            <a:r>
              <a:rPr lang="en-US" altLang="zh-TW" sz="900" dirty="0" err="1"/>
              <a:t>validateText</a:t>
            </a:r>
            <a:endParaRPr lang="en-US" altLang="zh-TW" sz="900" dirty="0"/>
          </a:p>
          <a:p>
            <a:pPr marL="365760" lvl="1" indent="0">
              <a:buNone/>
            </a:pPr>
            <a:r>
              <a:rPr lang="en-US" altLang="zh-TW" sz="900" dirty="0"/>
              <a:t>).pack()</a:t>
            </a:r>
          </a:p>
          <a:p>
            <a:pPr marL="365760" lvl="1" indent="0">
              <a:buNone/>
            </a:pPr>
            <a:r>
              <a:rPr lang="en-US" altLang="zh-TW" sz="900" dirty="0">
                <a:solidFill>
                  <a:srgbClr val="FF0000"/>
                </a:solidFill>
              </a:rPr>
              <a:t>#</a:t>
            </a:r>
            <a:r>
              <a:rPr lang="zh-TW" altLang="en-US" sz="900" dirty="0">
                <a:solidFill>
                  <a:srgbClr val="FF0000"/>
                </a:solidFill>
              </a:rPr>
              <a:t>建立</a:t>
            </a:r>
            <a:r>
              <a:rPr lang="en-US" altLang="zh-TW" sz="900" dirty="0">
                <a:solidFill>
                  <a:srgbClr val="FF0000"/>
                </a:solidFill>
              </a:rPr>
              <a:t>Entry</a:t>
            </a:r>
          </a:p>
          <a:p>
            <a:pPr marL="365760" lvl="1" indent="0">
              <a:buNone/>
            </a:pPr>
            <a:r>
              <a:rPr lang="en-US" altLang="zh-TW" sz="900" dirty="0"/>
              <a:t>entry = Entry(root,</a:t>
            </a:r>
          </a:p>
          <a:p>
            <a:pPr marL="365760" lvl="1" indent="0">
              <a:buNone/>
            </a:pPr>
            <a:r>
              <a:rPr lang="en-US" altLang="zh-TW" sz="900" dirty="0" err="1"/>
              <a:t>textvariable</a:t>
            </a:r>
            <a:r>
              <a:rPr lang="en-US" altLang="zh-TW" sz="900" dirty="0"/>
              <a:t> = e)</a:t>
            </a:r>
          </a:p>
          <a:p>
            <a:pPr marL="365760" lvl="1" indent="0">
              <a:buNone/>
            </a:pPr>
            <a:r>
              <a:rPr lang="en-US" altLang="zh-TW" sz="900" dirty="0" err="1"/>
              <a:t>entry.pack</a:t>
            </a:r>
            <a:r>
              <a:rPr lang="en-US" altLang="zh-TW" sz="900" dirty="0"/>
              <a:t>()</a:t>
            </a:r>
          </a:p>
          <a:p>
            <a:pPr marL="365760" lvl="1" indent="0">
              <a:buNone/>
            </a:pPr>
            <a:r>
              <a:rPr lang="en-US" altLang="zh-TW" sz="900" dirty="0" err="1"/>
              <a:t>root.mainloop</a:t>
            </a:r>
            <a:r>
              <a:rPr lang="en-US" altLang="zh-TW" sz="900" dirty="0"/>
              <a:t>()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7829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2310" y="3179650"/>
            <a:ext cx="1524000" cy="81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驗證</a:t>
            </a:r>
            <a:r>
              <a:rPr lang="en-US" altLang="zh-TW" dirty="0"/>
              <a:t>Entry</a:t>
            </a:r>
            <a:r>
              <a:rPr lang="zh-TW" altLang="en-US" dirty="0"/>
              <a:t>中的內容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執行結果</a:t>
            </a:r>
            <a:r>
              <a:rPr lang="en-US" altLang="zh-TW" dirty="0"/>
              <a:t>:</a:t>
            </a:r>
          </a:p>
          <a:p>
            <a:pPr lvl="1">
              <a:buFont typeface="Wingdings" pitchFamily="2" charset="2"/>
              <a:buChar char="l"/>
            </a:pPr>
            <a:r>
              <a:rPr lang="zh-TW" altLang="en-US" dirty="0"/>
              <a:t>輸入</a:t>
            </a:r>
            <a:r>
              <a:rPr lang="en-US" altLang="zh-TW" dirty="0"/>
              <a:t>KUAS_EC: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pPr lvl="1">
              <a:buFont typeface="Wingdings" pitchFamily="2" charset="2"/>
              <a:buChar char="l"/>
            </a:pPr>
            <a:r>
              <a:rPr lang="zh-TW" altLang="en-US" dirty="0"/>
              <a:t>輸入</a:t>
            </a:r>
            <a:r>
              <a:rPr lang="en-US" altLang="zh-TW" dirty="0"/>
              <a:t>KUAS: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16</a:t>
            </a:fld>
            <a:endParaRPr lang="zh-TW" alt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9" t="89058" r="87664" b="3463"/>
          <a:stretch/>
        </p:blipFill>
        <p:spPr bwMode="auto">
          <a:xfrm>
            <a:off x="4958506" y="3421012"/>
            <a:ext cx="695326" cy="514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9" t="88920" r="86642" b="5540"/>
          <a:stretch/>
        </p:blipFill>
        <p:spPr bwMode="auto">
          <a:xfrm>
            <a:off x="4958506" y="5357772"/>
            <a:ext cx="762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矩形 11"/>
          <p:cNvSpPr/>
          <p:nvPr/>
        </p:nvSpPr>
        <p:spPr>
          <a:xfrm>
            <a:off x="2973177" y="3421012"/>
            <a:ext cx="648072" cy="3364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" name="直線單箭頭接點 12"/>
          <p:cNvCxnSpPr/>
          <p:nvPr/>
        </p:nvCxnSpPr>
        <p:spPr>
          <a:xfrm>
            <a:off x="3693257" y="3589225"/>
            <a:ext cx="1012926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5213" y="5123259"/>
            <a:ext cx="1524000" cy="81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矩形 16"/>
          <p:cNvSpPr/>
          <p:nvPr/>
        </p:nvSpPr>
        <p:spPr>
          <a:xfrm>
            <a:off x="2984723" y="5342334"/>
            <a:ext cx="648072" cy="3364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8" name="直線單箭頭接點 17"/>
          <p:cNvCxnSpPr/>
          <p:nvPr/>
        </p:nvCxnSpPr>
        <p:spPr>
          <a:xfrm>
            <a:off x="3704803" y="5510547"/>
            <a:ext cx="1012926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5239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Entry</a:t>
            </a:r>
            <a:r>
              <a:rPr lang="zh-TW" altLang="en-US" dirty="0"/>
              <a:t>組件通常應用於單行顯示，如果需要多行的顯示，需要使用</a:t>
            </a:r>
            <a:r>
              <a:rPr lang="en-US" altLang="zh-TW" dirty="0"/>
              <a:t>Text</a:t>
            </a:r>
            <a:r>
              <a:rPr lang="zh-TW" altLang="en-US" dirty="0"/>
              <a:t>組件來顯示資料內容。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4942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Text</a:t>
            </a:r>
            <a:r>
              <a:rPr lang="zh-TW" altLang="en-US" dirty="0"/>
              <a:t>組件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1400" dirty="0"/>
              <a:t>語法</a:t>
            </a:r>
            <a:r>
              <a:rPr lang="en-US" altLang="zh-TW" sz="1400" dirty="0"/>
              <a:t>:</a:t>
            </a:r>
          </a:p>
          <a:p>
            <a:pPr marL="320040" lvl="2" indent="0">
              <a:buNone/>
            </a:pPr>
            <a:r>
              <a:rPr lang="en-US" altLang="zh-TW" sz="1200" dirty="0"/>
              <a:t>t = Text(root)</a:t>
            </a:r>
          </a:p>
          <a:p>
            <a:pPr marL="320040" lvl="2" indent="0">
              <a:buNone/>
            </a:pPr>
            <a:r>
              <a:rPr lang="en-US" altLang="zh-TW" sz="1200" dirty="0"/>
              <a:t>for i in range(10):</a:t>
            </a:r>
          </a:p>
          <a:p>
            <a:pPr marL="685800" lvl="3" indent="0">
              <a:buNone/>
            </a:pPr>
            <a:r>
              <a:rPr lang="en-US" altLang="zh-TW" sz="1000" dirty="0">
                <a:solidFill>
                  <a:srgbClr val="FF0000"/>
                </a:solidFill>
              </a:rPr>
              <a:t># "1.0"</a:t>
            </a:r>
            <a:r>
              <a:rPr lang="zh-TW" altLang="en-US" sz="1000" dirty="0">
                <a:solidFill>
                  <a:srgbClr val="FF0000"/>
                </a:solidFill>
              </a:rPr>
              <a:t>為要插入的位置</a:t>
            </a:r>
            <a:endParaRPr lang="en-US" altLang="zh-TW" sz="1000" dirty="0">
              <a:solidFill>
                <a:srgbClr val="FF0000"/>
              </a:solidFill>
            </a:endParaRPr>
          </a:p>
          <a:p>
            <a:pPr marL="685800" lvl="3" indent="0">
              <a:buNone/>
            </a:pPr>
            <a:r>
              <a:rPr lang="en-US" altLang="zh-TW" sz="1000" dirty="0"/>
              <a:t> </a:t>
            </a:r>
            <a:r>
              <a:rPr lang="en-US" altLang="zh-TW" sz="1000" dirty="0" err="1"/>
              <a:t>t.insert</a:t>
            </a:r>
            <a:r>
              <a:rPr lang="en-US" altLang="zh-TW" sz="1000" dirty="0"/>
              <a:t>(</a:t>
            </a:r>
            <a:r>
              <a:rPr lang="en-US" altLang="zh-TW" sz="1000" dirty="0">
                <a:solidFill>
                  <a:srgbClr val="00B050"/>
                </a:solidFill>
              </a:rPr>
              <a:t>"1.0"</a:t>
            </a:r>
            <a:r>
              <a:rPr lang="en-US" altLang="zh-TW" sz="1000" dirty="0"/>
              <a:t>,str(i)+</a:t>
            </a:r>
            <a:r>
              <a:rPr lang="en-US" altLang="zh-TW" sz="1000" dirty="0" err="1"/>
              <a:t>str</a:t>
            </a:r>
            <a:r>
              <a:rPr lang="en-US" altLang="zh-TW" sz="1000" dirty="0"/>
              <a:t>(i)+'\n') </a:t>
            </a:r>
            <a:r>
              <a:rPr lang="zh-TW" altLang="en-US" sz="1000" dirty="0"/>
              <a:t> </a:t>
            </a:r>
            <a:r>
              <a:rPr lang="en-US" altLang="zh-TW" sz="1000" dirty="0">
                <a:solidFill>
                  <a:srgbClr val="FF0000"/>
                </a:solidFill>
              </a:rPr>
              <a:t>#</a:t>
            </a:r>
            <a:r>
              <a:rPr lang="zh-TW" altLang="en-US" sz="1000" dirty="0">
                <a:solidFill>
                  <a:srgbClr val="FF0000"/>
                </a:solidFill>
              </a:rPr>
              <a:t>一直從第一列插入新的字串</a:t>
            </a:r>
            <a:endParaRPr lang="en-US" altLang="zh-TW" sz="1200" dirty="0">
              <a:solidFill>
                <a:srgbClr val="FF0000"/>
              </a:solidFill>
            </a:endParaRPr>
          </a:p>
          <a:p>
            <a:pPr marL="320040" lvl="2" indent="0">
              <a:buNone/>
            </a:pPr>
            <a:r>
              <a:rPr lang="en-US" altLang="zh-TW" sz="1200" dirty="0" err="1"/>
              <a:t>t.pack</a:t>
            </a:r>
            <a:r>
              <a:rPr lang="en-US" altLang="zh-TW" sz="1200" dirty="0"/>
              <a:t>()</a:t>
            </a:r>
            <a:r>
              <a:rPr lang="zh-TW" altLang="en-US" sz="1200" dirty="0"/>
              <a:t> </a:t>
            </a:r>
            <a:r>
              <a:rPr lang="en-US" altLang="zh-TW" sz="1200" dirty="0">
                <a:solidFill>
                  <a:srgbClr val="FF0000"/>
                </a:solidFill>
              </a:rPr>
              <a:t>#</a:t>
            </a:r>
            <a:r>
              <a:rPr lang="zh-TW" altLang="en-US" sz="1200" dirty="0">
                <a:solidFill>
                  <a:srgbClr val="FF0000"/>
                </a:solidFill>
              </a:rPr>
              <a:t>建立</a:t>
            </a:r>
            <a:r>
              <a:rPr lang="en-US" altLang="zh-TW" sz="1200" dirty="0">
                <a:solidFill>
                  <a:srgbClr val="FF0000"/>
                </a:solidFill>
              </a:rPr>
              <a:t>Text</a:t>
            </a:r>
          </a:p>
          <a:p>
            <a:pPr marL="320040" lvl="2" indent="0">
              <a:buNone/>
            </a:pPr>
            <a:r>
              <a:rPr lang="en-US" altLang="zh-TW" sz="1200" dirty="0"/>
              <a:t>print(</a:t>
            </a:r>
            <a:r>
              <a:rPr lang="en-US" altLang="zh-TW" sz="1200" dirty="0" err="1"/>
              <a:t>t.get</a:t>
            </a:r>
            <a:r>
              <a:rPr lang="en-US" altLang="zh-TW" sz="1200" dirty="0"/>
              <a:t>(</a:t>
            </a:r>
            <a:r>
              <a:rPr lang="en-US" altLang="zh-TW" sz="1200" dirty="0">
                <a:solidFill>
                  <a:srgbClr val="00B050"/>
                </a:solidFill>
              </a:rPr>
              <a:t>"1.0",END</a:t>
            </a:r>
            <a:r>
              <a:rPr lang="en-US" altLang="zh-TW" sz="1200" dirty="0"/>
              <a:t>))</a:t>
            </a:r>
            <a:r>
              <a:rPr lang="zh-TW" altLang="en-US" sz="1200" dirty="0"/>
              <a:t> </a:t>
            </a:r>
            <a:r>
              <a:rPr lang="en-US" altLang="zh-TW" sz="1200" dirty="0">
                <a:solidFill>
                  <a:srgbClr val="FF0000"/>
                </a:solidFill>
              </a:rPr>
              <a:t>#</a:t>
            </a:r>
            <a:r>
              <a:rPr lang="zh-TW" altLang="en-US" sz="1200" dirty="0">
                <a:solidFill>
                  <a:srgbClr val="FF0000"/>
                </a:solidFill>
              </a:rPr>
              <a:t>顯示從第一列到結束</a:t>
            </a:r>
          </a:p>
          <a:p>
            <a:pPr marL="274320" lvl="1"/>
            <a:endParaRPr lang="en-US" altLang="zh-TW" sz="1400" dirty="0"/>
          </a:p>
          <a:p>
            <a:endParaRPr lang="en-US" altLang="zh-TW" sz="14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18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2627784" y="4221088"/>
            <a:ext cx="3384376" cy="64633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Text</a:t>
            </a:r>
            <a:r>
              <a:rPr lang="zh-TW" altLang="en-US" sz="1200" dirty="0"/>
              <a:t>是從第一列開始，所以要從第一列開始顯示直到結束，要寫成</a:t>
            </a:r>
            <a:r>
              <a:rPr lang="en-US" altLang="zh-TW" sz="1200" dirty="0"/>
              <a:t>print(</a:t>
            </a:r>
            <a:r>
              <a:rPr lang="en-US" altLang="zh-TW" sz="1200" dirty="0" err="1"/>
              <a:t>t.get</a:t>
            </a:r>
            <a:r>
              <a:rPr lang="en-US" altLang="zh-TW" sz="1200" dirty="0"/>
              <a:t>("1.0",END))</a:t>
            </a:r>
            <a:r>
              <a:rPr lang="zh-TW" altLang="en-US" sz="1200" dirty="0"/>
              <a:t>。</a:t>
            </a:r>
          </a:p>
          <a:p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89116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Text</a:t>
            </a:r>
            <a:r>
              <a:rPr lang="zh-TW" altLang="en-US" dirty="0"/>
              <a:t>組件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TW" altLang="en-US" sz="1400" dirty="0"/>
              <a:t>範例</a:t>
            </a:r>
            <a:r>
              <a:rPr lang="en-US" altLang="zh-TW" sz="1400" dirty="0"/>
              <a:t>:</a:t>
            </a:r>
          </a:p>
          <a:p>
            <a:pPr marL="365760" lvl="1" indent="0">
              <a:buNone/>
            </a:pPr>
            <a:r>
              <a:rPr lang="en-US" altLang="zh-TW" sz="1400" dirty="0"/>
              <a:t>from </a:t>
            </a:r>
            <a:r>
              <a:rPr lang="en-US" altLang="zh-TW" sz="1400" dirty="0" err="1"/>
              <a:t>tkinter</a:t>
            </a:r>
            <a:r>
              <a:rPr lang="en-US" altLang="zh-TW" sz="1400" dirty="0"/>
              <a:t> import *</a:t>
            </a:r>
            <a:r>
              <a:rPr lang="en-US" altLang="zh-TW" sz="1400" dirty="0">
                <a:solidFill>
                  <a:srgbClr val="FF0000"/>
                </a:solidFill>
              </a:rPr>
              <a:t>#</a:t>
            </a:r>
            <a:r>
              <a:rPr lang="zh-TW" altLang="en-US" sz="1400" dirty="0">
                <a:solidFill>
                  <a:srgbClr val="FF0000"/>
                </a:solidFill>
              </a:rPr>
              <a:t>載入函式庫</a:t>
            </a:r>
          </a:p>
          <a:p>
            <a:pPr marL="365760" lvl="1" indent="0">
              <a:buNone/>
            </a:pPr>
            <a:r>
              <a:rPr lang="en-US" altLang="zh-TW" sz="1400" dirty="0"/>
              <a:t>root = </a:t>
            </a:r>
            <a:r>
              <a:rPr lang="en-US" altLang="zh-TW" sz="1400" dirty="0" err="1"/>
              <a:t>Tk</a:t>
            </a:r>
            <a:r>
              <a:rPr lang="en-US" altLang="zh-TW" sz="1400" dirty="0"/>
              <a:t>() </a:t>
            </a:r>
            <a:r>
              <a:rPr lang="en-US" altLang="zh-TW" sz="1400" dirty="0">
                <a:solidFill>
                  <a:srgbClr val="FF0000"/>
                </a:solidFill>
              </a:rPr>
              <a:t>#</a:t>
            </a:r>
            <a:r>
              <a:rPr lang="zh-TW" altLang="en-US" sz="1400" dirty="0">
                <a:solidFill>
                  <a:srgbClr val="FF0000"/>
                </a:solidFill>
              </a:rPr>
              <a:t>建立視窗</a:t>
            </a:r>
          </a:p>
          <a:p>
            <a:pPr marL="365760" lvl="1" indent="0">
              <a:buNone/>
            </a:pPr>
            <a:r>
              <a:rPr lang="en-US" altLang="zh-TW" sz="1400" dirty="0"/>
              <a:t>t = Text(root)</a:t>
            </a:r>
          </a:p>
          <a:p>
            <a:pPr marL="365760" lvl="1" indent="0">
              <a:buNone/>
            </a:pPr>
            <a:r>
              <a:rPr lang="en-US" altLang="zh-TW" sz="1400" dirty="0">
                <a:solidFill>
                  <a:srgbClr val="FF0000"/>
                </a:solidFill>
              </a:rPr>
              <a:t>#</a:t>
            </a:r>
            <a:r>
              <a:rPr lang="zh-TW" altLang="en-US" sz="1400" dirty="0">
                <a:solidFill>
                  <a:srgbClr val="FF0000"/>
                </a:solidFill>
              </a:rPr>
              <a:t>執行十次從第一列插入資料</a:t>
            </a:r>
          </a:p>
          <a:p>
            <a:pPr marL="365760" lvl="1" indent="0">
              <a:buNone/>
            </a:pPr>
            <a:r>
              <a:rPr lang="en-US" altLang="zh-TW" sz="1400" dirty="0"/>
              <a:t>for i in range(10):</a:t>
            </a:r>
          </a:p>
          <a:p>
            <a:pPr marL="365760" lvl="1" indent="0">
              <a:buNone/>
            </a:pPr>
            <a:r>
              <a:rPr lang="en-US" altLang="zh-TW" sz="1400" dirty="0"/>
              <a:t>    </a:t>
            </a:r>
            <a:r>
              <a:rPr lang="en-US" altLang="zh-TW" sz="1400" dirty="0" err="1"/>
              <a:t>t.insert</a:t>
            </a:r>
            <a:r>
              <a:rPr lang="en-US" altLang="zh-TW" sz="1400" dirty="0"/>
              <a:t>(1.0,str(i)+</a:t>
            </a:r>
            <a:r>
              <a:rPr lang="en-US" altLang="zh-TW" sz="1400" dirty="0" err="1"/>
              <a:t>str</a:t>
            </a:r>
            <a:r>
              <a:rPr lang="en-US" altLang="zh-TW" sz="1400" dirty="0"/>
              <a:t>(i)+"\n") </a:t>
            </a:r>
          </a:p>
          <a:p>
            <a:pPr marL="365760" lvl="1" indent="0">
              <a:buNone/>
            </a:pPr>
            <a:r>
              <a:rPr lang="en-US" altLang="zh-TW" sz="1400" dirty="0">
                <a:solidFill>
                  <a:srgbClr val="FF0000"/>
                </a:solidFill>
              </a:rPr>
              <a:t>#</a:t>
            </a:r>
            <a:r>
              <a:rPr lang="zh-TW" altLang="en-US" sz="1400" dirty="0">
                <a:solidFill>
                  <a:srgbClr val="FF0000"/>
                </a:solidFill>
              </a:rPr>
              <a:t>從第一列開始顯示第兩個字元</a:t>
            </a:r>
          </a:p>
          <a:p>
            <a:pPr marL="365760" lvl="1" indent="0">
              <a:buNone/>
            </a:pPr>
            <a:r>
              <a:rPr lang="en-US" altLang="zh-TW" sz="1400" dirty="0"/>
              <a:t>print (</a:t>
            </a:r>
            <a:r>
              <a:rPr lang="en-US" altLang="zh-TW" sz="1400" dirty="0" err="1"/>
              <a:t>t.get</a:t>
            </a:r>
            <a:r>
              <a:rPr lang="en-US" altLang="zh-TW" sz="1400" dirty="0"/>
              <a:t>(1.0,1.2)+"\n")</a:t>
            </a:r>
          </a:p>
          <a:p>
            <a:pPr marL="365760" lvl="1" indent="0">
              <a:buNone/>
            </a:pPr>
            <a:r>
              <a:rPr lang="en-US" altLang="zh-TW" sz="1400" dirty="0">
                <a:solidFill>
                  <a:srgbClr val="FF0000"/>
                </a:solidFill>
              </a:rPr>
              <a:t>#</a:t>
            </a:r>
            <a:r>
              <a:rPr lang="zh-TW" altLang="en-US" sz="1400" dirty="0">
                <a:solidFill>
                  <a:srgbClr val="FF0000"/>
                </a:solidFill>
              </a:rPr>
              <a:t>從第一列到結束所有字元</a:t>
            </a:r>
          </a:p>
          <a:p>
            <a:pPr marL="365760" lvl="1" indent="0">
              <a:buNone/>
            </a:pPr>
            <a:r>
              <a:rPr lang="en-US" altLang="zh-TW" sz="1400" dirty="0"/>
              <a:t>print (</a:t>
            </a:r>
            <a:r>
              <a:rPr lang="en-US" altLang="zh-TW" sz="1400" dirty="0" err="1"/>
              <a:t>t.get</a:t>
            </a:r>
            <a:r>
              <a:rPr lang="en-US" altLang="zh-TW" sz="1400" dirty="0"/>
              <a:t>(1.0,END))</a:t>
            </a:r>
          </a:p>
          <a:p>
            <a:pPr marL="365760" lvl="1" indent="0">
              <a:buNone/>
            </a:pPr>
            <a:r>
              <a:rPr lang="en-US" altLang="zh-TW" sz="1400" dirty="0" err="1"/>
              <a:t>t.pack</a:t>
            </a:r>
            <a:r>
              <a:rPr lang="en-US" altLang="zh-TW" sz="1400" dirty="0"/>
              <a:t>()</a:t>
            </a:r>
            <a:r>
              <a:rPr lang="zh-TW" altLang="en-US" sz="1400" dirty="0"/>
              <a:t> </a:t>
            </a:r>
            <a:r>
              <a:rPr lang="en-US" altLang="zh-TW" sz="1400" dirty="0">
                <a:solidFill>
                  <a:srgbClr val="FF0000"/>
                </a:solidFill>
              </a:rPr>
              <a:t>#</a:t>
            </a:r>
            <a:r>
              <a:rPr lang="zh-TW" altLang="en-US" sz="1400" dirty="0">
                <a:solidFill>
                  <a:srgbClr val="FF0000"/>
                </a:solidFill>
              </a:rPr>
              <a:t>建立</a:t>
            </a:r>
            <a:r>
              <a:rPr lang="en-US" altLang="zh-TW" sz="1400" dirty="0">
                <a:solidFill>
                  <a:srgbClr val="FF0000"/>
                </a:solidFill>
              </a:rPr>
              <a:t>Text</a:t>
            </a:r>
          </a:p>
          <a:p>
            <a:pPr marL="365760" lvl="1" indent="0">
              <a:buNone/>
            </a:pPr>
            <a:r>
              <a:rPr lang="en-US" altLang="zh-TW" sz="1400" dirty="0" err="1"/>
              <a:t>root.mainloop</a:t>
            </a:r>
            <a:r>
              <a:rPr lang="en-US" altLang="zh-TW" sz="1400" dirty="0"/>
              <a:t>()</a:t>
            </a:r>
            <a:endParaRPr lang="zh-TW" altLang="en-US" sz="14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3124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Text</a:t>
            </a:r>
            <a:r>
              <a:rPr lang="zh-TW" altLang="en-US" dirty="0"/>
              <a:t>組件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執行結果</a:t>
            </a:r>
            <a:r>
              <a:rPr lang="en-US" altLang="zh-TW" dirty="0"/>
              <a:t>:</a:t>
            </a:r>
          </a:p>
          <a:p>
            <a:pPr lvl="1">
              <a:buFont typeface="Wingdings" pitchFamily="2" charset="2"/>
              <a:buChar char="l"/>
            </a:pPr>
            <a:r>
              <a:rPr lang="zh-TW" altLang="en-US" dirty="0"/>
              <a:t>視窗顯示</a:t>
            </a:r>
            <a:r>
              <a:rPr lang="en-US" altLang="zh-TW" dirty="0"/>
              <a:t>:</a:t>
            </a:r>
          </a:p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r>
              <a:rPr lang="zh-TW" altLang="en-US" dirty="0"/>
              <a:t>顯示出來的結果</a:t>
            </a:r>
            <a:r>
              <a:rPr lang="en-US" altLang="zh-TW" dirty="0"/>
              <a:t>: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20</a:t>
            </a:fld>
            <a:endParaRPr lang="zh-TW" alt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2586036"/>
            <a:ext cx="2762250" cy="168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9" t="62258" r="93112" b="10712"/>
          <a:stretch/>
        </p:blipFill>
        <p:spPr bwMode="auto">
          <a:xfrm>
            <a:off x="4742949" y="4581129"/>
            <a:ext cx="348342" cy="1858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矩形 6"/>
          <p:cNvSpPr/>
          <p:nvPr/>
        </p:nvSpPr>
        <p:spPr>
          <a:xfrm>
            <a:off x="4701096" y="4581129"/>
            <a:ext cx="316912" cy="14401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4716016" y="4877544"/>
            <a:ext cx="316912" cy="156245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5610180" y="4581129"/>
            <a:ext cx="2440027" cy="523220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marL="365760" lvl="1" indent="0">
              <a:buNone/>
            </a:pPr>
            <a:r>
              <a:rPr lang="zh-TW" altLang="en-US" sz="1400" dirty="0"/>
              <a:t>顯示第一列前兩字元</a:t>
            </a:r>
            <a:endParaRPr lang="en-US" altLang="zh-TW" sz="1400" dirty="0"/>
          </a:p>
          <a:p>
            <a:pPr marL="365760" lvl="1" indent="0">
              <a:buNone/>
            </a:pPr>
            <a:r>
              <a:rPr lang="en-US" altLang="zh-TW" sz="1400" dirty="0"/>
              <a:t>print (</a:t>
            </a:r>
            <a:r>
              <a:rPr lang="en-US" altLang="zh-TW" sz="1400" dirty="0" err="1"/>
              <a:t>t.get</a:t>
            </a:r>
            <a:r>
              <a:rPr lang="en-US" altLang="zh-TW" sz="1400" dirty="0"/>
              <a:t>(1.0,1.2)+"\n")</a:t>
            </a:r>
          </a:p>
        </p:txBody>
      </p:sp>
      <p:sp>
        <p:nvSpPr>
          <p:cNvPr id="9" name="文字方塊 8"/>
          <p:cNvSpPr txBox="1"/>
          <p:nvPr/>
        </p:nvSpPr>
        <p:spPr>
          <a:xfrm>
            <a:off x="5455168" y="5521640"/>
            <a:ext cx="2126031" cy="523220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marL="365760" lvl="1" indent="0">
              <a:buNone/>
            </a:pPr>
            <a:r>
              <a:rPr lang="zh-TW" altLang="en-US" sz="1400" dirty="0"/>
              <a:t>顯示全部內容</a:t>
            </a:r>
            <a:endParaRPr lang="en-US" altLang="zh-TW" sz="1400" dirty="0"/>
          </a:p>
          <a:p>
            <a:pPr marL="365760" lvl="1" indent="0">
              <a:buNone/>
            </a:pPr>
            <a:r>
              <a:rPr lang="en-US" altLang="zh-TW" sz="1400" dirty="0"/>
              <a:t>print (</a:t>
            </a:r>
            <a:r>
              <a:rPr lang="en-US" altLang="zh-TW" sz="1400" dirty="0" err="1"/>
              <a:t>t.get</a:t>
            </a:r>
            <a:r>
              <a:rPr lang="en-US" altLang="zh-TW" sz="1400" dirty="0"/>
              <a:t>(1.0,END))</a:t>
            </a:r>
          </a:p>
        </p:txBody>
      </p:sp>
      <p:cxnSp>
        <p:nvCxnSpPr>
          <p:cNvPr id="12" name="直線單箭頭接點 11"/>
          <p:cNvCxnSpPr/>
          <p:nvPr/>
        </p:nvCxnSpPr>
        <p:spPr>
          <a:xfrm>
            <a:off x="5091291" y="4653137"/>
            <a:ext cx="363877" cy="7200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>
            <a:off x="5085192" y="5642128"/>
            <a:ext cx="363877" cy="7200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5868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Text</a:t>
            </a:r>
            <a:r>
              <a:rPr lang="zh-TW" altLang="en-US" dirty="0"/>
              <a:t>搭配</a:t>
            </a:r>
            <a:r>
              <a:rPr lang="en-US" altLang="zh-TW" dirty="0"/>
              <a:t>Scrollbar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TW" altLang="en-US" sz="1400" dirty="0"/>
              <a:t>範例</a:t>
            </a:r>
            <a:r>
              <a:rPr lang="en-US" altLang="zh-TW" sz="1400" dirty="0"/>
              <a:t>:</a:t>
            </a:r>
          </a:p>
          <a:p>
            <a:pPr marL="365760" lvl="1" indent="0">
              <a:buNone/>
            </a:pPr>
            <a:r>
              <a:rPr lang="en-US" altLang="zh-TW" sz="1400" dirty="0"/>
              <a:t>from </a:t>
            </a:r>
            <a:r>
              <a:rPr lang="en-US" altLang="zh-TW" sz="1400" dirty="0" err="1"/>
              <a:t>tkinter</a:t>
            </a:r>
            <a:r>
              <a:rPr lang="en-US" altLang="zh-TW" sz="1400" dirty="0"/>
              <a:t> import *  </a:t>
            </a:r>
            <a:r>
              <a:rPr lang="en-US" altLang="zh-TW" sz="1400" dirty="0">
                <a:solidFill>
                  <a:srgbClr val="FF0000"/>
                </a:solidFill>
              </a:rPr>
              <a:t>#</a:t>
            </a:r>
            <a:r>
              <a:rPr lang="zh-TW" altLang="en-US" sz="1400" dirty="0">
                <a:solidFill>
                  <a:srgbClr val="FF0000"/>
                </a:solidFill>
              </a:rPr>
              <a:t>載入函式庫</a:t>
            </a:r>
          </a:p>
          <a:p>
            <a:pPr marL="365760" lvl="1" indent="0">
              <a:buNone/>
            </a:pPr>
            <a:r>
              <a:rPr lang="en-US" altLang="zh-TW" sz="1400" dirty="0"/>
              <a:t>root = </a:t>
            </a:r>
            <a:r>
              <a:rPr lang="en-US" altLang="zh-TW" sz="1400" dirty="0" err="1"/>
              <a:t>Tk</a:t>
            </a:r>
            <a:r>
              <a:rPr lang="en-US" altLang="zh-TW" sz="1400" dirty="0"/>
              <a:t>() </a:t>
            </a:r>
            <a:r>
              <a:rPr lang="en-US" altLang="zh-TW" sz="1400" dirty="0">
                <a:solidFill>
                  <a:srgbClr val="FF0000"/>
                </a:solidFill>
              </a:rPr>
              <a:t>#</a:t>
            </a:r>
            <a:r>
              <a:rPr lang="zh-TW" altLang="en-US" sz="1400" dirty="0">
                <a:solidFill>
                  <a:srgbClr val="FF0000"/>
                </a:solidFill>
              </a:rPr>
              <a:t>建立視窗</a:t>
            </a:r>
          </a:p>
          <a:p>
            <a:pPr marL="365760" lvl="1" indent="0">
              <a:buNone/>
            </a:pPr>
            <a:r>
              <a:rPr lang="en-US" altLang="zh-TW" sz="1400" dirty="0"/>
              <a:t>s = Scrollbar(root) </a:t>
            </a:r>
            <a:r>
              <a:rPr lang="en-US" altLang="zh-TW" sz="1400" dirty="0">
                <a:solidFill>
                  <a:srgbClr val="FF0000"/>
                </a:solidFill>
              </a:rPr>
              <a:t>#</a:t>
            </a:r>
            <a:r>
              <a:rPr lang="zh-TW" altLang="en-US" sz="1400" dirty="0">
                <a:solidFill>
                  <a:srgbClr val="FF0000"/>
                </a:solidFill>
              </a:rPr>
              <a:t>建立</a:t>
            </a:r>
            <a:r>
              <a:rPr lang="en-US" altLang="zh-TW" sz="1400" dirty="0">
                <a:solidFill>
                  <a:srgbClr val="FF0000"/>
                </a:solidFill>
              </a:rPr>
              <a:t>Scrollbar</a:t>
            </a:r>
          </a:p>
          <a:p>
            <a:pPr marL="365760" lvl="1" indent="0">
              <a:buNone/>
            </a:pPr>
            <a:r>
              <a:rPr lang="en-US" altLang="zh-TW" sz="1400" dirty="0"/>
              <a:t>t = Text(root, height=5, width=20) </a:t>
            </a:r>
            <a:r>
              <a:rPr lang="en-US" altLang="zh-TW" sz="1400" dirty="0">
                <a:solidFill>
                  <a:srgbClr val="FF0000"/>
                </a:solidFill>
              </a:rPr>
              <a:t>#</a:t>
            </a:r>
            <a:r>
              <a:rPr lang="zh-TW" altLang="en-US" sz="1400" dirty="0">
                <a:solidFill>
                  <a:srgbClr val="FF0000"/>
                </a:solidFill>
              </a:rPr>
              <a:t>建立</a:t>
            </a:r>
            <a:r>
              <a:rPr lang="en-US" altLang="zh-TW" sz="1400" dirty="0">
                <a:solidFill>
                  <a:srgbClr val="FF0000"/>
                </a:solidFill>
              </a:rPr>
              <a:t>Text</a:t>
            </a:r>
            <a:r>
              <a:rPr lang="zh-TW" altLang="en-US" sz="1400" dirty="0">
                <a:solidFill>
                  <a:srgbClr val="FF0000"/>
                </a:solidFill>
              </a:rPr>
              <a:t>且設定高和寬</a:t>
            </a:r>
          </a:p>
          <a:p>
            <a:pPr marL="365760" lvl="1" indent="0">
              <a:buNone/>
            </a:pPr>
            <a:r>
              <a:rPr lang="en-US" altLang="zh-TW" sz="1400" dirty="0" err="1"/>
              <a:t>s.pack</a:t>
            </a:r>
            <a:r>
              <a:rPr lang="en-US" altLang="zh-TW" sz="1400" dirty="0"/>
              <a:t>(side=RIGHT) </a:t>
            </a:r>
            <a:r>
              <a:rPr lang="en-US" altLang="zh-TW" sz="1400" dirty="0">
                <a:solidFill>
                  <a:srgbClr val="FF0000"/>
                </a:solidFill>
              </a:rPr>
              <a:t>#Scrollbar</a:t>
            </a:r>
            <a:r>
              <a:rPr lang="zh-TW" altLang="en-US" sz="1400" dirty="0">
                <a:solidFill>
                  <a:srgbClr val="FF0000"/>
                </a:solidFill>
              </a:rPr>
              <a:t>放置在右邊</a:t>
            </a:r>
          </a:p>
          <a:p>
            <a:pPr marL="365760" lvl="1" indent="0">
              <a:buNone/>
            </a:pPr>
            <a:r>
              <a:rPr lang="en-US" altLang="zh-TW" sz="1400" dirty="0" err="1"/>
              <a:t>t.pack</a:t>
            </a:r>
            <a:r>
              <a:rPr lang="en-US" altLang="zh-TW" sz="1400" dirty="0"/>
              <a:t>(side=LEFT) </a:t>
            </a:r>
            <a:r>
              <a:rPr lang="en-US" altLang="zh-TW" sz="1400" dirty="0">
                <a:solidFill>
                  <a:srgbClr val="FF0000"/>
                </a:solidFill>
              </a:rPr>
              <a:t>#Text</a:t>
            </a:r>
            <a:r>
              <a:rPr lang="zh-TW" altLang="en-US" sz="1400" dirty="0">
                <a:solidFill>
                  <a:srgbClr val="FF0000"/>
                </a:solidFill>
              </a:rPr>
              <a:t>放置在左邊</a:t>
            </a:r>
          </a:p>
          <a:p>
            <a:pPr marL="365760" lvl="1" indent="0">
              <a:buNone/>
            </a:pPr>
            <a:r>
              <a:rPr lang="en-US" altLang="zh-TW" sz="1400" dirty="0" err="1"/>
              <a:t>s.config</a:t>
            </a:r>
            <a:r>
              <a:rPr lang="en-US" altLang="zh-TW" sz="1400" dirty="0"/>
              <a:t>(command=</a:t>
            </a:r>
            <a:r>
              <a:rPr lang="en-US" altLang="zh-TW" sz="1400" dirty="0" err="1"/>
              <a:t>t.yview</a:t>
            </a:r>
            <a:r>
              <a:rPr lang="en-US" altLang="zh-TW" sz="1400" dirty="0"/>
              <a:t>) </a:t>
            </a:r>
            <a:r>
              <a:rPr lang="en-US" altLang="zh-TW" sz="1400" dirty="0">
                <a:solidFill>
                  <a:srgbClr val="FF0000"/>
                </a:solidFill>
              </a:rPr>
              <a:t>#</a:t>
            </a:r>
            <a:r>
              <a:rPr lang="zh-TW" altLang="en-US" sz="1400" dirty="0">
                <a:solidFill>
                  <a:srgbClr val="FF0000"/>
                </a:solidFill>
              </a:rPr>
              <a:t>設定</a:t>
            </a:r>
            <a:r>
              <a:rPr lang="en-US" altLang="zh-TW" sz="1400" dirty="0">
                <a:solidFill>
                  <a:srgbClr val="FF0000"/>
                </a:solidFill>
              </a:rPr>
              <a:t>Scrollbar</a:t>
            </a:r>
            <a:r>
              <a:rPr lang="zh-TW" altLang="en-US" sz="1400" dirty="0">
                <a:solidFill>
                  <a:srgbClr val="FF0000"/>
                </a:solidFill>
              </a:rPr>
              <a:t>捲動軸可調</a:t>
            </a:r>
          </a:p>
          <a:p>
            <a:pPr marL="365760" lvl="1" indent="0">
              <a:buNone/>
            </a:pPr>
            <a:r>
              <a:rPr lang="en-US" altLang="zh-TW" sz="1400" dirty="0" err="1"/>
              <a:t>t.config</a:t>
            </a:r>
            <a:r>
              <a:rPr lang="en-US" altLang="zh-TW" sz="1400" dirty="0"/>
              <a:t>(</a:t>
            </a:r>
            <a:r>
              <a:rPr lang="en-US" altLang="zh-TW" sz="1400" dirty="0" err="1"/>
              <a:t>yscrollcommand</a:t>
            </a:r>
            <a:r>
              <a:rPr lang="en-US" altLang="zh-TW" sz="1400" dirty="0"/>
              <a:t>=</a:t>
            </a:r>
            <a:r>
              <a:rPr lang="en-US" altLang="zh-TW" sz="1400" dirty="0" err="1"/>
              <a:t>s.set</a:t>
            </a:r>
            <a:r>
              <a:rPr lang="en-US" altLang="zh-TW" sz="1400" dirty="0"/>
              <a:t>) </a:t>
            </a:r>
            <a:r>
              <a:rPr lang="en-US" altLang="zh-TW" sz="1400" dirty="0">
                <a:solidFill>
                  <a:srgbClr val="FF0000"/>
                </a:solidFill>
              </a:rPr>
              <a:t>#</a:t>
            </a:r>
            <a:r>
              <a:rPr lang="zh-TW" altLang="en-US" sz="1400" dirty="0">
                <a:solidFill>
                  <a:srgbClr val="FF0000"/>
                </a:solidFill>
              </a:rPr>
              <a:t>設定</a:t>
            </a:r>
            <a:r>
              <a:rPr lang="en-US" altLang="zh-TW" sz="1400" dirty="0">
                <a:solidFill>
                  <a:srgbClr val="FF0000"/>
                </a:solidFill>
              </a:rPr>
              <a:t>Scrollbar</a:t>
            </a:r>
            <a:r>
              <a:rPr lang="zh-TW" altLang="en-US" sz="1400" dirty="0">
                <a:solidFill>
                  <a:srgbClr val="FF0000"/>
                </a:solidFill>
              </a:rPr>
              <a:t>與</a:t>
            </a:r>
            <a:r>
              <a:rPr lang="en-US" altLang="zh-TW" sz="1400" dirty="0">
                <a:solidFill>
                  <a:srgbClr val="FF0000"/>
                </a:solidFill>
              </a:rPr>
              <a:t>Text</a:t>
            </a:r>
            <a:r>
              <a:rPr lang="zh-TW" altLang="en-US" sz="1400" dirty="0">
                <a:solidFill>
                  <a:srgbClr val="FF0000"/>
                </a:solidFill>
              </a:rPr>
              <a:t>結合</a:t>
            </a:r>
            <a:endParaRPr lang="en-US" altLang="zh-TW" sz="1400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sz="1400" dirty="0">
                <a:solidFill>
                  <a:srgbClr val="FF0000"/>
                </a:solidFill>
              </a:rPr>
              <a:t>#</a:t>
            </a:r>
            <a:r>
              <a:rPr lang="zh-TW" altLang="en-US" sz="1400">
                <a:solidFill>
                  <a:srgbClr val="FF0000"/>
                </a:solidFill>
              </a:rPr>
              <a:t>字串</a:t>
            </a:r>
            <a:endParaRPr lang="zh-TW" altLang="en-US" sz="1400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sz="1400" dirty="0"/>
              <a:t>string= """</a:t>
            </a:r>
            <a:r>
              <a:rPr lang="zh-TW" altLang="en-US" sz="1400" dirty="0"/>
              <a:t>南臺灣的</a:t>
            </a:r>
            <a:r>
              <a:rPr lang="en-US" altLang="zh-TW" sz="1400" dirty="0"/>
              <a:t>8</a:t>
            </a:r>
            <a:r>
              <a:rPr lang="zh-TW" altLang="en-US" sz="1400" dirty="0"/>
              <a:t>月，不同於其他學校還沈浸在暑期寧靜氣氛中，</a:t>
            </a:r>
          </a:p>
          <a:p>
            <a:pPr marL="365760" lvl="1" indent="0">
              <a:buNone/>
            </a:pPr>
            <a:r>
              <a:rPr lang="zh-TW" altLang="en-US" sz="1400" dirty="0"/>
              <a:t>國立高雄應用科技大學正醞釀一股引導學術研發、連結產業創新的高速氣流，</a:t>
            </a:r>
          </a:p>
          <a:p>
            <a:pPr marL="365760" lvl="1" indent="0">
              <a:buNone/>
            </a:pPr>
            <a:r>
              <a:rPr lang="zh-TW" altLang="en-US" sz="1400" dirty="0"/>
              <a:t>蓄勢待發。高應大研發長許進忠教授表示「</a:t>
            </a:r>
            <a:r>
              <a:rPr lang="en-US" altLang="zh-TW" sz="1400" dirty="0"/>
              <a:t>『</a:t>
            </a:r>
            <a:r>
              <a:rPr lang="zh-TW" altLang="en-US" sz="1400" dirty="0"/>
              <a:t>產學</a:t>
            </a:r>
            <a:r>
              <a:rPr lang="en-US" altLang="zh-TW" sz="1400" dirty="0"/>
              <a:t>』</a:t>
            </a:r>
            <a:r>
              <a:rPr lang="zh-TW" altLang="en-US" sz="1400" dirty="0"/>
              <a:t>、</a:t>
            </a:r>
            <a:r>
              <a:rPr lang="en-US" altLang="zh-TW" sz="1400" dirty="0"/>
              <a:t>『</a:t>
            </a:r>
            <a:r>
              <a:rPr lang="zh-TW" altLang="en-US" sz="1400" dirty="0"/>
              <a:t>技轉</a:t>
            </a:r>
            <a:r>
              <a:rPr lang="en-US" altLang="zh-TW" sz="1400" dirty="0"/>
              <a:t>』</a:t>
            </a:r>
            <a:r>
              <a:rPr lang="zh-TW" altLang="en-US" sz="1400" dirty="0"/>
              <a:t>、</a:t>
            </a:r>
            <a:r>
              <a:rPr lang="en-US" altLang="zh-TW" sz="1400" dirty="0"/>
              <a:t>『</a:t>
            </a:r>
            <a:r>
              <a:rPr lang="zh-TW" altLang="en-US" sz="1400" dirty="0"/>
              <a:t>生產力</a:t>
            </a:r>
            <a:r>
              <a:rPr lang="en-US" altLang="zh-TW" sz="1400" dirty="0"/>
              <a:t>4.0』</a:t>
            </a:r>
            <a:r>
              <a:rPr lang="zh-TW" altLang="en-US" sz="1400" dirty="0"/>
              <a:t>，</a:t>
            </a:r>
          </a:p>
          <a:p>
            <a:pPr marL="365760" lvl="1" indent="0">
              <a:buNone/>
            </a:pPr>
            <a:r>
              <a:rPr lang="zh-TW" altLang="en-US" sz="1400" dirty="0"/>
              <a:t>是本校目前正積極在推動的研發主軸。」，以日前與中鋼合作成立「鍛造輥軋工程研究中心」為例，</a:t>
            </a:r>
          </a:p>
          <a:p>
            <a:pPr marL="365760" lvl="1" indent="0">
              <a:buNone/>
            </a:pPr>
            <a:r>
              <a:rPr lang="zh-TW" altLang="en-US" sz="1400" dirty="0"/>
              <a:t>這項針對國內扣件與汽車產業的技術發展規劃的產學合作案，透過技術移轉及研發，</a:t>
            </a:r>
          </a:p>
          <a:p>
            <a:pPr marL="365760" lvl="1" indent="0">
              <a:buNone/>
            </a:pPr>
            <a:r>
              <a:rPr lang="zh-TW" altLang="en-US" sz="1400" dirty="0"/>
              <a:t>即使面對全球工業</a:t>
            </a:r>
            <a:r>
              <a:rPr lang="en-US" altLang="zh-TW" sz="1400" dirty="0"/>
              <a:t>4.0</a:t>
            </a:r>
            <a:r>
              <a:rPr lang="zh-TW" altLang="en-US" sz="1400" dirty="0"/>
              <a:t>的浪潮，也必能為臺灣用鋼產業的高值化做出更大的貢獻。</a:t>
            </a:r>
            <a:r>
              <a:rPr lang="en-US" altLang="zh-TW" sz="1400" dirty="0"/>
              <a:t>"""</a:t>
            </a:r>
          </a:p>
          <a:p>
            <a:pPr marL="365760" lvl="1" indent="0">
              <a:buNone/>
            </a:pPr>
            <a:r>
              <a:rPr lang="en-US" altLang="zh-TW" sz="1400" dirty="0" err="1"/>
              <a:t>t.insert</a:t>
            </a:r>
            <a:r>
              <a:rPr lang="en-US" altLang="zh-TW" sz="1400" dirty="0"/>
              <a:t>("1.0", string)</a:t>
            </a:r>
            <a:r>
              <a:rPr lang="en-US" altLang="zh-TW" sz="1400" dirty="0">
                <a:solidFill>
                  <a:srgbClr val="FF0000"/>
                </a:solidFill>
              </a:rPr>
              <a:t>#</a:t>
            </a:r>
            <a:r>
              <a:rPr lang="zh-TW" altLang="en-US" sz="1400" dirty="0">
                <a:solidFill>
                  <a:srgbClr val="FF0000"/>
                </a:solidFill>
              </a:rPr>
              <a:t>插入在第一列</a:t>
            </a:r>
            <a:endParaRPr lang="en-US" altLang="zh-TW" sz="1400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sz="1400" dirty="0" err="1"/>
              <a:t>mainloop</a:t>
            </a:r>
            <a:r>
              <a:rPr lang="en-US" altLang="zh-TW" sz="1400" dirty="0"/>
              <a:t>()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6620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Text</a:t>
            </a:r>
            <a:r>
              <a:rPr lang="zh-TW" altLang="en-US" dirty="0"/>
              <a:t>搭配</a:t>
            </a:r>
            <a:r>
              <a:rPr lang="en-US" altLang="zh-TW" dirty="0"/>
              <a:t>Scrollbar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執行結果</a:t>
            </a:r>
            <a:r>
              <a:rPr lang="en-US" altLang="zh-TW" dirty="0"/>
              <a:t>: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22</a:t>
            </a:fld>
            <a:endParaRPr lang="zh-TW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1" y="2831854"/>
            <a:ext cx="1685925" cy="1019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50280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資料來源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hlinkClick r:id="rId2"/>
              </a:rPr>
              <a:t>http://pan.baidu.com/share/link?shareid=2190696726&amp;uk=338543583&amp;fid=714357500588689</a:t>
            </a:r>
            <a:endParaRPr lang="en-US" altLang="zh-TW" dirty="0"/>
          </a:p>
          <a:p>
            <a:r>
              <a:rPr lang="en-US" altLang="zh-TW" dirty="0">
                <a:hlinkClick r:id="rId3"/>
              </a:rPr>
              <a:t>http://www.python-course.eu/tkinter_entry_widgets.php</a:t>
            </a:r>
            <a:endParaRPr lang="en-US" altLang="zh-TW" dirty="0"/>
          </a:p>
          <a:p>
            <a:r>
              <a:rPr lang="en-US" altLang="zh-TW" dirty="0">
                <a:hlinkClick r:id="rId4"/>
              </a:rPr>
              <a:t>http://www.python-course.eu/tkinter_text_widget.php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8282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建立一個</a:t>
            </a:r>
            <a:r>
              <a:rPr lang="en-US" altLang="zh-TW" dirty="0"/>
              <a:t>Button</a:t>
            </a:r>
            <a:r>
              <a:rPr lang="zh-TW" altLang="en-US" dirty="0"/>
              <a:t>與</a:t>
            </a:r>
            <a:r>
              <a:rPr lang="en-US" altLang="zh-TW" dirty="0"/>
              <a:t>Entry</a:t>
            </a:r>
            <a:r>
              <a:rPr lang="zh-TW" altLang="en-US" dirty="0"/>
              <a:t>，</a:t>
            </a:r>
            <a:r>
              <a:rPr lang="en-US" altLang="zh-TW" dirty="0"/>
              <a:t> </a:t>
            </a:r>
            <a:r>
              <a:rPr lang="zh-TW" altLang="en-US" dirty="0"/>
              <a:t>按下</a:t>
            </a:r>
            <a:r>
              <a:rPr lang="en-US" altLang="zh-TW" dirty="0"/>
              <a:t>Button</a:t>
            </a:r>
            <a:r>
              <a:rPr lang="zh-TW" altLang="en-US" dirty="0"/>
              <a:t>有兩種動作</a:t>
            </a:r>
            <a:r>
              <a:rPr lang="en-US" altLang="zh-TW" dirty="0"/>
              <a:t> </a:t>
            </a:r>
            <a:r>
              <a:rPr lang="zh-TW" altLang="en-US" dirty="0"/>
              <a:t>，第一個，按一下</a:t>
            </a:r>
            <a:r>
              <a:rPr lang="en-US" altLang="zh-TW" dirty="0"/>
              <a:t>Button</a:t>
            </a:r>
            <a:r>
              <a:rPr lang="zh-TW" altLang="en-US" dirty="0"/>
              <a:t>將</a:t>
            </a:r>
            <a:r>
              <a:rPr lang="en-US" altLang="zh-TW" dirty="0"/>
              <a:t>Entry</a:t>
            </a:r>
            <a:r>
              <a:rPr lang="zh-TW" altLang="en-US" dirty="0"/>
              <a:t>中的每個字元以</a:t>
            </a:r>
            <a:r>
              <a:rPr lang="en-US" altLang="zh-TW" dirty="0"/>
              <a:t>“</a:t>
            </a:r>
            <a:r>
              <a:rPr lang="zh-TW" altLang="en-US" dirty="0"/>
              <a:t>*</a:t>
            </a:r>
            <a:r>
              <a:rPr lang="en-US" altLang="zh-TW" dirty="0"/>
              <a:t>”</a:t>
            </a:r>
            <a:r>
              <a:rPr lang="zh-TW" altLang="en-US" dirty="0"/>
              <a:t>顯示，且</a:t>
            </a:r>
            <a:r>
              <a:rPr lang="en-US" altLang="zh-TW" dirty="0"/>
              <a:t>Button </a:t>
            </a:r>
            <a:r>
              <a:rPr lang="zh-TW" altLang="en-US" dirty="0"/>
              <a:t>字串</a:t>
            </a:r>
            <a:r>
              <a:rPr lang="en-US" altLang="zh-TW" dirty="0"/>
              <a:t>“</a:t>
            </a:r>
            <a:r>
              <a:rPr lang="zh-TW" altLang="en-US" dirty="0"/>
              <a:t>不顯示</a:t>
            </a:r>
            <a:r>
              <a:rPr lang="en-US" altLang="zh-TW" dirty="0"/>
              <a:t>” </a:t>
            </a:r>
            <a:r>
              <a:rPr lang="zh-TW" altLang="en-US" dirty="0"/>
              <a:t>，第二個，按一下</a:t>
            </a:r>
            <a:r>
              <a:rPr lang="en-US" altLang="zh-TW" dirty="0"/>
              <a:t>Button</a:t>
            </a:r>
            <a:r>
              <a:rPr lang="zh-TW" altLang="en-US" dirty="0"/>
              <a:t>可以顯示</a:t>
            </a:r>
            <a:r>
              <a:rPr lang="en-US" altLang="zh-TW" dirty="0"/>
              <a:t>Entry</a:t>
            </a:r>
            <a:r>
              <a:rPr lang="zh-TW" altLang="en-US" dirty="0"/>
              <a:t>中輸入的字串並且</a:t>
            </a:r>
            <a:r>
              <a:rPr lang="en-US" altLang="zh-TW" dirty="0"/>
              <a:t>Button </a:t>
            </a:r>
            <a:r>
              <a:rPr lang="zh-TW" altLang="en-US" dirty="0"/>
              <a:t>字串為</a:t>
            </a:r>
            <a:r>
              <a:rPr lang="en-US" altLang="zh-TW" dirty="0"/>
              <a:t>“</a:t>
            </a:r>
            <a:r>
              <a:rPr lang="zh-TW" altLang="en-US" dirty="0"/>
              <a:t>顯示</a:t>
            </a:r>
            <a:r>
              <a:rPr lang="en-US" altLang="zh-TW" dirty="0"/>
              <a:t>” </a:t>
            </a:r>
            <a:r>
              <a:rPr lang="zh-TW" alt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4649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執行結果</a:t>
            </a:r>
            <a:r>
              <a:rPr lang="en-US" altLang="zh-TW" dirty="0"/>
              <a:t>:</a:t>
            </a:r>
          </a:p>
          <a:p>
            <a:pPr lvl="1">
              <a:buFont typeface="Wingdings" pitchFamily="2" charset="2"/>
              <a:buChar char="l"/>
            </a:pPr>
            <a:r>
              <a:rPr lang="zh-TW" altLang="en-US" dirty="0"/>
              <a:t>輸入</a:t>
            </a:r>
            <a:r>
              <a:rPr lang="en-US" altLang="zh-TW" dirty="0"/>
              <a:t>KUAS:</a:t>
            </a:r>
          </a:p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r>
              <a:rPr lang="zh-TW" altLang="en-US" dirty="0"/>
              <a:t>按下顯示鈕後</a:t>
            </a:r>
            <a:r>
              <a:rPr lang="en-US" altLang="zh-TW" dirty="0"/>
              <a:t>:</a:t>
            </a:r>
          </a:p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r>
              <a:rPr lang="zh-TW" altLang="en-US" dirty="0"/>
              <a:t>按下不顯示鈕後</a:t>
            </a:r>
            <a:r>
              <a:rPr lang="en-US" altLang="zh-TW" dirty="0"/>
              <a:t>: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25</a:t>
            </a:fld>
            <a:endParaRPr lang="zh-TW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7964" y="2545014"/>
            <a:ext cx="1524000" cy="81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0067" y="4003144"/>
            <a:ext cx="1524000" cy="81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7964" y="5373216"/>
            <a:ext cx="1524000" cy="81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矩形 7"/>
          <p:cNvSpPr/>
          <p:nvPr/>
        </p:nvSpPr>
        <p:spPr>
          <a:xfrm>
            <a:off x="4214171" y="3039102"/>
            <a:ext cx="648072" cy="3364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4718031" y="4244506"/>
            <a:ext cx="648072" cy="3364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" name="直線單箭頭接點 5"/>
          <p:cNvCxnSpPr>
            <a:endCxn id="7" idx="1"/>
          </p:cNvCxnSpPr>
          <p:nvPr/>
        </p:nvCxnSpPr>
        <p:spPr>
          <a:xfrm flipV="1">
            <a:off x="5366103" y="4509120"/>
            <a:ext cx="1078105" cy="1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/>
          <p:cNvSpPr txBox="1"/>
          <p:nvPr/>
        </p:nvSpPr>
        <p:spPr>
          <a:xfrm>
            <a:off x="6444208" y="4324454"/>
            <a:ext cx="1569660" cy="36933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dirty="0"/>
              <a:t>顯示現在狀態</a:t>
            </a:r>
          </a:p>
        </p:txBody>
      </p:sp>
      <p:sp>
        <p:nvSpPr>
          <p:cNvPr id="14" name="矩形 13"/>
          <p:cNvSpPr/>
          <p:nvPr/>
        </p:nvSpPr>
        <p:spPr>
          <a:xfrm>
            <a:off x="4743373" y="5612658"/>
            <a:ext cx="648072" cy="3364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直線單箭頭接點 14"/>
          <p:cNvCxnSpPr>
            <a:endCxn id="16" idx="1"/>
          </p:cNvCxnSpPr>
          <p:nvPr/>
        </p:nvCxnSpPr>
        <p:spPr>
          <a:xfrm flipV="1">
            <a:off x="5366103" y="5710796"/>
            <a:ext cx="1078105" cy="1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/>
          <p:cNvSpPr txBox="1"/>
          <p:nvPr/>
        </p:nvSpPr>
        <p:spPr>
          <a:xfrm>
            <a:off x="6444208" y="5526130"/>
            <a:ext cx="1569660" cy="36933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dirty="0"/>
              <a:t>顯示現在狀態</a:t>
            </a:r>
          </a:p>
        </p:txBody>
      </p:sp>
    </p:spTree>
    <p:extLst>
      <p:ext uri="{BB962C8B-B14F-4D97-AF65-F5344CB8AC3E}">
        <p14:creationId xmlns:p14="http://schemas.microsoft.com/office/powerpoint/2010/main" val="3238556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altLang="zh-TW" dirty="0"/>
              <a:t>from </a:t>
            </a:r>
            <a:r>
              <a:rPr lang="en-US" altLang="zh-TW" dirty="0" err="1"/>
              <a:t>tkinter</a:t>
            </a:r>
            <a:r>
              <a:rPr lang="en-US" altLang="zh-TW" dirty="0"/>
              <a:t> import *</a:t>
            </a:r>
          </a:p>
          <a:p>
            <a:r>
              <a:rPr lang="en-US" altLang="zh-TW" dirty="0"/>
              <a:t>root = </a:t>
            </a:r>
            <a:r>
              <a:rPr lang="en-US" altLang="zh-TW" dirty="0" err="1"/>
              <a:t>Tk</a:t>
            </a:r>
            <a:r>
              <a:rPr lang="en-US" altLang="zh-TW" dirty="0"/>
              <a:t>()</a:t>
            </a:r>
          </a:p>
          <a:p>
            <a:r>
              <a:rPr lang="en-US" altLang="zh-TW" dirty="0"/>
              <a:t>e = </a:t>
            </a:r>
            <a:r>
              <a:rPr lang="en-US" altLang="zh-TW" dirty="0" err="1"/>
              <a:t>StringVar</a:t>
            </a:r>
            <a:r>
              <a:rPr lang="en-US" altLang="zh-TW" dirty="0"/>
              <a:t>()</a:t>
            </a:r>
          </a:p>
          <a:p>
            <a:r>
              <a:rPr lang="en-US" altLang="zh-TW" dirty="0"/>
              <a:t>v = </a:t>
            </a:r>
            <a:r>
              <a:rPr lang="en-US" altLang="zh-TW" dirty="0" err="1"/>
              <a:t>StringVar</a:t>
            </a:r>
            <a:r>
              <a:rPr lang="en-US" altLang="zh-TW" dirty="0"/>
              <a:t>()</a:t>
            </a:r>
          </a:p>
          <a:p>
            <a:r>
              <a:rPr lang="en-US" altLang="zh-TW" dirty="0" err="1"/>
              <a:t>v.set</a:t>
            </a:r>
            <a:r>
              <a:rPr lang="en-US" altLang="zh-TW" dirty="0"/>
              <a:t>("</a:t>
            </a:r>
            <a:r>
              <a:rPr lang="zh-TW" altLang="en-US" dirty="0"/>
              <a:t>顯示</a:t>
            </a:r>
            <a:r>
              <a:rPr lang="en-US" altLang="zh-TW" dirty="0"/>
              <a:t>")</a:t>
            </a:r>
          </a:p>
          <a:p>
            <a:r>
              <a:rPr lang="en-US" altLang="zh-TW" dirty="0"/>
              <a:t>count=0</a:t>
            </a:r>
          </a:p>
          <a:p>
            <a:r>
              <a:rPr lang="en-US" altLang="zh-TW" dirty="0" err="1"/>
              <a:t>def</a:t>
            </a:r>
            <a:r>
              <a:rPr lang="en-US" altLang="zh-TW" dirty="0"/>
              <a:t> </a:t>
            </a:r>
            <a:r>
              <a:rPr lang="en-US" altLang="zh-TW" dirty="0" err="1"/>
              <a:t>validateText</a:t>
            </a:r>
            <a:r>
              <a:rPr lang="en-US" altLang="zh-TW" dirty="0"/>
              <a:t>():</a:t>
            </a:r>
          </a:p>
          <a:p>
            <a:r>
              <a:rPr lang="en-US" altLang="zh-TW" dirty="0"/>
              <a:t>  global count</a:t>
            </a:r>
          </a:p>
          <a:p>
            <a:r>
              <a:rPr lang="en-US" altLang="zh-TW" dirty="0"/>
              <a:t>  if(count==0):</a:t>
            </a:r>
          </a:p>
          <a:p>
            <a:r>
              <a:rPr lang="en-US" altLang="zh-TW" dirty="0"/>
              <a:t>    count=1</a:t>
            </a:r>
          </a:p>
          <a:p>
            <a:r>
              <a:rPr lang="en-US" altLang="zh-TW" dirty="0"/>
              <a:t>    entry["show"] = "*"</a:t>
            </a:r>
          </a:p>
          <a:p>
            <a:r>
              <a:rPr lang="en-US" altLang="zh-TW" dirty="0"/>
              <a:t>    </a:t>
            </a:r>
            <a:r>
              <a:rPr lang="en-US" altLang="zh-TW" dirty="0" err="1"/>
              <a:t>v.set</a:t>
            </a:r>
            <a:r>
              <a:rPr lang="en-US" altLang="zh-TW" dirty="0"/>
              <a:t>("</a:t>
            </a:r>
            <a:r>
              <a:rPr lang="zh-TW" altLang="en-US" dirty="0"/>
              <a:t>不顯示</a:t>
            </a:r>
            <a:r>
              <a:rPr lang="en-US" altLang="zh-TW" dirty="0"/>
              <a:t>")</a:t>
            </a:r>
          </a:p>
          <a:p>
            <a:r>
              <a:rPr lang="en-US" altLang="zh-TW" dirty="0"/>
              <a:t>  else:</a:t>
            </a:r>
          </a:p>
          <a:p>
            <a:r>
              <a:rPr lang="en-US" altLang="zh-TW" dirty="0"/>
              <a:t>    count=0</a:t>
            </a:r>
          </a:p>
          <a:p>
            <a:r>
              <a:rPr lang="en-US" altLang="zh-TW" dirty="0"/>
              <a:t>    </a:t>
            </a:r>
            <a:r>
              <a:rPr lang="en-US" altLang="zh-TW" dirty="0" err="1"/>
              <a:t>entry.config</a:t>
            </a:r>
            <a:r>
              <a:rPr lang="en-US" altLang="zh-TW" dirty="0"/>
              <a:t>(show="");</a:t>
            </a:r>
          </a:p>
          <a:p>
            <a:r>
              <a:rPr lang="en-US" altLang="zh-TW" dirty="0"/>
              <a:t>    </a:t>
            </a:r>
            <a:r>
              <a:rPr lang="en-US" altLang="zh-TW" dirty="0" err="1"/>
              <a:t>v.set</a:t>
            </a:r>
            <a:r>
              <a:rPr lang="en-US" altLang="zh-TW" dirty="0"/>
              <a:t>("</a:t>
            </a:r>
            <a:r>
              <a:rPr lang="zh-TW" altLang="en-US" dirty="0"/>
              <a:t>顯示</a:t>
            </a:r>
            <a:r>
              <a:rPr lang="en-US" altLang="zh-TW" dirty="0"/>
              <a:t>")</a:t>
            </a:r>
          </a:p>
          <a:p>
            <a:r>
              <a:rPr lang="en-US" altLang="zh-TW" dirty="0"/>
              <a:t>  print (</a:t>
            </a:r>
            <a:r>
              <a:rPr lang="en-US" altLang="zh-TW" dirty="0" err="1"/>
              <a:t>entry.get</a:t>
            </a:r>
            <a:r>
              <a:rPr lang="en-US" altLang="zh-TW" dirty="0"/>
              <a:t>())</a:t>
            </a:r>
          </a:p>
          <a:p>
            <a:r>
              <a:rPr lang="en-US" altLang="zh-TW" dirty="0"/>
              <a:t>Button(root,</a:t>
            </a:r>
          </a:p>
          <a:p>
            <a:r>
              <a:rPr lang="en-US" altLang="zh-TW" dirty="0"/>
              <a:t>text = "</a:t>
            </a:r>
            <a:r>
              <a:rPr lang="zh-TW" altLang="en-US" dirty="0"/>
              <a:t>顯示</a:t>
            </a:r>
            <a:r>
              <a:rPr lang="en-US" altLang="zh-TW" dirty="0"/>
              <a:t>",</a:t>
            </a:r>
            <a:r>
              <a:rPr lang="en-US" altLang="zh-TW" dirty="0" err="1"/>
              <a:t>textvariable</a:t>
            </a:r>
            <a:r>
              <a:rPr lang="en-US" altLang="zh-TW" dirty="0"/>
              <a:t> = v,</a:t>
            </a:r>
          </a:p>
          <a:p>
            <a:r>
              <a:rPr lang="en-US" altLang="zh-TW" dirty="0"/>
              <a:t>command = </a:t>
            </a:r>
            <a:r>
              <a:rPr lang="en-US" altLang="zh-TW" dirty="0" err="1"/>
              <a:t>validateText</a:t>
            </a:r>
            <a:endParaRPr lang="en-US" altLang="zh-TW" dirty="0"/>
          </a:p>
          <a:p>
            <a:r>
              <a:rPr lang="en-US" altLang="zh-TW" dirty="0"/>
              <a:t>).pack()</a:t>
            </a:r>
          </a:p>
          <a:p>
            <a:r>
              <a:rPr lang="en-US" altLang="zh-TW" dirty="0"/>
              <a:t>entry = Entry(root,</a:t>
            </a:r>
          </a:p>
          <a:p>
            <a:r>
              <a:rPr lang="en-US" altLang="zh-TW" dirty="0"/>
              <a:t> </a:t>
            </a:r>
            <a:r>
              <a:rPr lang="en-US" altLang="zh-TW" dirty="0" err="1"/>
              <a:t>textvariable</a:t>
            </a:r>
            <a:r>
              <a:rPr lang="en-US" altLang="zh-TW" dirty="0"/>
              <a:t> = e)</a:t>
            </a:r>
          </a:p>
          <a:p>
            <a:r>
              <a:rPr lang="en-US" altLang="zh-TW" dirty="0" err="1"/>
              <a:t>entry.pack</a:t>
            </a:r>
            <a:r>
              <a:rPr lang="en-US" altLang="zh-TW" dirty="0"/>
              <a:t>()</a:t>
            </a:r>
          </a:p>
          <a:p>
            <a:r>
              <a:rPr lang="en-US" altLang="zh-TW" dirty="0" err="1"/>
              <a:t>root.mainloop</a:t>
            </a:r>
            <a:r>
              <a:rPr lang="en-US" altLang="zh-TW" dirty="0"/>
              <a:t>()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4469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圖釘">
  <a:themeElements>
    <a:clrScheme name="圖釘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圖釘">
      <a:majorFont>
        <a:latin typeface="Constantia"/>
        <a:ea typeface=""/>
        <a:cs typeface=""/>
        <a:font script="Jpan" typeface="HGS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Arial"/>
        <a:font script="Cyrl" typeface="Arial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圖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  <a:lumMod val="100000"/>
              </a:schemeClr>
            </a:gs>
            <a:gs pos="40000">
              <a:schemeClr val="phClr">
                <a:tint val="60000"/>
                <a:satMod val="130000"/>
                <a:lumMod val="100000"/>
              </a:schemeClr>
            </a:gs>
            <a:gs pos="100000">
              <a:schemeClr val="phClr">
                <a:tint val="96000"/>
                <a:lumMod val="108000"/>
              </a:schemeClr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>
                <a:shade val="76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80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38100" dir="4800000" sx="98000" sy="98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38100" dist="38100" dir="4800000" sx="96000" sy="96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3240000"/>
            </a:lightRig>
          </a:scene3d>
          <a:sp3d>
            <a:bevelT w="28575" h="28575"/>
          </a:sp3d>
        </a:effectStyle>
      </a:effectStyleLst>
      <a:bgFillStyleLst>
        <a:solidFill>
          <a:schemeClr val="phClr">
            <a:tint val="93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satMod val="140000"/>
                <a:lumMod val="50000"/>
              </a:schemeClr>
              <a:schemeClr val="phClr">
                <a:tint val="95000"/>
                <a:satMod val="180000"/>
                <a:lumMod val="16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  <a:shade val="90000"/>
                <a:satMod val="120000"/>
                <a:lumMod val="54000"/>
              </a:schemeClr>
              <a:schemeClr val="phClr">
                <a:tint val="80000"/>
                <a:satMod val="160000"/>
                <a:lumMod val="14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Pushpin</Template>
  <TotalTime>966</TotalTime>
  <Words>1812</Words>
  <Application>Microsoft Office PowerPoint</Application>
  <PresentationFormat>如螢幕大小 (4:3)</PresentationFormat>
  <Paragraphs>294</Paragraphs>
  <Slides>26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26</vt:i4>
      </vt:variant>
    </vt:vector>
  </HeadingPairs>
  <TitlesOfParts>
    <vt:vector size="35" baseType="lpstr">
      <vt:lpstr>微軟正黑體</vt:lpstr>
      <vt:lpstr>新細明體</vt:lpstr>
      <vt:lpstr>Brush Script MT</vt:lpstr>
      <vt:lpstr>Calibri</vt:lpstr>
      <vt:lpstr>Constantia</vt:lpstr>
      <vt:lpstr>Franklin Gothic Book</vt:lpstr>
      <vt:lpstr>Rage Italic</vt:lpstr>
      <vt:lpstr>Wingdings</vt:lpstr>
      <vt:lpstr>圖釘</vt:lpstr>
      <vt:lpstr>Entry組件</vt:lpstr>
      <vt:lpstr>學習目標</vt:lpstr>
      <vt:lpstr>建立一個Entry</vt:lpstr>
      <vt:lpstr>預設Entry中的字串</vt:lpstr>
      <vt:lpstr>預設Entry中的字串</vt:lpstr>
      <vt:lpstr>預設Entry中的字串</vt:lpstr>
      <vt:lpstr>預設Entry中的字串</vt:lpstr>
      <vt:lpstr>讀取Entry中的字串</vt:lpstr>
      <vt:lpstr>讀取Entry中的字串</vt:lpstr>
      <vt:lpstr>設定Entry為只能讀取</vt:lpstr>
      <vt:lpstr>設定Entry為只能讀取</vt:lpstr>
      <vt:lpstr>設定Entry為密碼輸入框</vt:lpstr>
      <vt:lpstr>設定Entry為密碼輸入框</vt:lpstr>
      <vt:lpstr>設定Entry為密碼輸入框</vt:lpstr>
      <vt:lpstr>驗證Entry中的內容</vt:lpstr>
      <vt:lpstr>驗證Entry中的內容</vt:lpstr>
      <vt:lpstr>PowerPoint 簡報</vt:lpstr>
      <vt:lpstr>Text組件</vt:lpstr>
      <vt:lpstr>Text組件</vt:lpstr>
      <vt:lpstr>Text組件</vt:lpstr>
      <vt:lpstr>Text搭配Scrollbar</vt:lpstr>
      <vt:lpstr>Text搭配Scrollbar</vt:lpstr>
      <vt:lpstr>資料來源</vt:lpstr>
      <vt:lpstr>作業</vt:lpstr>
      <vt:lpstr>作業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weng1</dc:creator>
  <cp:lastModifiedBy>user</cp:lastModifiedBy>
  <cp:revision>357</cp:revision>
  <dcterms:created xsi:type="dcterms:W3CDTF">2015-08-18T06:38:18Z</dcterms:created>
  <dcterms:modified xsi:type="dcterms:W3CDTF">2020-05-20T08:18:24Z</dcterms:modified>
</cp:coreProperties>
</file>