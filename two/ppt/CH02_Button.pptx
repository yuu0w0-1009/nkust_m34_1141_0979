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304" r:id="rId3"/>
    <p:sldId id="271" r:id="rId4"/>
    <p:sldId id="272" r:id="rId5"/>
    <p:sldId id="288" r:id="rId6"/>
    <p:sldId id="267" r:id="rId7"/>
    <p:sldId id="268" r:id="rId8"/>
    <p:sldId id="269" r:id="rId9"/>
    <p:sldId id="298" r:id="rId10"/>
    <p:sldId id="277" r:id="rId11"/>
    <p:sldId id="274" r:id="rId12"/>
    <p:sldId id="275" r:id="rId13"/>
    <p:sldId id="280" r:id="rId14"/>
    <p:sldId id="281" r:id="rId15"/>
    <p:sldId id="286" r:id="rId16"/>
    <p:sldId id="260" r:id="rId17"/>
    <p:sldId id="259" r:id="rId18"/>
    <p:sldId id="265" r:id="rId19"/>
    <p:sldId id="261" r:id="rId20"/>
    <p:sldId id="264" r:id="rId21"/>
    <p:sldId id="258" r:id="rId22"/>
    <p:sldId id="273" r:id="rId23"/>
    <p:sldId id="263" r:id="rId24"/>
    <p:sldId id="308" r:id="rId25"/>
    <p:sldId id="290" r:id="rId26"/>
    <p:sldId id="299" r:id="rId27"/>
    <p:sldId id="300" r:id="rId28"/>
    <p:sldId id="283" r:id="rId29"/>
    <p:sldId id="289" r:id="rId30"/>
    <p:sldId id="292" r:id="rId31"/>
    <p:sldId id="293" r:id="rId32"/>
    <p:sldId id="284" r:id="rId33"/>
    <p:sldId id="291" r:id="rId34"/>
    <p:sldId id="278" r:id="rId35"/>
    <p:sldId id="294" r:id="rId36"/>
    <p:sldId id="301" r:id="rId37"/>
    <p:sldId id="302" r:id="rId38"/>
    <p:sldId id="303" r:id="rId39"/>
    <p:sldId id="309" r:id="rId40"/>
    <p:sldId id="310" r:id="rId41"/>
    <p:sldId id="311" r:id="rId42"/>
    <p:sldId id="312" r:id="rId43"/>
    <p:sldId id="297" r:id="rId44"/>
    <p:sldId id="305" r:id="rId45"/>
    <p:sldId id="307" r:id="rId46"/>
    <p:sldId id="306" r:id="rId4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81699-69A6-452F-94A2-04B496C86193}" type="datetimeFigureOut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5B030-809D-4F61-94E6-0002C8946A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97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27AE2D2-A899-4222-B9E0-2F69355B53BC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192E-6208-4E27-A69B-DF41C22FD586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82997-9E3C-4301-9282-F0F92367602E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8171-A347-4DE4-88EE-D86B84DCD9DD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5533-66AC-48FB-8D23-2B4034A4DE38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48968-96BB-4BFF-A510-AD4037A29133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D790-731F-4A61-9FC7-05D45F6D1FAF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928DF2AF-5749-46D1-9AE0-D7EC8D4C4B64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A8F7E521-B9D8-4552-956E-0B4097B33FC4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7E005-3431-4CA6-99FE-DC8F94E06F88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12D6-09A4-4224-925F-508AFE4BDD81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0293653-15F7-4FC6-B79E-128EDD0C8141}" type="datetime1">
              <a:rPr lang="zh-TW" altLang="en-US" smtClean="0"/>
              <a:t>2021/3/10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csdn.net/a359680405/article/category/2799089/2" TargetMode="External"/><Relationship Id="rId2" Type="http://schemas.openxmlformats.org/officeDocument/2006/relationships/hyperlink" Target="http://pan.baidu.com/share/link?shareid=2190696726&amp;uk=338543583&amp;fid=714357500588689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組件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07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/>
              <a:t>本章節介紹</a:t>
            </a:r>
            <a:r>
              <a:rPr lang="en-US" altLang="zh-TW" dirty="0"/>
              <a:t>:</a:t>
            </a:r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建立一個</a:t>
            </a:r>
            <a:r>
              <a:rPr lang="en-US" altLang="zh-TW" sz="2400" dirty="0"/>
              <a:t>Button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sz="2400" dirty="0"/>
              <a:t>Button</a:t>
            </a:r>
            <a:r>
              <a:rPr lang="zh-TW" altLang="en-US" sz="2400" dirty="0"/>
              <a:t>外框效果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sz="2400" dirty="0"/>
              <a:t>Button</a:t>
            </a:r>
            <a:r>
              <a:rPr lang="zh-TW" altLang="en-US" sz="2400" dirty="0"/>
              <a:t>顯示字串與圖示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設定</a:t>
            </a:r>
            <a:r>
              <a:rPr lang="en-US" altLang="zh-TW" sz="2400" dirty="0"/>
              <a:t>Button</a:t>
            </a:r>
            <a:r>
              <a:rPr lang="zh-TW" altLang="en-US" sz="2400" dirty="0"/>
              <a:t>大小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設定</a:t>
            </a:r>
            <a:r>
              <a:rPr lang="en-US" altLang="zh-TW" sz="2400" dirty="0"/>
              <a:t>Button</a:t>
            </a:r>
            <a:r>
              <a:rPr lang="zh-TW" altLang="en-US" sz="2400" dirty="0"/>
              <a:t>顏色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sz="2400" dirty="0"/>
              <a:t>Button</a:t>
            </a:r>
            <a:r>
              <a:rPr lang="zh-TW" altLang="en-US" sz="2400" dirty="0"/>
              <a:t>元件放置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透過</a:t>
            </a:r>
            <a:r>
              <a:rPr lang="en-US" altLang="zh-TW" sz="2400" dirty="0"/>
              <a:t>Button</a:t>
            </a:r>
            <a:r>
              <a:rPr lang="zh-TW" altLang="en-US" sz="2400" dirty="0"/>
              <a:t>呼叫函式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設置</a:t>
            </a:r>
            <a:r>
              <a:rPr lang="en-US" altLang="zh-TW" sz="2400" dirty="0"/>
              <a:t>Button</a:t>
            </a:r>
            <a:r>
              <a:rPr lang="zh-TW" altLang="en-US" sz="2400" dirty="0"/>
              <a:t>字串位置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設置</a:t>
            </a:r>
            <a:r>
              <a:rPr lang="en-US" altLang="zh-TW" sz="2400" dirty="0"/>
              <a:t>Button</a:t>
            </a:r>
            <a:r>
              <a:rPr lang="zh-TW" altLang="en-US" sz="2400" dirty="0"/>
              <a:t>邊框粗細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設置</a:t>
            </a:r>
            <a:r>
              <a:rPr lang="en-US" altLang="zh-TW" sz="2400" dirty="0"/>
              <a:t>Button</a:t>
            </a:r>
            <a:r>
              <a:rPr lang="zh-TW" altLang="en-US" sz="2400" dirty="0"/>
              <a:t>狀態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sz="2400" dirty="0"/>
              <a:t>Button</a:t>
            </a:r>
            <a:r>
              <a:rPr lang="zh-TW" altLang="en-US" sz="2400" dirty="0"/>
              <a:t>動態顯示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sz="2400" dirty="0"/>
              <a:t>使</a:t>
            </a:r>
            <a:r>
              <a:rPr lang="en-US" altLang="zh-TW" sz="2400" dirty="0"/>
              <a:t>Button</a:t>
            </a:r>
            <a:r>
              <a:rPr lang="zh-TW" altLang="en-US" sz="2400" dirty="0"/>
              <a:t>消失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84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/>
              <a:t>Button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1: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</a:t>
            </a:r>
          </a:p>
          <a:p>
            <a:pPr marL="365760" lvl="1" indent="0">
              <a:buNone/>
            </a:pPr>
            <a:r>
              <a:rPr lang="en-US" altLang="zh-TW" dirty="0"/>
              <a:t>b1=Button(</a:t>
            </a:r>
            <a:r>
              <a:rPr lang="en-US" altLang="zh-TW" dirty="0" err="1"/>
              <a:t>root,text</a:t>
            </a:r>
            <a:r>
              <a:rPr lang="en-US" altLang="zh-TW" dirty="0"/>
              <a:t>="click!")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建立按鈕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b1.pack()</a:t>
            </a:r>
          </a:p>
          <a:p>
            <a:endParaRPr lang="en-US" altLang="zh-TW" dirty="0"/>
          </a:p>
          <a:p>
            <a:r>
              <a:rPr lang="zh-TW" altLang="en-US" dirty="0"/>
              <a:t>語法</a:t>
            </a:r>
            <a:r>
              <a:rPr lang="en-US" altLang="zh-TW" dirty="0"/>
              <a:t>2:</a:t>
            </a:r>
          </a:p>
          <a:p>
            <a:pPr marL="320040" lvl="2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設定顯示的字串且建立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sz="2000" dirty="0"/>
              <a:t>Button(</a:t>
            </a:r>
            <a:r>
              <a:rPr lang="en-US" altLang="zh-TW" sz="2000" dirty="0" err="1"/>
              <a:t>root,text</a:t>
            </a:r>
            <a:r>
              <a:rPr lang="en-US" altLang="zh-TW" dirty="0"/>
              <a:t>="click!").pack()</a:t>
            </a:r>
          </a:p>
          <a:p>
            <a:endParaRPr lang="en-US" altLang="zh-TW" dirty="0"/>
          </a:p>
          <a:p>
            <a:pPr marL="365760" lvl="1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93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/>
              <a:t>Button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1: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b1=Button(</a:t>
            </a:r>
            <a:r>
              <a:rPr lang="en-US" altLang="zh-TW" dirty="0" err="1"/>
              <a:t>root,text</a:t>
            </a:r>
            <a:r>
              <a:rPr lang="en-US" altLang="zh-TW" dirty="0"/>
              <a:t>="click!")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建立按鈕</a:t>
            </a:r>
          </a:p>
          <a:p>
            <a:pPr marL="365760" lvl="1" indent="0">
              <a:buNone/>
            </a:pPr>
            <a:r>
              <a:rPr lang="en-US" altLang="zh-TW" dirty="0"/>
              <a:t>b1.pack()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執行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5517232"/>
            <a:ext cx="12573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80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/>
              <a:t>Button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2: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</a:t>
            </a: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="click!").pack()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執行</a:t>
            </a:r>
          </a:p>
          <a:p>
            <a:endParaRPr lang="en-US" altLang="zh-TW" dirty="0"/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5517232"/>
            <a:ext cx="12573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45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外框效果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設定按鈕顯示字串與效果且建立按鈕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</a:t>
            </a:r>
            <a:r>
              <a:rPr lang="en-US" altLang="zh-TW" dirty="0" err="1"/>
              <a:t>click!",</a:t>
            </a:r>
            <a:r>
              <a:rPr lang="en-US" altLang="zh-TW" dirty="0" err="1">
                <a:solidFill>
                  <a:srgbClr val="00B050"/>
                </a:solidFill>
              </a:rPr>
              <a:t>relief</a:t>
            </a:r>
            <a:r>
              <a:rPr lang="en-US" altLang="zh-TW" dirty="0">
                <a:solidFill>
                  <a:srgbClr val="00B050"/>
                </a:solidFill>
              </a:rPr>
              <a:t>=FLAT</a:t>
            </a:r>
            <a:r>
              <a:rPr lang="en-US" altLang="zh-TW" dirty="0"/>
              <a:t>).pack()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4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外框效果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效果的指令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FLAT</a:t>
            </a:r>
          </a:p>
          <a:p>
            <a:pPr marL="822960" lvl="1" indent="-457200">
              <a:buFont typeface="+mj-lt"/>
              <a:buAutoNum type="arabicPeriod"/>
            </a:pP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GROOVE</a:t>
            </a:r>
          </a:p>
          <a:p>
            <a:pPr marL="822960" lvl="1" indent="-457200">
              <a:buFont typeface="+mj-lt"/>
              <a:buAutoNum type="arabicPeriod"/>
            </a:pP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RAISED</a:t>
            </a:r>
          </a:p>
          <a:p>
            <a:pPr marL="822960" lvl="1" indent="-457200">
              <a:buFont typeface="+mj-lt"/>
              <a:buAutoNum type="arabicPeriod"/>
            </a:pP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RIDGE</a:t>
            </a:r>
          </a:p>
          <a:p>
            <a:pPr marL="822960" lvl="1" indent="-457200">
              <a:buFont typeface="+mj-lt"/>
              <a:buAutoNum type="arabicPeriod"/>
            </a:pP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SOLID</a:t>
            </a:r>
          </a:p>
          <a:p>
            <a:pPr marL="822960" lvl="1" indent="-457200">
              <a:buFont typeface="+mj-lt"/>
              <a:buAutoNum type="arabicPeriod"/>
            </a:pP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SUNKEN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56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外框效果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設定顯示的字串與效果且建立按鈕</a:t>
            </a: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</a:t>
            </a:r>
            <a:r>
              <a:rPr lang="en-US" altLang="zh-TW" dirty="0" err="1"/>
              <a:t>click!",relief</a:t>
            </a:r>
            <a:r>
              <a:rPr lang="en-US" altLang="zh-TW" dirty="0"/>
              <a:t>=FLAT).pack()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執行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5517232"/>
            <a:ext cx="12573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56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Button</a:t>
            </a:r>
            <a:r>
              <a:rPr lang="zh-TW" altLang="en-US" dirty="0"/>
              <a:t>顯示字串與圖示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設定顯示的字串、圖示放置位置、圖示且建立按鈕</a:t>
            </a:r>
          </a:p>
          <a:p>
            <a:pPr marL="365760" lvl="1" indent="0">
              <a:buNone/>
            </a:pPr>
            <a:r>
              <a:rPr lang="en-US" altLang="zh-TW" sz="1400" dirty="0"/>
              <a:t>Button(</a:t>
            </a:r>
            <a:r>
              <a:rPr lang="en-US" altLang="zh-TW" sz="1400" dirty="0" err="1"/>
              <a:t>root,</a:t>
            </a:r>
            <a:r>
              <a:rPr lang="en-US" altLang="zh-TW" sz="1400" dirty="0" err="1">
                <a:solidFill>
                  <a:srgbClr val="00B050"/>
                </a:solidFill>
              </a:rPr>
              <a:t>text</a:t>
            </a:r>
            <a:r>
              <a:rPr lang="en-US" altLang="zh-TW" sz="1400" dirty="0">
                <a:solidFill>
                  <a:srgbClr val="00B050"/>
                </a:solidFill>
              </a:rPr>
              <a:t> = "</a:t>
            </a:r>
            <a:r>
              <a:rPr lang="en-US" altLang="zh-TW" sz="1400" dirty="0" err="1">
                <a:solidFill>
                  <a:srgbClr val="00B050"/>
                </a:solidFill>
              </a:rPr>
              <a:t>button",compound</a:t>
            </a:r>
            <a:r>
              <a:rPr lang="en-US" altLang="zh-TW" sz="1400" dirty="0">
                <a:solidFill>
                  <a:srgbClr val="00B050"/>
                </a:solidFill>
              </a:rPr>
              <a:t> = "</a:t>
            </a:r>
            <a:r>
              <a:rPr lang="en-US" altLang="zh-TW" sz="1400" dirty="0" err="1">
                <a:solidFill>
                  <a:srgbClr val="00B050"/>
                </a:solidFill>
              </a:rPr>
              <a:t>bottom",bitmap</a:t>
            </a:r>
            <a:r>
              <a:rPr lang="en-US" altLang="zh-TW" sz="1400" dirty="0">
                <a:solidFill>
                  <a:srgbClr val="00B050"/>
                </a:solidFill>
              </a:rPr>
              <a:t> = "error"</a:t>
            </a:r>
            <a:r>
              <a:rPr lang="en-US" altLang="zh-TW" sz="1400" dirty="0"/>
              <a:t>).pack()</a:t>
            </a:r>
          </a:p>
          <a:p>
            <a:endParaRPr lang="zh-TW" altLang="en-US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圖示顯示位置</a:t>
            </a:r>
            <a:r>
              <a:rPr lang="en-US" altLang="zh-TW" dirty="0"/>
              <a:t>(compound)</a:t>
            </a:r>
            <a:r>
              <a:rPr lang="zh-TW" altLang="en-US" dirty="0"/>
              <a:t>的指令</a:t>
            </a:r>
            <a:r>
              <a:rPr lang="zh-CN" altLang="en-US" dirty="0"/>
              <a:t>：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top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bottom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center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left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right</a:t>
            </a:r>
          </a:p>
          <a:p>
            <a:pPr marL="822960" lvl="1" indent="-457200"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190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顯示字串與圖示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其他可用圖示</a:t>
            </a:r>
            <a:r>
              <a:rPr lang="en-US" altLang="zh-TW" dirty="0"/>
              <a:t>(bitmap)</a:t>
            </a:r>
            <a:r>
              <a:rPr lang="zh-TW" altLang="en-US" dirty="0"/>
              <a:t>的指令</a:t>
            </a:r>
            <a:r>
              <a:rPr lang="zh-CN" altLang="en-US" dirty="0"/>
              <a:t>：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/>
              <a:t>error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/>
              <a:t>hourglass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info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err="1"/>
              <a:t>questhead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question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warning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gray12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gray25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gray50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gray75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038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顯示字串與圖示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400" dirty="0"/>
              <a:t>from </a:t>
            </a:r>
            <a:r>
              <a:rPr lang="en-US" altLang="zh-TW" sz="1400" dirty="0" err="1"/>
              <a:t>tkinter</a:t>
            </a:r>
            <a:r>
              <a:rPr lang="en-US" altLang="zh-TW" sz="1400" dirty="0"/>
              <a:t> import *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400" dirty="0"/>
              <a:t>root = </a:t>
            </a:r>
            <a:r>
              <a:rPr lang="en-US" altLang="zh-TW" sz="1400" dirty="0" err="1"/>
              <a:t>Tk</a:t>
            </a:r>
            <a:r>
              <a:rPr lang="en-US" altLang="zh-TW" sz="1400" dirty="0"/>
              <a:t>()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設定顯示的字串與圖示且建立按鈕</a:t>
            </a:r>
          </a:p>
          <a:p>
            <a:pPr marL="365760" lvl="1" indent="0">
              <a:buNone/>
            </a:pPr>
            <a:r>
              <a:rPr lang="en-US" altLang="zh-TW" sz="1400" dirty="0"/>
              <a:t>Button(</a:t>
            </a:r>
            <a:r>
              <a:rPr lang="en-US" altLang="zh-TW" sz="1400" dirty="0" err="1"/>
              <a:t>root,text</a:t>
            </a:r>
            <a:r>
              <a:rPr lang="en-US" altLang="zh-TW" sz="1400" dirty="0"/>
              <a:t> ="</a:t>
            </a:r>
            <a:r>
              <a:rPr lang="en-US" altLang="zh-TW" sz="1400" dirty="0" err="1"/>
              <a:t>botton</a:t>
            </a:r>
            <a:r>
              <a:rPr lang="en-US" altLang="zh-TW" sz="1400" dirty="0"/>
              <a:t>",compound = "</a:t>
            </a:r>
            <a:r>
              <a:rPr lang="en-US" altLang="zh-TW" sz="1400" dirty="0" err="1"/>
              <a:t>bottom",bitmap</a:t>
            </a:r>
            <a:r>
              <a:rPr lang="en-US" altLang="zh-TW" sz="1400" dirty="0"/>
              <a:t> = "question").pack()</a:t>
            </a:r>
          </a:p>
          <a:p>
            <a:pPr marL="365760" lvl="1" indent="0">
              <a:buNone/>
            </a:pPr>
            <a:r>
              <a:rPr lang="en-US" altLang="zh-TW" sz="1400" dirty="0" err="1"/>
              <a:t>root.mainloop</a:t>
            </a:r>
            <a:r>
              <a:rPr lang="en-US" altLang="zh-TW" sz="1400" dirty="0"/>
              <a:t>()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執行</a:t>
            </a:r>
          </a:p>
          <a:p>
            <a:endParaRPr lang="en-US" altLang="zh-TW" dirty="0"/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5157192"/>
            <a:ext cx="12573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80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Button</a:t>
            </a:r>
            <a:r>
              <a:rPr lang="zh-TW" altLang="en-US" dirty="0"/>
              <a:t>大小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#</a:t>
            </a:r>
            <a:r>
              <a:rPr lang="zh-TW" altLang="en-US" sz="1800" dirty="0">
                <a:solidFill>
                  <a:srgbClr val="FF0000"/>
                </a:solidFill>
              </a:rPr>
              <a:t>設定顯示的字串與按鈕大小且建立按鈕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800" dirty="0"/>
              <a:t>Button(</a:t>
            </a:r>
            <a:r>
              <a:rPr lang="en-US" altLang="zh-TW" sz="1800" dirty="0" err="1"/>
              <a:t>root,text</a:t>
            </a:r>
            <a:r>
              <a:rPr lang="en-US" altLang="zh-TW" sz="1800" dirty="0"/>
              <a:t> ="</a:t>
            </a:r>
            <a:r>
              <a:rPr lang="en-US" altLang="zh-TW" sz="1800" dirty="0" err="1"/>
              <a:t>botton</a:t>
            </a:r>
            <a:r>
              <a:rPr lang="en-US" altLang="zh-TW" sz="1800" dirty="0"/>
              <a:t>",</a:t>
            </a:r>
            <a:r>
              <a:rPr lang="en-US" altLang="zh-TW" sz="1800" dirty="0">
                <a:solidFill>
                  <a:srgbClr val="00B050"/>
                </a:solidFill>
              </a:rPr>
              <a:t>width = 10,height = 2</a:t>
            </a:r>
            <a:r>
              <a:rPr lang="en-US" altLang="zh-TW" sz="1800" dirty="0"/>
              <a:t>).pack()</a:t>
            </a:r>
            <a:endParaRPr lang="zh-TW" altLang="en-US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80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Button</a:t>
            </a:r>
            <a:r>
              <a:rPr lang="zh-TW" altLang="en-US" dirty="0"/>
              <a:t>大小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900" dirty="0"/>
              <a:t>from </a:t>
            </a:r>
            <a:r>
              <a:rPr lang="en-US" altLang="zh-TW" sz="1900" dirty="0" err="1"/>
              <a:t>tkinter</a:t>
            </a:r>
            <a:r>
              <a:rPr lang="en-US" altLang="zh-TW" sz="1900" dirty="0"/>
              <a:t> import *</a:t>
            </a: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900" dirty="0"/>
              <a:t>root = </a:t>
            </a:r>
            <a:r>
              <a:rPr lang="en-US" altLang="zh-TW" sz="1900" dirty="0" err="1"/>
              <a:t>Tk</a:t>
            </a:r>
            <a:r>
              <a:rPr lang="en-US" altLang="zh-TW" sz="1900" dirty="0"/>
              <a:t>()</a:t>
            </a: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設定顯示的字串與按鈕大小且建立按鈕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900" dirty="0"/>
              <a:t>Button(</a:t>
            </a:r>
            <a:r>
              <a:rPr lang="en-US" altLang="zh-TW" sz="1900" dirty="0" err="1"/>
              <a:t>root,text</a:t>
            </a:r>
            <a:r>
              <a:rPr lang="en-US" altLang="zh-TW" sz="1900" dirty="0"/>
              <a:t> ="</a:t>
            </a:r>
            <a:r>
              <a:rPr lang="en-US" altLang="zh-TW" sz="1900" dirty="0" err="1"/>
              <a:t>botton</a:t>
            </a:r>
            <a:r>
              <a:rPr lang="en-US" altLang="zh-TW" sz="1900" dirty="0"/>
              <a:t>",width = 10,height = 2).pack()</a:t>
            </a:r>
          </a:p>
          <a:p>
            <a:pPr marL="365760" lvl="1" indent="0">
              <a:buNone/>
            </a:pP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設定視窗大小</a:t>
            </a:r>
            <a:r>
              <a:rPr lang="en-US" altLang="zh-TW" sz="1900" dirty="0">
                <a:solidFill>
                  <a:srgbClr val="FF0000"/>
                </a:solidFill>
              </a:rPr>
              <a:t>+</a:t>
            </a:r>
            <a:r>
              <a:rPr lang="zh-TW" altLang="en-US" sz="1900" dirty="0">
                <a:solidFill>
                  <a:srgbClr val="FF0000"/>
                </a:solidFill>
              </a:rPr>
              <a:t>視窗放置的水平座標</a:t>
            </a:r>
            <a:r>
              <a:rPr lang="en-US" altLang="zh-TW" sz="1900" dirty="0">
                <a:solidFill>
                  <a:srgbClr val="FF0000"/>
                </a:solidFill>
              </a:rPr>
              <a:t>+</a:t>
            </a:r>
            <a:r>
              <a:rPr lang="zh-TW" altLang="en-US" sz="1900" dirty="0">
                <a:solidFill>
                  <a:srgbClr val="FF0000"/>
                </a:solidFill>
              </a:rPr>
              <a:t>視窗放置的垂直座標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900" dirty="0" err="1"/>
              <a:t>root.geometry</a:t>
            </a:r>
            <a:r>
              <a:rPr lang="en-US" altLang="zh-TW" sz="1900" dirty="0"/>
              <a:t>("250x100+1000+0")</a:t>
            </a:r>
          </a:p>
          <a:p>
            <a:pPr marL="365760" lvl="1" indent="0">
              <a:buNone/>
            </a:pPr>
            <a:r>
              <a:rPr lang="en-US" altLang="zh-TW" sz="1900" dirty="0" err="1"/>
              <a:t>root.mainloop</a:t>
            </a:r>
            <a:r>
              <a:rPr lang="en-US" altLang="zh-TW" sz="1900" dirty="0"/>
              <a:t>()</a:t>
            </a: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執行</a:t>
            </a:r>
            <a:endParaRPr lang="en-US" altLang="zh-TW" sz="1900" dirty="0">
              <a:solidFill>
                <a:srgbClr val="FF0000"/>
              </a:solidFill>
            </a:endParaRP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373216"/>
            <a:ext cx="1897480" cy="984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22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Button</a:t>
            </a:r>
            <a:r>
              <a:rPr lang="zh-TW" altLang="en-US" dirty="0"/>
              <a:t>顏色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設定顯示的字串、按鈕大小、背景顏色、前景顏色且建立按鈕</a:t>
            </a:r>
          </a:p>
          <a:p>
            <a:pPr marL="365760" lvl="1" indent="0">
              <a:buNone/>
            </a:pPr>
            <a:r>
              <a:rPr lang="en-US" altLang="zh-TW" sz="1200" dirty="0"/>
              <a:t>Button(</a:t>
            </a:r>
            <a:r>
              <a:rPr lang="en-US" altLang="zh-TW" sz="1200" dirty="0" err="1"/>
              <a:t>root,text</a:t>
            </a:r>
            <a:r>
              <a:rPr lang="en-US" altLang="zh-TW" sz="1200" dirty="0"/>
              <a:t> ="</a:t>
            </a:r>
            <a:r>
              <a:rPr lang="en-US" altLang="zh-TW" sz="1200" dirty="0" err="1"/>
              <a:t>botton</a:t>
            </a:r>
            <a:r>
              <a:rPr lang="en-US" altLang="zh-TW" sz="1200" dirty="0"/>
              <a:t>",width = 10,height = 2,</a:t>
            </a:r>
            <a:r>
              <a:rPr lang="en-US" altLang="zh-TW" sz="1200" dirty="0">
                <a:solidFill>
                  <a:srgbClr val="00B050"/>
                </a:solidFill>
              </a:rPr>
              <a:t>bg="black",</a:t>
            </a:r>
            <a:r>
              <a:rPr lang="en-US" altLang="zh-TW" sz="1200" dirty="0" err="1">
                <a:solidFill>
                  <a:srgbClr val="00B050"/>
                </a:solidFill>
              </a:rPr>
              <a:t>fg</a:t>
            </a:r>
            <a:r>
              <a:rPr lang="en-US" altLang="zh-TW" sz="1200" dirty="0">
                <a:solidFill>
                  <a:srgbClr val="00B050"/>
                </a:solidFill>
              </a:rPr>
              <a:t>="white"</a:t>
            </a:r>
            <a:r>
              <a:rPr lang="en-US" altLang="zh-TW" sz="1200" dirty="0"/>
              <a:t>).pack()</a:t>
            </a:r>
            <a:endParaRPr lang="zh-TW" altLang="en-US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2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Button</a:t>
            </a:r>
            <a:r>
              <a:rPr lang="zh-TW" altLang="en-US" dirty="0"/>
              <a:t>顏色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200" dirty="0"/>
              <a:t>from </a:t>
            </a:r>
            <a:r>
              <a:rPr lang="en-US" altLang="zh-TW" sz="1200" dirty="0" err="1"/>
              <a:t>tkinter</a:t>
            </a:r>
            <a:r>
              <a:rPr lang="en-US" altLang="zh-TW" sz="1200" dirty="0"/>
              <a:t> import *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200" dirty="0"/>
              <a:t>root = </a:t>
            </a:r>
            <a:r>
              <a:rPr lang="en-US" altLang="zh-TW" sz="1200" dirty="0" err="1"/>
              <a:t>Tk</a:t>
            </a:r>
            <a:r>
              <a:rPr lang="en-US" altLang="zh-TW" sz="1200" dirty="0"/>
              <a:t>()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設定顯示的字串、按鈕大小與按鍵顏色且建立按鈕</a:t>
            </a:r>
          </a:p>
          <a:p>
            <a:pPr marL="365760" lvl="1" indent="0">
              <a:buNone/>
            </a:pPr>
            <a:r>
              <a:rPr lang="en-US" altLang="zh-TW" sz="1200" dirty="0"/>
              <a:t>Button(</a:t>
            </a:r>
            <a:r>
              <a:rPr lang="en-US" altLang="zh-TW" sz="1200" dirty="0" err="1"/>
              <a:t>root,text</a:t>
            </a:r>
            <a:r>
              <a:rPr lang="en-US" altLang="zh-TW" sz="1200" dirty="0"/>
              <a:t> ="</a:t>
            </a:r>
            <a:r>
              <a:rPr lang="en-US" altLang="zh-TW" sz="1200" dirty="0" err="1"/>
              <a:t>botton</a:t>
            </a:r>
            <a:r>
              <a:rPr lang="en-US" altLang="zh-TW" sz="1200" dirty="0"/>
              <a:t>",width = 10,height = 2,bg="black",</a:t>
            </a:r>
            <a:r>
              <a:rPr lang="en-US" altLang="zh-TW" sz="1200" dirty="0" err="1"/>
              <a:t>fg</a:t>
            </a:r>
            <a:r>
              <a:rPr lang="en-US" altLang="zh-TW" sz="1200" dirty="0"/>
              <a:t>="white").pack()</a:t>
            </a:r>
          </a:p>
          <a:p>
            <a:pPr marL="365760" lvl="1" indent="0">
              <a:buNone/>
            </a:pP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設定視窗大小</a:t>
            </a:r>
          </a:p>
          <a:p>
            <a:pPr marL="365760" lvl="1" indent="0">
              <a:buNone/>
            </a:pPr>
            <a:r>
              <a:rPr lang="en-US" altLang="zh-TW" sz="1200" dirty="0" err="1"/>
              <a:t>root.geometry</a:t>
            </a:r>
            <a:r>
              <a:rPr lang="en-US" altLang="zh-TW" sz="1200" dirty="0"/>
              <a:t>("250x100+1000+0")</a:t>
            </a:r>
          </a:p>
          <a:p>
            <a:pPr marL="365760" lvl="1" indent="0">
              <a:buNone/>
            </a:pPr>
            <a:r>
              <a:rPr lang="en-US" altLang="zh-TW" sz="1200" dirty="0" err="1"/>
              <a:t>root.mainloop</a:t>
            </a:r>
            <a:r>
              <a:rPr lang="en-US" altLang="zh-TW" sz="1200" dirty="0"/>
              <a:t>()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執行</a:t>
            </a:r>
            <a:endParaRPr lang="en-US" altLang="zh-TW" sz="2000" dirty="0">
              <a:solidFill>
                <a:srgbClr val="FF0000"/>
              </a:solidFill>
            </a:endParaRP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581128"/>
            <a:ext cx="253365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681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元件放置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以下範例，介紹如何建立一個</a:t>
            </a:r>
            <a:r>
              <a:rPr lang="en-US" altLang="zh-TW" dirty="0"/>
              <a:t>Button</a:t>
            </a:r>
            <a:r>
              <a:rPr lang="zh-TW" altLang="en-US" dirty="0"/>
              <a:t>按鈕，您可以透過</a:t>
            </a:r>
            <a:r>
              <a:rPr lang="en-US" altLang="zh-TW" dirty="0"/>
              <a:t>pack()</a:t>
            </a:r>
            <a:r>
              <a:rPr lang="zh-TW" altLang="en-US" dirty="0"/>
              <a:t>方法，設定按鈕靠上、下、左、右其中一邊對齊。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建立按鈕且靠左對齊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="click </a:t>
            </a:r>
            <a:r>
              <a:rPr lang="en-US" altLang="zh-TW" dirty="0" err="1"/>
              <a:t>me!",width</a:t>
            </a:r>
            <a:r>
              <a:rPr lang="en-US" altLang="zh-TW" dirty="0"/>
              <a:t>=10).pack(</a:t>
            </a:r>
            <a:r>
              <a:rPr lang="en-US" altLang="zh-TW" dirty="0">
                <a:solidFill>
                  <a:srgbClr val="00B050"/>
                </a:solidFill>
              </a:rPr>
              <a:t>side="left"</a:t>
            </a:r>
            <a:r>
              <a:rPr lang="en-US" altLang="zh-TW" dirty="0"/>
              <a:t>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##</a:t>
            </a:r>
            <a:r>
              <a:rPr lang="zh-TW" altLang="en-US" dirty="0">
                <a:solidFill>
                  <a:srgbClr val="FF0000"/>
                </a:solidFill>
              </a:rPr>
              <a:t>靠右對齊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="click </a:t>
            </a:r>
            <a:r>
              <a:rPr lang="en-US" altLang="zh-TW" dirty="0" err="1"/>
              <a:t>me!",width</a:t>
            </a:r>
            <a:r>
              <a:rPr lang="en-US" altLang="zh-TW" dirty="0"/>
              <a:t>=10).pack(</a:t>
            </a:r>
            <a:r>
              <a:rPr lang="en-US" altLang="zh-TW" dirty="0">
                <a:solidFill>
                  <a:srgbClr val="00B050"/>
                </a:solidFill>
              </a:rPr>
              <a:t>side=" right "</a:t>
            </a:r>
            <a:r>
              <a:rPr lang="en-US" altLang="zh-TW" dirty="0"/>
              <a:t>)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靠上對齊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="click </a:t>
            </a:r>
            <a:r>
              <a:rPr lang="en-US" altLang="zh-TW" dirty="0" err="1"/>
              <a:t>me!",width</a:t>
            </a:r>
            <a:r>
              <a:rPr lang="en-US" altLang="zh-TW" dirty="0"/>
              <a:t>=10).pack(</a:t>
            </a:r>
            <a:r>
              <a:rPr lang="en-US" altLang="zh-TW" dirty="0">
                <a:solidFill>
                  <a:srgbClr val="00B050"/>
                </a:solidFill>
              </a:rPr>
              <a:t>side=" top "</a:t>
            </a:r>
            <a:r>
              <a:rPr lang="en-US" altLang="zh-TW" dirty="0"/>
              <a:t>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靠下對齊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="click </a:t>
            </a:r>
            <a:r>
              <a:rPr lang="en-US" altLang="zh-TW" dirty="0" err="1"/>
              <a:t>me!",width</a:t>
            </a:r>
            <a:r>
              <a:rPr lang="en-US" altLang="zh-TW" dirty="0"/>
              <a:t>=10).pack(</a:t>
            </a:r>
            <a:r>
              <a:rPr lang="en-US" altLang="zh-TW" dirty="0">
                <a:solidFill>
                  <a:srgbClr val="00B050"/>
                </a:solidFill>
              </a:rPr>
              <a:t>side=" bottom "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300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元件放置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1:</a:t>
            </a:r>
          </a:p>
          <a:p>
            <a:pPr marL="365760" lvl="1" indent="0">
              <a:buNone/>
            </a:pPr>
            <a:r>
              <a:rPr lang="en-US" altLang="zh-TW" sz="1900" dirty="0"/>
              <a:t>from </a:t>
            </a:r>
            <a:r>
              <a:rPr lang="en-US" altLang="zh-TW" sz="1900" dirty="0" err="1"/>
              <a:t>tkinter</a:t>
            </a:r>
            <a:r>
              <a:rPr lang="en-US" altLang="zh-TW" sz="1900" dirty="0"/>
              <a:t> import *</a:t>
            </a: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載入函式庫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900" dirty="0"/>
              <a:t>root = </a:t>
            </a:r>
            <a:r>
              <a:rPr lang="en-US" altLang="zh-TW" sz="1900" dirty="0" err="1"/>
              <a:t>Tk</a:t>
            </a:r>
            <a:r>
              <a:rPr lang="en-US" altLang="zh-TW" sz="1900" dirty="0"/>
              <a:t>()</a:t>
            </a: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建立一個視窗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900" dirty="0" err="1"/>
              <a:t>root.title</a:t>
            </a:r>
            <a:r>
              <a:rPr lang="en-US" altLang="zh-TW" sz="1900" dirty="0"/>
              <a:t>("</a:t>
            </a:r>
            <a:r>
              <a:rPr lang="zh-TW" altLang="en-US" sz="1900" dirty="0"/>
              <a:t>新視窗</a:t>
            </a:r>
            <a:r>
              <a:rPr lang="en-US" altLang="zh-TW" sz="1900" dirty="0"/>
              <a:t>")</a:t>
            </a: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設定視窗名稱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設定顯示的字串、按鈕大小、靠左對齊且建立按鈕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900" dirty="0"/>
              <a:t>Button(</a:t>
            </a:r>
            <a:r>
              <a:rPr lang="en-US" altLang="zh-TW" sz="1900" dirty="0" err="1"/>
              <a:t>root,text</a:t>
            </a:r>
            <a:r>
              <a:rPr lang="en-US" altLang="zh-TW" sz="1900" dirty="0"/>
              <a:t>="click </a:t>
            </a:r>
            <a:r>
              <a:rPr lang="en-US" altLang="zh-TW" sz="1900" dirty="0" err="1"/>
              <a:t>me!",width</a:t>
            </a:r>
            <a:r>
              <a:rPr lang="en-US" altLang="zh-TW" sz="1900" dirty="0"/>
              <a:t>=10).pack(side="left")</a:t>
            </a:r>
          </a:p>
          <a:p>
            <a:pPr marL="274320" lvl="2" indent="0">
              <a:buNone/>
            </a:pP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en-US" altLang="zh-TW" sz="1900" dirty="0" err="1">
                <a:solidFill>
                  <a:srgbClr val="FF0000"/>
                </a:solidFill>
              </a:rPr>
              <a:t>root.geometry</a:t>
            </a:r>
            <a:r>
              <a:rPr lang="en-US" altLang="zh-TW" sz="1900" dirty="0">
                <a:solidFill>
                  <a:srgbClr val="FF0000"/>
                </a:solidFill>
              </a:rPr>
              <a:t>("</a:t>
            </a:r>
            <a:r>
              <a:rPr lang="zh-TW" altLang="en-US" sz="1900" dirty="0">
                <a:solidFill>
                  <a:srgbClr val="FF0000"/>
                </a:solidFill>
              </a:rPr>
              <a:t>長度</a:t>
            </a:r>
            <a:r>
              <a:rPr lang="en-US" altLang="zh-TW" sz="1900" dirty="0">
                <a:solidFill>
                  <a:srgbClr val="FF0000"/>
                </a:solidFill>
              </a:rPr>
              <a:t>x</a:t>
            </a:r>
            <a:r>
              <a:rPr lang="zh-TW" altLang="en-US" sz="1900" dirty="0">
                <a:solidFill>
                  <a:srgbClr val="FF0000"/>
                </a:solidFill>
              </a:rPr>
              <a:t>寬度</a:t>
            </a:r>
            <a:r>
              <a:rPr lang="en-US" altLang="zh-TW" sz="1900" dirty="0">
                <a:solidFill>
                  <a:srgbClr val="FF0000"/>
                </a:solidFill>
              </a:rPr>
              <a:t>+</a:t>
            </a:r>
            <a:r>
              <a:rPr lang="zh-TW" altLang="en-US" sz="1900" dirty="0">
                <a:solidFill>
                  <a:srgbClr val="FF0000"/>
                </a:solidFill>
              </a:rPr>
              <a:t>視窗放置的水平座標</a:t>
            </a:r>
            <a:r>
              <a:rPr lang="en-US" altLang="zh-TW" sz="1900" dirty="0">
                <a:solidFill>
                  <a:srgbClr val="FF0000"/>
                </a:solidFill>
              </a:rPr>
              <a:t>+</a:t>
            </a:r>
            <a:r>
              <a:rPr lang="zh-TW" altLang="en-US" sz="1900" dirty="0">
                <a:solidFill>
                  <a:srgbClr val="FF0000"/>
                </a:solidFill>
              </a:rPr>
              <a:t>視窗放置的垂直座標</a:t>
            </a:r>
            <a:r>
              <a:rPr lang="en-US" altLang="zh-TW" sz="1900" dirty="0">
                <a:solidFill>
                  <a:srgbClr val="FF0000"/>
                </a:solidFill>
              </a:rPr>
              <a:t>")</a:t>
            </a:r>
          </a:p>
          <a:p>
            <a:pPr marL="365760" lvl="1" indent="0">
              <a:buNone/>
            </a:pPr>
            <a:r>
              <a:rPr lang="en-US" altLang="zh-TW" sz="1900" dirty="0" err="1"/>
              <a:t>root.geometry</a:t>
            </a:r>
            <a:r>
              <a:rPr lang="en-US" altLang="zh-TW" sz="1900" dirty="0"/>
              <a:t>("450x300+1000+0") </a:t>
            </a:r>
          </a:p>
          <a:p>
            <a:pPr marL="365760" lvl="1" indent="0">
              <a:buNone/>
            </a:pPr>
            <a:r>
              <a:rPr lang="en-US" altLang="zh-TW" sz="1900" dirty="0" err="1"/>
              <a:t>root.mainloop</a:t>
            </a:r>
            <a:r>
              <a:rPr lang="en-US" altLang="zh-TW" sz="1900" dirty="0"/>
              <a:t>()</a:t>
            </a:r>
            <a:r>
              <a:rPr lang="en-US" altLang="zh-TW" sz="1900" dirty="0">
                <a:solidFill>
                  <a:srgbClr val="FF0000"/>
                </a:solidFill>
              </a:rPr>
              <a:t>#</a:t>
            </a:r>
            <a:r>
              <a:rPr lang="zh-TW" altLang="en-US" sz="1900" dirty="0">
                <a:solidFill>
                  <a:srgbClr val="FF0000"/>
                </a:solidFill>
              </a:rPr>
              <a:t>執行</a:t>
            </a:r>
            <a:endParaRPr lang="en-US" altLang="zh-TW" sz="1900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9003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元件放置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140968"/>
            <a:ext cx="3148045" cy="228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125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元件放置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2: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dirty="0" err="1"/>
              <a:t>root.title</a:t>
            </a:r>
            <a:r>
              <a:rPr lang="en-US" altLang="zh-TW" dirty="0"/>
              <a:t>("</a:t>
            </a:r>
            <a:r>
              <a:rPr lang="zh-TW" altLang="en-US" dirty="0"/>
              <a:t>新視窗</a:t>
            </a:r>
            <a:r>
              <a:rPr lang="en-US" altLang="zh-TW" dirty="0"/>
              <a:t>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設定視窗名稱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設定顯示的字串、按鈕大小、</a:t>
            </a:r>
            <a:r>
              <a:rPr lang="zh-TW" altLang="en-US" sz="2400" dirty="0">
                <a:solidFill>
                  <a:srgbClr val="FF0000"/>
                </a:solidFill>
              </a:rPr>
              <a:t>靠左對齊且建立按鈕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</a:t>
            </a:r>
            <a:r>
              <a:rPr lang="en-US" altLang="zh-TW" dirty="0" err="1"/>
              <a:t>YES!",width</a:t>
            </a:r>
            <a:r>
              <a:rPr lang="en-US" altLang="zh-TW" dirty="0"/>
              <a:t>=10).pack(side="left")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設定顯示的字串、按鈕大小、</a:t>
            </a:r>
            <a:r>
              <a:rPr lang="zh-TW" altLang="en-US" sz="2400" dirty="0">
                <a:solidFill>
                  <a:srgbClr val="FF0000"/>
                </a:solidFill>
              </a:rPr>
              <a:t>靠右對齊且建立按鈕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</a:t>
            </a:r>
            <a:r>
              <a:rPr lang="en-US" altLang="zh-TW" dirty="0" err="1"/>
              <a:t>NO!",width</a:t>
            </a:r>
            <a:r>
              <a:rPr lang="en-US" altLang="zh-TW" dirty="0"/>
              <a:t>=10).pack(side="right")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root.geometry</a:t>
            </a:r>
            <a:r>
              <a:rPr lang="en-US" altLang="zh-TW" dirty="0">
                <a:solidFill>
                  <a:srgbClr val="FF0000"/>
                </a:solidFill>
              </a:rPr>
              <a:t>("</a:t>
            </a:r>
            <a:r>
              <a:rPr lang="zh-TW" altLang="en-US" dirty="0">
                <a:solidFill>
                  <a:srgbClr val="FF0000"/>
                </a:solidFill>
              </a:rPr>
              <a:t>長度</a:t>
            </a:r>
            <a:r>
              <a:rPr lang="en-US" altLang="zh-TW" dirty="0">
                <a:solidFill>
                  <a:srgbClr val="FF0000"/>
                </a:solidFill>
              </a:rPr>
              <a:t>x</a:t>
            </a:r>
            <a:r>
              <a:rPr lang="zh-TW" altLang="en-US" dirty="0">
                <a:solidFill>
                  <a:srgbClr val="FF0000"/>
                </a:solidFill>
              </a:rPr>
              <a:t>寬度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zh-TW" altLang="en-US" dirty="0">
                <a:solidFill>
                  <a:srgbClr val="FF0000"/>
                </a:solidFill>
              </a:rPr>
              <a:t>視窗放置的水平座標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zh-TW" altLang="en-US" dirty="0">
                <a:solidFill>
                  <a:srgbClr val="FF0000"/>
                </a:solidFill>
              </a:rPr>
              <a:t>視窗放置的垂直座標</a:t>
            </a:r>
            <a:r>
              <a:rPr lang="en-US" altLang="zh-TW" dirty="0">
                <a:solidFill>
                  <a:srgbClr val="FF0000"/>
                </a:solidFill>
              </a:rPr>
              <a:t>")</a:t>
            </a:r>
          </a:p>
          <a:p>
            <a:pPr marL="365760" lvl="1" indent="0">
              <a:buNone/>
            </a:pPr>
            <a:r>
              <a:rPr lang="en-US" altLang="zh-TW" dirty="0" err="1"/>
              <a:t>root.geometry</a:t>
            </a:r>
            <a:r>
              <a:rPr lang="en-US" altLang="zh-TW" dirty="0"/>
              <a:t>("300x100+1000+0") 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執行</a:t>
            </a:r>
          </a:p>
          <a:p>
            <a:pPr marL="0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515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元件放置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924944"/>
            <a:ext cx="30099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262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以上範例，只有建立元件，沒有任何功能，以下範例，介紹如何搭配</a:t>
            </a:r>
            <a:r>
              <a:rPr lang="en-US" altLang="zh-TW" dirty="0"/>
              <a:t>command</a:t>
            </a:r>
            <a:r>
              <a:rPr lang="zh-TW" altLang="en-US"/>
              <a:t>參數，呼叫函式，達到</a:t>
            </a:r>
            <a:r>
              <a:rPr lang="zh-TW" altLang="en-US" dirty="0"/>
              <a:t>您的使用目的。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114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透過</a:t>
            </a:r>
            <a:r>
              <a:rPr lang="en-US" altLang="zh-TW" dirty="0"/>
              <a:t>Button</a:t>
            </a:r>
            <a:r>
              <a:rPr lang="zh-TW" altLang="en-US" dirty="0"/>
              <a:t>呼叫函式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將被呼叫的函式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400" dirty="0" err="1"/>
              <a:t>def</a:t>
            </a:r>
            <a:r>
              <a:rPr lang="en-US" altLang="zh-TW" sz="1400" dirty="0"/>
              <a:t> b1_function ():</a:t>
            </a:r>
          </a:p>
          <a:p>
            <a:pPr marL="365760" lvl="1" indent="0">
              <a:buNone/>
            </a:pPr>
            <a:r>
              <a:rPr lang="en-US" altLang="zh-TW" sz="1400" dirty="0"/>
              <a:t>    print("YES") </a:t>
            </a: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呼叫指定函式且建立按鈕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400" dirty="0"/>
              <a:t>Button(</a:t>
            </a:r>
            <a:r>
              <a:rPr lang="en-US" altLang="zh-TW" sz="1400" dirty="0" err="1"/>
              <a:t>root,text</a:t>
            </a:r>
            <a:r>
              <a:rPr lang="en-US" altLang="zh-TW" sz="1400" dirty="0"/>
              <a:t>="</a:t>
            </a:r>
            <a:r>
              <a:rPr lang="en-US" altLang="zh-TW" sz="1400" dirty="0" err="1"/>
              <a:t>YES!",width</a:t>
            </a:r>
            <a:r>
              <a:rPr lang="en-US" altLang="zh-TW" sz="1400" dirty="0"/>
              <a:t>=10,</a:t>
            </a:r>
            <a:r>
              <a:rPr lang="en-US" altLang="zh-TW" sz="1400" dirty="0">
                <a:solidFill>
                  <a:srgbClr val="00B050"/>
                </a:solidFill>
              </a:rPr>
              <a:t>command=b1_function</a:t>
            </a:r>
            <a:r>
              <a:rPr lang="en-US" altLang="zh-TW" sz="1400" dirty="0"/>
              <a:t>).pack(side="left")</a:t>
            </a:r>
          </a:p>
          <a:p>
            <a:pPr marL="0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377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透過</a:t>
            </a:r>
            <a:r>
              <a:rPr lang="en-US" altLang="zh-TW" dirty="0"/>
              <a:t>Button</a:t>
            </a:r>
            <a:r>
              <a:rPr lang="zh-TW" altLang="en-US" dirty="0"/>
              <a:t>呼叫函式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b1_function ():</a:t>
            </a:r>
          </a:p>
          <a:p>
            <a:pPr marL="365760" lvl="1" indent="0">
              <a:buNone/>
            </a:pPr>
            <a:r>
              <a:rPr lang="en-US" altLang="zh-TW" dirty="0"/>
              <a:t>    print("YES")</a:t>
            </a: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b2_function ():</a:t>
            </a:r>
          </a:p>
          <a:p>
            <a:pPr marL="365760" lvl="1" indent="0">
              <a:buNone/>
            </a:pPr>
            <a:r>
              <a:rPr lang="en-US" altLang="zh-TW" dirty="0"/>
              <a:t>    print("NO")</a:t>
            </a:r>
          </a:p>
          <a:p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dirty="0" err="1"/>
              <a:t>root.title</a:t>
            </a:r>
            <a:r>
              <a:rPr lang="en-US" altLang="zh-TW" dirty="0"/>
              <a:t>("</a:t>
            </a:r>
            <a:r>
              <a:rPr lang="zh-TW" altLang="en-US" dirty="0"/>
              <a:t>新視窗</a:t>
            </a:r>
            <a:r>
              <a:rPr lang="en-US" altLang="zh-TW" dirty="0"/>
              <a:t>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設定視窗名稱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設定顯示的字串與按鈕大小且建立按鈕</a:t>
            </a: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</a:t>
            </a:r>
            <a:r>
              <a:rPr lang="en-US" altLang="zh-TW" dirty="0" err="1"/>
              <a:t>YES!",width</a:t>
            </a:r>
            <a:r>
              <a:rPr lang="en-US" altLang="zh-TW" dirty="0"/>
              <a:t>=10,command=b1_function).pack(side="left")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設定顯示的字串與按鈕大小且建立按鈕</a:t>
            </a:r>
          </a:p>
          <a:p>
            <a:pPr marL="365760" lvl="1" indent="0">
              <a:buNone/>
            </a:pPr>
            <a:r>
              <a:rPr lang="en-US" altLang="zh-TW" dirty="0"/>
              <a:t>Button(</a:t>
            </a:r>
            <a:r>
              <a:rPr lang="en-US" altLang="zh-TW" dirty="0" err="1"/>
              <a:t>root,text</a:t>
            </a:r>
            <a:r>
              <a:rPr lang="en-US" altLang="zh-TW" dirty="0"/>
              <a:t>="</a:t>
            </a:r>
            <a:r>
              <a:rPr lang="en-US" altLang="zh-TW" dirty="0" err="1"/>
              <a:t>NO!",width</a:t>
            </a:r>
            <a:r>
              <a:rPr lang="en-US" altLang="zh-TW" dirty="0"/>
              <a:t>=10,command=b2_function).pack(side="right")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root.geometry</a:t>
            </a:r>
            <a:r>
              <a:rPr lang="en-US" altLang="zh-TW" dirty="0">
                <a:solidFill>
                  <a:srgbClr val="FF0000"/>
                </a:solidFill>
              </a:rPr>
              <a:t>("</a:t>
            </a:r>
            <a:r>
              <a:rPr lang="zh-TW" altLang="en-US" dirty="0">
                <a:solidFill>
                  <a:srgbClr val="FF0000"/>
                </a:solidFill>
              </a:rPr>
              <a:t>長度</a:t>
            </a:r>
            <a:r>
              <a:rPr lang="en-US" altLang="zh-TW" dirty="0">
                <a:solidFill>
                  <a:srgbClr val="FF0000"/>
                </a:solidFill>
              </a:rPr>
              <a:t>x</a:t>
            </a:r>
            <a:r>
              <a:rPr lang="zh-TW" altLang="en-US" dirty="0">
                <a:solidFill>
                  <a:srgbClr val="FF0000"/>
                </a:solidFill>
              </a:rPr>
              <a:t>寬度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zh-TW" altLang="en-US" dirty="0">
                <a:solidFill>
                  <a:srgbClr val="FF0000"/>
                </a:solidFill>
              </a:rPr>
              <a:t>視窗放置的水平座標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zh-TW" altLang="en-US" dirty="0">
                <a:solidFill>
                  <a:srgbClr val="FF0000"/>
                </a:solidFill>
              </a:rPr>
              <a:t>視窗放置的垂直座標</a:t>
            </a:r>
            <a:r>
              <a:rPr lang="en-US" altLang="zh-TW" dirty="0">
                <a:solidFill>
                  <a:srgbClr val="FF0000"/>
                </a:solidFill>
              </a:rPr>
              <a:t>")</a:t>
            </a:r>
          </a:p>
          <a:p>
            <a:pPr marL="365760" lvl="1" indent="0">
              <a:buNone/>
            </a:pPr>
            <a:r>
              <a:rPr lang="en-US" altLang="zh-TW" dirty="0" err="1"/>
              <a:t>root.geometry</a:t>
            </a:r>
            <a:r>
              <a:rPr lang="en-US" altLang="zh-TW" dirty="0"/>
              <a:t>("300x100+1000+0") 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執行</a:t>
            </a:r>
          </a:p>
          <a:p>
            <a:pPr marL="0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353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透過</a:t>
            </a:r>
            <a:r>
              <a:rPr lang="en-US" altLang="zh-TW" dirty="0"/>
              <a:t>Button</a:t>
            </a:r>
            <a:r>
              <a:rPr lang="zh-TW" altLang="en-US" dirty="0"/>
              <a:t>呼叫函式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按下</a:t>
            </a:r>
            <a:r>
              <a:rPr lang="en-US" altLang="zh-TW" dirty="0"/>
              <a:t>YES</a:t>
            </a:r>
            <a:r>
              <a:rPr lang="zh-TW" altLang="en-US" dirty="0"/>
              <a:t>後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r>
              <a:rPr lang="zh-TW" altLang="en-US" dirty="0"/>
              <a:t>按下</a:t>
            </a:r>
            <a:r>
              <a:rPr lang="en-US" altLang="zh-TW" dirty="0"/>
              <a:t>NO</a:t>
            </a:r>
            <a:r>
              <a:rPr lang="zh-TW" altLang="en-US" dirty="0"/>
              <a:t>後</a:t>
            </a:r>
            <a:r>
              <a:rPr lang="en-US" altLang="zh-TW" dirty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401" y="2564904"/>
            <a:ext cx="30099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" t="53451" r="90442" b="44262"/>
          <a:stretch/>
        </p:blipFill>
        <p:spPr bwMode="auto">
          <a:xfrm>
            <a:off x="3718534" y="4509120"/>
            <a:ext cx="1175869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" t="55603" r="92711" b="40978"/>
          <a:stretch/>
        </p:blipFill>
        <p:spPr bwMode="auto">
          <a:xfrm>
            <a:off x="3759745" y="5394196"/>
            <a:ext cx="668239" cy="44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5818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以上範例都是自己建立按鍵，以下介紹</a:t>
            </a:r>
            <a:r>
              <a:rPr lang="en-US" altLang="zh-TW" dirty="0"/>
              <a:t>for</a:t>
            </a:r>
            <a:r>
              <a:rPr lang="zh-TW" altLang="en-US" dirty="0"/>
              <a:t>迴圈搭配串列自動建立按鈕的例子。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321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字串位置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Button(root,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視窗名稱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text ="</a:t>
            </a:r>
            <a:r>
              <a:rPr lang="en-US" altLang="zh-TW" dirty="0" err="1"/>
              <a:t>字串顯示在上方</a:t>
            </a:r>
            <a:r>
              <a:rPr lang="en-US" altLang="zh-TW" dirty="0"/>
              <a:t>",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00B050"/>
                </a:solidFill>
              </a:rPr>
              <a:t>anchor = n</a:t>
            </a:r>
            <a:r>
              <a:rPr lang="en-US" altLang="zh-TW" dirty="0"/>
              <a:t>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字串</a:t>
            </a:r>
            <a:r>
              <a:rPr lang="zh-TW" altLang="en-US" dirty="0">
                <a:solidFill>
                  <a:srgbClr val="FF0000"/>
                </a:solidFill>
              </a:rPr>
              <a:t>放置的方位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width = 10,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按鍵寬度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height = 4).pack()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按鍵高度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609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字串位置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anchor</a:t>
            </a:r>
            <a:r>
              <a:rPr lang="zh-TW" altLang="en-US" dirty="0"/>
              <a:t>：指定的</a:t>
            </a:r>
            <a:r>
              <a:rPr lang="en-US" altLang="zh-TW" dirty="0"/>
              <a:t>text</a:t>
            </a:r>
            <a:r>
              <a:rPr lang="zh-TW" altLang="en-US" dirty="0"/>
              <a:t>或圖像</a:t>
            </a:r>
            <a:r>
              <a:rPr lang="en-US" altLang="zh-TW" dirty="0"/>
              <a:t>(bitmap/image)</a:t>
            </a:r>
            <a:r>
              <a:rPr lang="zh-TW" altLang="en-US" dirty="0"/>
              <a:t>在</a:t>
            </a:r>
            <a:r>
              <a:rPr lang="en-US" altLang="zh-TW" dirty="0"/>
              <a:t>Button</a:t>
            </a:r>
            <a:r>
              <a:rPr lang="zh-TW" altLang="en-US" dirty="0"/>
              <a:t>中的顯示位置，可用的值</a:t>
            </a:r>
            <a:r>
              <a:rPr lang="en-US" altLang="zh-TW" dirty="0"/>
              <a:t>:e/w/n/s/ne/se/</a:t>
            </a:r>
            <a:r>
              <a:rPr lang="en-US" altLang="zh-TW" dirty="0" err="1"/>
              <a:t>sw</a:t>
            </a:r>
            <a:r>
              <a:rPr lang="en-US" altLang="zh-TW" dirty="0"/>
              <a:t>/</a:t>
            </a:r>
            <a:r>
              <a:rPr lang="en-US" altLang="zh-TW" dirty="0" err="1"/>
              <a:t>nw</a:t>
            </a:r>
            <a:r>
              <a:rPr lang="en-US" altLang="zh-TW" dirty="0"/>
              <a:t>/center 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898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字串位置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建立一個視窗</a:t>
            </a:r>
          </a:p>
          <a:p>
            <a:pPr marL="365760" lvl="1" indent="0">
              <a:buNone/>
            </a:pPr>
            <a:r>
              <a:rPr lang="en-US" altLang="zh-TW" dirty="0"/>
              <a:t>anchor=[</a:t>
            </a:r>
            <a:r>
              <a:rPr lang="en-US" altLang="zh-TW" sz="2400" dirty="0"/>
              <a:t>"</a:t>
            </a:r>
            <a:r>
              <a:rPr lang="en-US" altLang="zh-TW" dirty="0"/>
              <a:t>n</a:t>
            </a:r>
            <a:r>
              <a:rPr lang="en-US" altLang="zh-TW" sz="2400" dirty="0"/>
              <a:t>"</a:t>
            </a:r>
            <a:r>
              <a:rPr lang="en-US" altLang="zh-TW" dirty="0"/>
              <a:t>,</a:t>
            </a:r>
            <a:r>
              <a:rPr lang="en-US" altLang="zh-TW" sz="2400" dirty="0"/>
              <a:t> "</a:t>
            </a:r>
            <a:r>
              <a:rPr lang="en-US" altLang="zh-TW" dirty="0"/>
              <a:t>s</a:t>
            </a:r>
            <a:r>
              <a:rPr lang="en-US" altLang="zh-TW" sz="2400" dirty="0"/>
              <a:t>"</a:t>
            </a:r>
            <a:r>
              <a:rPr lang="en-US" altLang="zh-TW" dirty="0"/>
              <a:t>,</a:t>
            </a:r>
            <a:r>
              <a:rPr lang="en-US" altLang="zh-TW" sz="2400" dirty="0"/>
              <a:t> "</a:t>
            </a:r>
            <a:r>
              <a:rPr lang="en-US" altLang="zh-TW" dirty="0"/>
              <a:t>e</a:t>
            </a:r>
            <a:r>
              <a:rPr lang="en-US" altLang="zh-TW" sz="2400" dirty="0"/>
              <a:t>"</a:t>
            </a:r>
            <a:r>
              <a:rPr lang="en-US" altLang="zh-TW" dirty="0"/>
              <a:t>,</a:t>
            </a:r>
            <a:r>
              <a:rPr lang="en-US" altLang="zh-TW" sz="2400" dirty="0"/>
              <a:t> "</a:t>
            </a:r>
            <a:r>
              <a:rPr lang="en-US" altLang="zh-TW" dirty="0"/>
              <a:t>w</a:t>
            </a:r>
            <a:r>
              <a:rPr lang="en-US" altLang="zh-TW" sz="2400" dirty="0"/>
              <a:t>"</a:t>
            </a:r>
            <a:r>
              <a:rPr lang="en-US" altLang="zh-TW" dirty="0"/>
              <a:t>,</a:t>
            </a:r>
            <a:r>
              <a:rPr lang="en-US" altLang="zh-TW" sz="2400" dirty="0"/>
              <a:t> "</a:t>
            </a:r>
            <a:r>
              <a:rPr lang="en-US" altLang="zh-TW" dirty="0"/>
              <a:t>ne</a:t>
            </a:r>
            <a:r>
              <a:rPr lang="en-US" altLang="zh-TW" sz="2400" dirty="0"/>
              <a:t>"</a:t>
            </a:r>
            <a:r>
              <a:rPr lang="en-US" altLang="zh-TW" dirty="0"/>
              <a:t>,</a:t>
            </a:r>
            <a:r>
              <a:rPr lang="en-US" altLang="zh-TW" sz="2400" dirty="0"/>
              <a:t> "</a:t>
            </a:r>
            <a:r>
              <a:rPr lang="en-US" altLang="zh-TW" dirty="0" err="1"/>
              <a:t>nw</a:t>
            </a:r>
            <a:r>
              <a:rPr lang="en-US" altLang="zh-TW" sz="2400" dirty="0"/>
              <a:t>"</a:t>
            </a:r>
            <a:r>
              <a:rPr lang="en-US" altLang="zh-TW" dirty="0"/>
              <a:t>,</a:t>
            </a:r>
            <a:r>
              <a:rPr lang="en-US" altLang="zh-TW" sz="2400" dirty="0"/>
              <a:t> "</a:t>
            </a:r>
            <a:r>
              <a:rPr lang="en-US" altLang="zh-TW" dirty="0"/>
              <a:t>se</a:t>
            </a:r>
            <a:r>
              <a:rPr lang="en-US" altLang="zh-TW" sz="2400" dirty="0"/>
              <a:t>"</a:t>
            </a:r>
            <a:r>
              <a:rPr lang="en-US" altLang="zh-TW" dirty="0"/>
              <a:t>,</a:t>
            </a:r>
            <a:r>
              <a:rPr lang="en-US" altLang="zh-TW" sz="2400" dirty="0"/>
              <a:t> "</a:t>
            </a:r>
            <a:r>
              <a:rPr lang="en-US" altLang="zh-TW" dirty="0" err="1"/>
              <a:t>sw</a:t>
            </a:r>
            <a:r>
              <a:rPr lang="en-US" altLang="zh-TW" sz="2400" dirty="0"/>
              <a:t>"</a:t>
            </a:r>
            <a:r>
              <a:rPr lang="en-US" altLang="zh-TW" dirty="0"/>
              <a:t>]</a:t>
            </a:r>
          </a:p>
          <a:p>
            <a:pPr marL="365760" lvl="1" indent="0">
              <a:buNone/>
            </a:pPr>
            <a:r>
              <a:rPr lang="en-US" altLang="zh-TW" dirty="0"/>
              <a:t>for a in range(0,8):</a:t>
            </a:r>
          </a:p>
          <a:p>
            <a:pPr marL="365760" lvl="1" indent="0">
              <a:buNone/>
            </a:pPr>
            <a:r>
              <a:rPr lang="en-US" altLang="zh-TW" dirty="0"/>
              <a:t>    Button(root,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視窗名稱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text = anchor[a],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anchor = anchor[a],</a:t>
            </a:r>
            <a:r>
              <a:rPr lang="en-US" altLang="zh-TW" dirty="0">
                <a:solidFill>
                  <a:srgbClr val="FF0000"/>
                </a:solidFill>
              </a:rPr>
              <a:t># </a:t>
            </a:r>
            <a:r>
              <a:rPr lang="en-US" altLang="zh-TW" dirty="0" err="1">
                <a:solidFill>
                  <a:srgbClr val="FF0000"/>
                </a:solidFill>
              </a:rPr>
              <a:t>字串</a:t>
            </a:r>
            <a:r>
              <a:rPr lang="zh-TW" altLang="en-US" dirty="0">
                <a:solidFill>
                  <a:srgbClr val="FF0000"/>
                </a:solidFill>
              </a:rPr>
              <a:t>放置的方位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width = 10,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按鍵寬度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height = 4).pack()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按鍵高度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sz="2000" dirty="0">
                <a:solidFill>
                  <a:srgbClr val="FF0000"/>
                </a:solidFill>
              </a:rPr>
              <a:t>#</a:t>
            </a:r>
            <a:r>
              <a:rPr lang="en-US" altLang="zh-TW" sz="2000" dirty="0" err="1">
                <a:solidFill>
                  <a:srgbClr val="FF0000"/>
                </a:solidFill>
              </a:rPr>
              <a:t>root.geometry</a:t>
            </a:r>
            <a:r>
              <a:rPr lang="en-US" altLang="zh-TW" sz="2000" dirty="0">
                <a:solidFill>
                  <a:srgbClr val="FF0000"/>
                </a:solidFill>
              </a:rPr>
              <a:t>("</a:t>
            </a:r>
            <a:r>
              <a:rPr lang="zh-TW" altLang="en-US" sz="2000" dirty="0">
                <a:solidFill>
                  <a:srgbClr val="FF0000"/>
                </a:solidFill>
              </a:rPr>
              <a:t>長度</a:t>
            </a:r>
            <a:r>
              <a:rPr lang="en-US" altLang="zh-TW" sz="2000" dirty="0">
                <a:solidFill>
                  <a:srgbClr val="FF0000"/>
                </a:solidFill>
              </a:rPr>
              <a:t>x</a:t>
            </a:r>
            <a:r>
              <a:rPr lang="zh-TW" altLang="en-US" sz="2000" dirty="0">
                <a:solidFill>
                  <a:srgbClr val="FF0000"/>
                </a:solidFill>
              </a:rPr>
              <a:t>寬度</a:t>
            </a:r>
            <a:r>
              <a:rPr lang="en-US" altLang="zh-TW" sz="2000" dirty="0">
                <a:solidFill>
                  <a:srgbClr val="FF0000"/>
                </a:solidFill>
              </a:rPr>
              <a:t>+</a:t>
            </a:r>
            <a:r>
              <a:rPr lang="zh-TW" altLang="en-US" sz="2000" dirty="0">
                <a:solidFill>
                  <a:srgbClr val="FF0000"/>
                </a:solidFill>
              </a:rPr>
              <a:t>視窗放置的水平座標</a:t>
            </a:r>
            <a:r>
              <a:rPr lang="en-US" altLang="zh-TW" sz="2000" dirty="0">
                <a:solidFill>
                  <a:srgbClr val="FF0000"/>
                </a:solidFill>
              </a:rPr>
              <a:t>+</a:t>
            </a:r>
            <a:r>
              <a:rPr lang="zh-TW" altLang="en-US" sz="2000" dirty="0">
                <a:solidFill>
                  <a:srgbClr val="FF0000"/>
                </a:solidFill>
              </a:rPr>
              <a:t>視窗放置的垂直座標</a:t>
            </a:r>
            <a:r>
              <a:rPr lang="en-US" altLang="zh-TW" sz="2000" dirty="0">
                <a:solidFill>
                  <a:srgbClr val="FF0000"/>
                </a:solidFill>
              </a:rPr>
              <a:t>")</a:t>
            </a:r>
            <a:endParaRPr lang="en-US" altLang="zh-TW" sz="2000" dirty="0"/>
          </a:p>
          <a:p>
            <a:pPr marL="365760" lvl="1" indent="0">
              <a:buNone/>
            </a:pPr>
            <a:r>
              <a:rPr lang="en-US" altLang="zh-TW" dirty="0" err="1"/>
              <a:t>root.geometry</a:t>
            </a:r>
            <a:r>
              <a:rPr lang="en-US" altLang="zh-TW" dirty="0"/>
              <a:t>("100x700+0+0")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執行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99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字串位置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204864"/>
            <a:ext cx="874487" cy="4021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424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邊框粗細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2000" dirty="0"/>
              <a:t>Button(root,</a:t>
            </a:r>
          </a:p>
          <a:p>
            <a:pPr marL="365760" lvl="1" indent="0">
              <a:buNone/>
            </a:pPr>
            <a:r>
              <a:rPr lang="en-US" altLang="zh-TW" sz="2000" dirty="0"/>
              <a:t>    text = "</a:t>
            </a:r>
            <a:r>
              <a:rPr lang="en-US" altLang="zh-TW" sz="2000" dirty="0" err="1"/>
              <a:t>bordwidth</a:t>
            </a:r>
            <a:r>
              <a:rPr lang="en-US" altLang="zh-TW" sz="2000" dirty="0"/>
              <a:t> ",</a:t>
            </a:r>
            <a:r>
              <a:rPr lang="en-US" altLang="zh-TW" sz="2000" dirty="0">
                <a:solidFill>
                  <a:srgbClr val="FF0000"/>
                </a:solidFill>
              </a:rPr>
              <a:t>#</a:t>
            </a:r>
            <a:r>
              <a:rPr lang="zh-TW" altLang="en-US" sz="2000" dirty="0">
                <a:solidFill>
                  <a:srgbClr val="FF0000"/>
                </a:solidFill>
              </a:rPr>
              <a:t>顯示數字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000" dirty="0"/>
              <a:t>    </a:t>
            </a:r>
            <a:r>
              <a:rPr lang="en-US" altLang="zh-TW" sz="2000" dirty="0" err="1"/>
              <a:t>bd</a:t>
            </a:r>
            <a:r>
              <a:rPr lang="en-US" altLang="zh-TW" sz="2000" dirty="0"/>
              <a:t> = 2).pack()</a:t>
            </a:r>
            <a:r>
              <a:rPr lang="en-US" altLang="zh-TW" sz="2000" dirty="0">
                <a:solidFill>
                  <a:srgbClr val="FF0000"/>
                </a:solidFill>
              </a:rPr>
              <a:t>#</a:t>
            </a:r>
            <a:r>
              <a:rPr lang="zh-TW" altLang="en-US" sz="2000" dirty="0">
                <a:solidFill>
                  <a:srgbClr val="FF0000"/>
                </a:solidFill>
              </a:rPr>
              <a:t>邊框粗細設置</a:t>
            </a:r>
            <a:endParaRPr lang="en-US" altLang="zh-TW" sz="2000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274320" lvl="2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  <a:endParaRPr lang="en-US" altLang="zh-TW" dirty="0"/>
          </a:p>
          <a:p>
            <a:pPr marL="274320" lvl="2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建立一個視窗</a:t>
            </a:r>
            <a:endParaRPr lang="en-US" altLang="zh-TW" dirty="0"/>
          </a:p>
          <a:p>
            <a:pPr marL="274320" lvl="2" indent="0">
              <a:buNone/>
            </a:pPr>
            <a:r>
              <a:rPr lang="en-US" altLang="zh-TW" sz="2000" dirty="0"/>
              <a:t>for </a:t>
            </a:r>
            <a:r>
              <a:rPr lang="en-US" altLang="zh-TW" sz="2000" dirty="0" err="1"/>
              <a:t>bordwidth</a:t>
            </a:r>
            <a:r>
              <a:rPr lang="en-US" altLang="zh-TW" sz="2000" dirty="0"/>
              <a:t> in [0,1,2,3,4]:</a:t>
            </a:r>
            <a:r>
              <a:rPr lang="en-US" altLang="zh-TW" sz="2000" dirty="0">
                <a:solidFill>
                  <a:srgbClr val="FF0000"/>
                </a:solidFill>
              </a:rPr>
              <a:t>#</a:t>
            </a:r>
            <a:r>
              <a:rPr lang="zh-TW" altLang="en-US" sz="2000" dirty="0">
                <a:solidFill>
                  <a:srgbClr val="FF0000"/>
                </a:solidFill>
              </a:rPr>
              <a:t>建立五個按鈕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000" dirty="0"/>
              <a:t>    Button(root,</a:t>
            </a:r>
          </a:p>
          <a:p>
            <a:pPr marL="365760" lvl="1" indent="0">
              <a:buNone/>
            </a:pPr>
            <a:r>
              <a:rPr lang="en-US" altLang="zh-TW" sz="2000" dirty="0"/>
              <a:t>    text = </a:t>
            </a:r>
            <a:r>
              <a:rPr lang="en-US" altLang="zh-TW" sz="2000" dirty="0" err="1"/>
              <a:t>bordwidth</a:t>
            </a:r>
            <a:r>
              <a:rPr lang="en-US" altLang="zh-TW" sz="2000" dirty="0"/>
              <a:t>,</a:t>
            </a:r>
            <a:r>
              <a:rPr lang="en-US" altLang="zh-TW" sz="2000" dirty="0">
                <a:solidFill>
                  <a:srgbClr val="FF0000"/>
                </a:solidFill>
              </a:rPr>
              <a:t>#</a:t>
            </a:r>
            <a:r>
              <a:rPr lang="zh-TW" altLang="en-US" sz="2000" dirty="0">
                <a:solidFill>
                  <a:srgbClr val="FF0000"/>
                </a:solidFill>
              </a:rPr>
              <a:t>顯示數字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000" dirty="0"/>
              <a:t>    </a:t>
            </a:r>
            <a:r>
              <a:rPr lang="en-US" altLang="zh-TW" sz="2000" dirty="0" err="1"/>
              <a:t>bd</a:t>
            </a:r>
            <a:r>
              <a:rPr lang="en-US" altLang="zh-TW" sz="2000" dirty="0"/>
              <a:t> = </a:t>
            </a:r>
            <a:r>
              <a:rPr lang="en-US" altLang="zh-TW" sz="2000" dirty="0" err="1"/>
              <a:t>bordwidth</a:t>
            </a:r>
            <a:r>
              <a:rPr lang="en-US" altLang="zh-TW" sz="2000" dirty="0"/>
              <a:t>).pack()</a:t>
            </a:r>
            <a:r>
              <a:rPr lang="en-US" altLang="zh-TW" sz="2000" dirty="0">
                <a:solidFill>
                  <a:srgbClr val="FF0000"/>
                </a:solidFill>
              </a:rPr>
              <a:t>#</a:t>
            </a:r>
            <a:r>
              <a:rPr lang="zh-TW" altLang="en-US" sz="2000" dirty="0">
                <a:solidFill>
                  <a:srgbClr val="FF0000"/>
                </a:solidFill>
              </a:rPr>
              <a:t>邊框粗細設置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marL="274320" lvl="2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執行</a:t>
            </a:r>
          </a:p>
          <a:p>
            <a:pPr marL="0" indent="0">
              <a:buNone/>
            </a:pPr>
            <a:endParaRPr lang="en-US" altLang="zh-TW" sz="14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895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邊框粗細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924944"/>
            <a:ext cx="154305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54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狀態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marL="320040" lvl="2" indent="0">
              <a:buNone/>
            </a:pPr>
            <a:r>
              <a:rPr lang="en-US" altLang="zh-TW" sz="1800" dirty="0"/>
              <a:t>Button(root, text = "click", </a:t>
            </a:r>
            <a:r>
              <a:rPr lang="en-US" altLang="zh-TW" sz="1800" dirty="0">
                <a:solidFill>
                  <a:srgbClr val="00B050"/>
                </a:solidFill>
              </a:rPr>
              <a:t>state = "disabled"</a:t>
            </a:r>
            <a:r>
              <a:rPr lang="en-US" altLang="zh-TW" sz="1800" dirty="0"/>
              <a:t>).pack()</a:t>
            </a:r>
          </a:p>
          <a:p>
            <a:endParaRPr lang="en-US" altLang="zh-TW" dirty="0"/>
          </a:p>
          <a:p>
            <a:r>
              <a:rPr lang="zh-TW" altLang="en-US" dirty="0"/>
              <a:t>其他可用狀態指令</a:t>
            </a:r>
            <a:r>
              <a:rPr lang="en-US" altLang="zh-TW" dirty="0"/>
              <a:t>: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normal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active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disabled</a:t>
            </a:r>
          </a:p>
          <a:p>
            <a:pPr marL="365760" lvl="1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606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</a:t>
            </a:r>
            <a:r>
              <a:rPr lang="en-US" altLang="zh-TW" dirty="0"/>
              <a:t>Button</a:t>
            </a:r>
            <a:r>
              <a:rPr lang="zh-TW" altLang="en-US" dirty="0"/>
              <a:t>狀態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sz="1200" dirty="0"/>
              <a:t>from </a:t>
            </a:r>
            <a:r>
              <a:rPr lang="en-US" altLang="zh-TW" sz="1200" dirty="0" err="1"/>
              <a:t>tkinter</a:t>
            </a:r>
            <a:r>
              <a:rPr lang="en-US" altLang="zh-TW" sz="1200" dirty="0"/>
              <a:t> import *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200" dirty="0"/>
              <a:t>root = </a:t>
            </a:r>
            <a:r>
              <a:rPr lang="en-US" altLang="zh-TW" sz="1200" dirty="0" err="1"/>
              <a:t>Tk</a:t>
            </a:r>
            <a:r>
              <a:rPr lang="en-US" altLang="zh-TW" sz="1200" dirty="0"/>
              <a:t>()</a:t>
            </a:r>
            <a:r>
              <a:rPr lang="en-US" altLang="zh-TW" sz="1200" dirty="0">
                <a:solidFill>
                  <a:srgbClr val="FF0000"/>
                </a:solidFill>
              </a:rPr>
              <a:t> #</a:t>
            </a:r>
            <a:r>
              <a:rPr lang="zh-TW" altLang="en-US" sz="1200" dirty="0">
                <a:solidFill>
                  <a:srgbClr val="FF0000"/>
                </a:solidFill>
              </a:rPr>
              <a:t>建立一個視窗</a:t>
            </a:r>
            <a:endParaRPr lang="en-US" altLang="zh-TW" sz="1200" dirty="0"/>
          </a:p>
          <a:p>
            <a:pPr marL="365760" lvl="1" indent="0">
              <a:buNone/>
            </a:pPr>
            <a:r>
              <a:rPr lang="en-US" altLang="zh-TW" sz="1200" dirty="0" err="1"/>
              <a:t>def</a:t>
            </a:r>
            <a:r>
              <a:rPr lang="en-US" altLang="zh-TW" sz="1200" dirty="0"/>
              <a:t> </a:t>
            </a:r>
            <a:r>
              <a:rPr lang="en-US" altLang="zh-TW" sz="1200" dirty="0" err="1"/>
              <a:t>statePrint</a:t>
            </a:r>
            <a:r>
              <a:rPr lang="en-US" altLang="zh-TW" sz="1200" dirty="0"/>
              <a:t>():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會被呼叫的函式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200" dirty="0"/>
              <a:t>    print ("state")</a:t>
            </a:r>
          </a:p>
          <a:p>
            <a:pPr marL="365760" lvl="1" indent="0">
              <a:buNone/>
            </a:pPr>
            <a:r>
              <a:rPr lang="en-US" altLang="zh-TW" sz="1200" dirty="0"/>
              <a:t>for r in ["normal", "active", "disabled"]:</a:t>
            </a:r>
            <a:r>
              <a:rPr lang="en-US" altLang="zh-TW" sz="1200" dirty="0">
                <a:solidFill>
                  <a:srgbClr val="FF0000"/>
                </a:solidFill>
              </a:rPr>
              <a:t># normal</a:t>
            </a:r>
            <a:r>
              <a:rPr lang="zh-TW" altLang="en-US" sz="1200" dirty="0">
                <a:solidFill>
                  <a:srgbClr val="FF0000"/>
                </a:solidFill>
              </a:rPr>
              <a:t>為預設且設定為</a:t>
            </a:r>
            <a:r>
              <a:rPr lang="en-US" altLang="zh-TW" sz="1200" dirty="0">
                <a:solidFill>
                  <a:srgbClr val="FF0000"/>
                </a:solidFill>
              </a:rPr>
              <a:t>active</a:t>
            </a:r>
            <a:r>
              <a:rPr lang="zh-TW" altLang="en-US" sz="1200" dirty="0">
                <a:solidFill>
                  <a:srgbClr val="FF0000"/>
                </a:solidFill>
              </a:rPr>
              <a:t>，</a:t>
            </a:r>
            <a:r>
              <a:rPr lang="en-US" altLang="zh-TW" sz="1200" dirty="0">
                <a:solidFill>
                  <a:srgbClr val="FF0000"/>
                </a:solidFill>
              </a:rPr>
              <a:t>disabled</a:t>
            </a:r>
            <a:r>
              <a:rPr lang="zh-TW" altLang="en-US" sz="1200" dirty="0">
                <a:solidFill>
                  <a:srgbClr val="FF0000"/>
                </a:solidFill>
              </a:rPr>
              <a:t>按鈕設定為不可按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200" dirty="0"/>
              <a:t>    Button(root, text = r, state = r, width = 30, command = </a:t>
            </a:r>
            <a:r>
              <a:rPr lang="en-US" altLang="zh-TW" sz="1200" dirty="0" err="1"/>
              <a:t>statePrint</a:t>
            </a:r>
            <a:r>
              <a:rPr lang="en-US" altLang="zh-TW" sz="1200" dirty="0"/>
              <a:t>).pack(side="left")</a:t>
            </a:r>
          </a:p>
          <a:p>
            <a:pPr marL="365760" lvl="1" indent="0">
              <a:buNone/>
            </a:pPr>
            <a:r>
              <a:rPr lang="en-US" altLang="zh-TW" sz="1200" dirty="0" err="1"/>
              <a:t>root.mainloop</a:t>
            </a:r>
            <a:r>
              <a:rPr lang="en-US" altLang="zh-TW" sz="1200" dirty="0"/>
              <a:t>()</a:t>
            </a:r>
          </a:p>
          <a:p>
            <a:pPr marL="365760" lvl="1" indent="0">
              <a:buNone/>
            </a:pPr>
            <a:endParaRPr lang="en-US" altLang="zh-TW" sz="1200" dirty="0"/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157192"/>
            <a:ext cx="6534497" cy="59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636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動態顯示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1400" dirty="0"/>
              <a:t>範例</a:t>
            </a:r>
            <a:r>
              <a:rPr lang="en-US" altLang="zh-TW" sz="1400" dirty="0"/>
              <a:t>:</a:t>
            </a:r>
          </a:p>
          <a:p>
            <a:pPr marL="0" indent="0">
              <a:buNone/>
            </a:pPr>
            <a:r>
              <a:rPr lang="en-US" altLang="zh-TW" sz="1400" dirty="0"/>
              <a:t>from </a:t>
            </a:r>
            <a:r>
              <a:rPr lang="en-US" altLang="zh-TW" sz="1400" dirty="0" err="1"/>
              <a:t>tkinter</a:t>
            </a:r>
            <a:r>
              <a:rPr lang="en-US" altLang="zh-TW" sz="1400" dirty="0"/>
              <a:t> import *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載入函式庫</a:t>
            </a:r>
          </a:p>
          <a:p>
            <a:pPr marL="0" lvl="1" indent="0">
              <a:buNone/>
            </a:pPr>
            <a:r>
              <a:rPr lang="en-US" altLang="zh-TW" sz="1400" dirty="0"/>
              <a:t>root = </a:t>
            </a:r>
            <a:r>
              <a:rPr lang="en-US" altLang="zh-TW" sz="1400" dirty="0" err="1"/>
              <a:t>Tk</a:t>
            </a:r>
            <a:r>
              <a:rPr lang="en-US" altLang="zh-TW" sz="1400" dirty="0"/>
              <a:t>()</a:t>
            </a:r>
            <a:r>
              <a:rPr lang="en-US" altLang="zh-TW" sz="1400" dirty="0">
                <a:solidFill>
                  <a:srgbClr val="FF0000"/>
                </a:solidFill>
              </a:rPr>
              <a:t> #</a:t>
            </a:r>
            <a:r>
              <a:rPr lang="zh-TW" altLang="en-US" sz="1400" dirty="0">
                <a:solidFill>
                  <a:srgbClr val="FF0000"/>
                </a:solidFill>
              </a:rPr>
              <a:t>建立一個視窗</a:t>
            </a:r>
            <a:endParaRPr lang="en-US" altLang="zh-TW" sz="1400" dirty="0"/>
          </a:p>
          <a:p>
            <a:pPr marL="0" indent="0">
              <a:buNone/>
            </a:pPr>
            <a:r>
              <a:rPr lang="en-US" altLang="zh-TW" sz="1400" dirty="0" err="1"/>
              <a:t>def</a:t>
            </a:r>
            <a:r>
              <a:rPr lang="en-US" altLang="zh-TW" sz="1400" dirty="0"/>
              <a:t> </a:t>
            </a:r>
            <a:r>
              <a:rPr lang="en-US" altLang="zh-TW" sz="1400" dirty="0" err="1"/>
              <a:t>changeText</a:t>
            </a:r>
            <a:r>
              <a:rPr lang="en-US" altLang="zh-TW" sz="1400" dirty="0"/>
              <a:t>():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會被呼叫的函式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1400" dirty="0"/>
              <a:t>    if b["text"] == "text":</a:t>
            </a:r>
          </a:p>
          <a:p>
            <a:pPr marL="0" indent="0">
              <a:buNone/>
            </a:pPr>
            <a:r>
              <a:rPr lang="en-US" altLang="zh-TW" sz="1400" dirty="0"/>
              <a:t>        </a:t>
            </a:r>
            <a:r>
              <a:rPr lang="en-US" altLang="zh-TW" sz="1400" dirty="0" err="1"/>
              <a:t>v.set</a:t>
            </a:r>
            <a:r>
              <a:rPr lang="en-US" altLang="zh-TW" sz="1400" dirty="0"/>
              <a:t>("change")</a:t>
            </a:r>
            <a:r>
              <a:rPr lang="en-US" altLang="zh-TW" sz="1400" dirty="0">
                <a:solidFill>
                  <a:srgbClr val="FF0000"/>
                </a:solidFill>
              </a:rPr>
              <a:t> #</a:t>
            </a:r>
            <a:r>
              <a:rPr lang="zh-TW" altLang="en-US" sz="1400" dirty="0">
                <a:solidFill>
                  <a:srgbClr val="FF0000"/>
                </a:solidFill>
              </a:rPr>
              <a:t>變動字串變數設為</a:t>
            </a:r>
            <a:r>
              <a:rPr lang="en-US" altLang="zh-TW" sz="1400" dirty="0">
                <a:solidFill>
                  <a:srgbClr val="FF0000"/>
                </a:solidFill>
              </a:rPr>
              <a:t>change</a:t>
            </a:r>
          </a:p>
          <a:p>
            <a:pPr marL="0" indent="0">
              <a:buNone/>
            </a:pPr>
            <a:r>
              <a:rPr lang="en-US" altLang="zh-TW" sz="1400" dirty="0"/>
              <a:t>        print ("change")</a:t>
            </a:r>
          </a:p>
          <a:p>
            <a:pPr marL="0" indent="0">
              <a:buNone/>
            </a:pPr>
            <a:r>
              <a:rPr lang="en-US" altLang="zh-TW" sz="1400" dirty="0"/>
              <a:t>    else:</a:t>
            </a:r>
          </a:p>
          <a:p>
            <a:pPr marL="0" indent="0">
              <a:buNone/>
            </a:pPr>
            <a:r>
              <a:rPr lang="en-US" altLang="zh-TW" sz="1400" dirty="0"/>
              <a:t>        </a:t>
            </a:r>
            <a:r>
              <a:rPr lang="en-US" altLang="zh-TW" sz="1400" dirty="0" err="1"/>
              <a:t>v.set</a:t>
            </a:r>
            <a:r>
              <a:rPr lang="en-US" altLang="zh-TW" sz="1400" dirty="0"/>
              <a:t>("text")</a:t>
            </a:r>
            <a:r>
              <a:rPr lang="en-US" altLang="zh-TW" sz="1400" dirty="0">
                <a:solidFill>
                  <a:srgbClr val="FF0000"/>
                </a:solidFill>
              </a:rPr>
              <a:t> #</a:t>
            </a:r>
            <a:r>
              <a:rPr lang="zh-TW" altLang="en-US" sz="1400" dirty="0">
                <a:solidFill>
                  <a:srgbClr val="FF0000"/>
                </a:solidFill>
              </a:rPr>
              <a:t>變動字串變數設為</a:t>
            </a:r>
            <a:r>
              <a:rPr lang="en-US" altLang="zh-TW" sz="1400" dirty="0">
                <a:solidFill>
                  <a:srgbClr val="FF0000"/>
                </a:solidFill>
              </a:rPr>
              <a:t>text</a:t>
            </a:r>
            <a:endParaRPr lang="en-US" altLang="zh-TW" sz="1400" dirty="0"/>
          </a:p>
          <a:p>
            <a:pPr marL="0" indent="0">
              <a:buNone/>
            </a:pPr>
            <a:r>
              <a:rPr lang="en-US" altLang="zh-TW" sz="1400" dirty="0"/>
              <a:t>        print ("text")</a:t>
            </a:r>
          </a:p>
          <a:p>
            <a:pPr marL="0" indent="0">
              <a:buNone/>
            </a:pPr>
            <a:r>
              <a:rPr lang="en-US" altLang="zh-TW" sz="1400" dirty="0"/>
              <a:t>v = </a:t>
            </a:r>
            <a:r>
              <a:rPr lang="en-US" altLang="zh-TW" sz="1400" dirty="0" err="1"/>
              <a:t>StringVar</a:t>
            </a:r>
            <a:r>
              <a:rPr lang="en-US" altLang="zh-TW" sz="1400" dirty="0"/>
              <a:t>()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變動字串變數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按鈕顯示字串為變動字串變數</a:t>
            </a:r>
            <a:r>
              <a:rPr lang="en-US" altLang="zh-TW" sz="1400" dirty="0">
                <a:solidFill>
                  <a:srgbClr val="FF0000"/>
                </a:solidFill>
              </a:rPr>
              <a:t>v(text</a:t>
            </a:r>
            <a:r>
              <a:rPr lang="zh-TW" altLang="en-US" sz="1400" dirty="0">
                <a:solidFill>
                  <a:srgbClr val="FF0000"/>
                </a:solidFill>
              </a:rPr>
              <a:t> </a:t>
            </a:r>
            <a:r>
              <a:rPr lang="en-US" altLang="zh-TW" sz="1400" dirty="0">
                <a:solidFill>
                  <a:srgbClr val="FF0000"/>
                </a:solidFill>
              </a:rPr>
              <a:t>or change )</a:t>
            </a:r>
          </a:p>
          <a:p>
            <a:pPr marL="0" indent="0">
              <a:buNone/>
            </a:pPr>
            <a:r>
              <a:rPr lang="en-US" altLang="zh-TW" sz="1400" dirty="0"/>
              <a:t>b = Button(root ,</a:t>
            </a:r>
            <a:r>
              <a:rPr lang="en-US" altLang="zh-TW" sz="1400" dirty="0" err="1"/>
              <a:t>textvariable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v,command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changeText</a:t>
            </a:r>
            <a:r>
              <a:rPr lang="en-US" altLang="zh-TW" sz="1400" dirty="0"/>
              <a:t>)</a:t>
            </a:r>
          </a:p>
          <a:p>
            <a:pPr marL="0" indent="0">
              <a:buNone/>
            </a:pPr>
            <a:r>
              <a:rPr lang="en-US" altLang="zh-TW" sz="1400" dirty="0" err="1"/>
              <a:t>v.set</a:t>
            </a:r>
            <a:r>
              <a:rPr lang="en-US" altLang="zh-TW" sz="1400" dirty="0"/>
              <a:t>("text")</a:t>
            </a:r>
          </a:p>
          <a:p>
            <a:pPr marL="0" indent="0">
              <a:buNone/>
            </a:pPr>
            <a:r>
              <a:rPr lang="en-US" altLang="zh-TW" sz="1400" dirty="0" err="1"/>
              <a:t>b.pack</a:t>
            </a:r>
            <a:r>
              <a:rPr lang="en-US" altLang="zh-TW" sz="1400" dirty="0"/>
              <a:t>()</a:t>
            </a:r>
          </a:p>
          <a:p>
            <a:pPr marL="0" indent="0">
              <a:buNone/>
            </a:pPr>
            <a:r>
              <a:rPr lang="en-US" altLang="zh-TW" sz="1400" dirty="0" err="1"/>
              <a:t>root.mainloop</a:t>
            </a:r>
            <a:r>
              <a:rPr lang="en-US" altLang="zh-TW" sz="1400" dirty="0"/>
              <a:t>()</a:t>
            </a:r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3837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動態顯示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顯示的視窗</a:t>
            </a: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marL="365760" lvl="1" indent="0">
              <a:buNone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en-US" altLang="zh-TW" dirty="0"/>
              <a:t>text</a:t>
            </a:r>
            <a:r>
              <a:rPr lang="zh-TW" altLang="en-US" dirty="0"/>
              <a:t>後</a:t>
            </a:r>
            <a:r>
              <a:rPr lang="en-US" altLang="zh-TW" dirty="0"/>
              <a:t>: 	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87" y="3331257"/>
            <a:ext cx="15430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" t="89010" r="86381" b="2803"/>
          <a:stretch/>
        </p:blipFill>
        <p:spPr bwMode="auto">
          <a:xfrm>
            <a:off x="6084168" y="3368926"/>
            <a:ext cx="649224" cy="46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440" y="4869160"/>
            <a:ext cx="15430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t="86923" r="89765" b="4729"/>
          <a:stretch/>
        </p:blipFill>
        <p:spPr bwMode="auto">
          <a:xfrm>
            <a:off x="5148064" y="4930309"/>
            <a:ext cx="484632" cy="475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555776" y="3630724"/>
            <a:ext cx="648072" cy="371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536929" y="5168054"/>
            <a:ext cx="648072" cy="371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內容版面配置區 2"/>
          <p:cNvSpPr txBox="1">
            <a:spLocks/>
          </p:cNvSpPr>
          <p:nvPr/>
        </p:nvSpPr>
        <p:spPr>
          <a:xfrm>
            <a:off x="4211960" y="2132856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16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en-US" altLang="zh-TW" dirty="0"/>
              <a:t>text</a:t>
            </a:r>
            <a:r>
              <a:rPr lang="zh-TW" altLang="en-US" dirty="0"/>
              <a:t>後顯示的結果</a:t>
            </a:r>
            <a:r>
              <a:rPr lang="en-US" altLang="zh-TW" dirty="0"/>
              <a:t>:	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en-US" altLang="zh-TW" dirty="0"/>
              <a:t>change</a:t>
            </a:r>
            <a:r>
              <a:rPr lang="zh-TW" altLang="en-US" dirty="0"/>
              <a:t>後顯示的結果</a:t>
            </a:r>
            <a:r>
              <a:rPr lang="en-US" altLang="zh-TW" dirty="0"/>
              <a:t>:		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371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動態顯示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使用範圍非常廣泛，在填寫表單時，經常看到當表格還未全部完成，不讓使用者按下</a:t>
            </a:r>
            <a:r>
              <a:rPr lang="en-US" altLang="zh-TW" dirty="0"/>
              <a:t>Button</a:t>
            </a:r>
            <a:r>
              <a:rPr lang="zh-TW" altLang="en-US" dirty="0"/>
              <a:t>鈕，以下範例，介紹如何動態改變</a:t>
            </a:r>
            <a:r>
              <a:rPr lang="en-US" altLang="zh-TW" dirty="0"/>
              <a:t>Button </a:t>
            </a:r>
            <a:r>
              <a:rPr lang="zh-TW" altLang="en-US" dirty="0"/>
              <a:t>狀態。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832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動態顯示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1916832"/>
            <a:ext cx="6196405" cy="4406088"/>
          </a:xfrm>
        </p:spPr>
        <p:txBody>
          <a:bodyPr>
            <a:normAutofit fontScale="475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root=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</a:p>
          <a:p>
            <a:pPr marL="365760" lvl="1" indent="0">
              <a:buNone/>
            </a:pPr>
            <a:r>
              <a:rPr lang="en-US" altLang="zh-TW" dirty="0"/>
              <a:t>e = </a:t>
            </a:r>
            <a:r>
              <a:rPr lang="en-US" altLang="zh-TW" dirty="0" err="1"/>
              <a:t>StringVar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變動文字變數</a:t>
            </a:r>
          </a:p>
          <a:p>
            <a:pPr marL="365760" lvl="1" indent="0">
              <a:buNone/>
            </a:pPr>
            <a:r>
              <a:rPr lang="en-US" altLang="zh-TW" dirty="0" err="1"/>
              <a:t>e.set</a:t>
            </a:r>
            <a:r>
              <a:rPr lang="en-US" altLang="zh-TW" dirty="0"/>
              <a:t>("</a:t>
            </a:r>
            <a:r>
              <a:rPr lang="zh-TW" altLang="en-US" dirty="0"/>
              <a:t>可按</a:t>
            </a:r>
            <a:r>
              <a:rPr lang="en-US" altLang="zh-TW" dirty="0"/>
              <a:t>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預設為可按</a:t>
            </a:r>
          </a:p>
          <a:p>
            <a:pPr marL="365760" lvl="1" indent="0">
              <a:buNone/>
            </a:pPr>
            <a:r>
              <a:rPr lang="en-US" altLang="zh-TW" dirty="0"/>
              <a:t>count=0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整數變數當計數器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自行定義的函式</a:t>
            </a: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click():</a:t>
            </a:r>
          </a:p>
          <a:p>
            <a:pPr marL="365760" lvl="1" indent="0">
              <a:buNone/>
            </a:pPr>
            <a:r>
              <a:rPr lang="en-US" altLang="zh-TW" dirty="0"/>
              <a:t> 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使用全域的</a:t>
            </a:r>
            <a:r>
              <a:rPr lang="en-US" altLang="zh-TW" dirty="0">
                <a:solidFill>
                  <a:srgbClr val="FF0000"/>
                </a:solidFill>
              </a:rPr>
              <a:t>count</a:t>
            </a:r>
            <a:r>
              <a:rPr lang="zh-TW" altLang="en-US" dirty="0">
                <a:solidFill>
                  <a:srgbClr val="FF0000"/>
                </a:solidFill>
              </a:rPr>
              <a:t>整數變數</a:t>
            </a:r>
          </a:p>
          <a:p>
            <a:pPr marL="365760" lvl="1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global count</a:t>
            </a:r>
          </a:p>
          <a:p>
            <a:pPr marL="365760" lvl="1" indent="0">
              <a:buNone/>
            </a:pPr>
            <a:r>
              <a:rPr lang="en-US" altLang="zh-TW" dirty="0"/>
              <a:t> 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不是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就是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</a:p>
          <a:p>
            <a:pPr marL="365760" lvl="1" indent="0">
              <a:buNone/>
            </a:pPr>
            <a:r>
              <a:rPr lang="en-US" altLang="zh-TW" dirty="0"/>
              <a:t>  if(count==0):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#</a:t>
            </a:r>
            <a:r>
              <a:rPr lang="zh-TW" altLang="en-US" dirty="0">
                <a:solidFill>
                  <a:srgbClr val="FF0000"/>
                </a:solidFill>
              </a:rPr>
              <a:t>如果是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將</a:t>
            </a:r>
            <a:r>
              <a:rPr lang="en-US" altLang="zh-TW" dirty="0">
                <a:solidFill>
                  <a:srgbClr val="FF0000"/>
                </a:solidFill>
              </a:rPr>
              <a:t>Button2</a:t>
            </a:r>
            <a:r>
              <a:rPr lang="zh-TW" altLang="en-US" dirty="0">
                <a:solidFill>
                  <a:srgbClr val="FF0000"/>
                </a:solidFill>
              </a:rPr>
              <a:t>設為不可以按</a:t>
            </a:r>
          </a:p>
          <a:p>
            <a:pPr marL="365760" lvl="1" indent="0">
              <a:buNone/>
            </a:pPr>
            <a:r>
              <a:rPr lang="zh-TW" altLang="en-US" dirty="0"/>
              <a:t>    </a:t>
            </a:r>
            <a:r>
              <a:rPr lang="en-US" altLang="zh-TW" dirty="0"/>
              <a:t>Button2.config(state="disable")</a:t>
            </a: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e.set</a:t>
            </a:r>
            <a:r>
              <a:rPr lang="en-US" altLang="zh-TW" dirty="0"/>
              <a:t>("</a:t>
            </a:r>
            <a:r>
              <a:rPr lang="zh-TW" altLang="en-US" dirty="0"/>
              <a:t>不可按</a:t>
            </a:r>
            <a:r>
              <a:rPr lang="en-US" altLang="zh-TW" dirty="0"/>
              <a:t>")</a:t>
            </a:r>
          </a:p>
          <a:p>
            <a:pPr marL="365760" lvl="1" indent="0">
              <a:buNone/>
            </a:pPr>
            <a:r>
              <a:rPr lang="en-US" altLang="zh-TW" dirty="0"/>
              <a:t>    count=count+1</a:t>
            </a:r>
          </a:p>
          <a:p>
            <a:pPr marL="365760" lvl="1" indent="0">
              <a:buNone/>
            </a:pPr>
            <a:r>
              <a:rPr lang="en-US" altLang="zh-TW" dirty="0"/>
              <a:t>  else: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#</a:t>
            </a:r>
            <a:r>
              <a:rPr lang="zh-TW" altLang="en-US" dirty="0">
                <a:solidFill>
                  <a:srgbClr val="FF0000"/>
                </a:solidFill>
              </a:rPr>
              <a:t>如果是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將</a:t>
            </a:r>
            <a:r>
              <a:rPr lang="en-US" altLang="zh-TW" dirty="0">
                <a:solidFill>
                  <a:srgbClr val="FF0000"/>
                </a:solidFill>
              </a:rPr>
              <a:t>Button2</a:t>
            </a:r>
            <a:r>
              <a:rPr lang="zh-TW" altLang="en-US" dirty="0">
                <a:solidFill>
                  <a:srgbClr val="FF0000"/>
                </a:solidFill>
              </a:rPr>
              <a:t>設為不可以按</a:t>
            </a:r>
          </a:p>
          <a:p>
            <a:pPr marL="365760" lvl="1" indent="0">
              <a:buNone/>
            </a:pPr>
            <a:r>
              <a:rPr lang="zh-TW" altLang="en-US" dirty="0"/>
              <a:t>    </a:t>
            </a:r>
            <a:r>
              <a:rPr lang="en-US" altLang="zh-TW" dirty="0"/>
              <a:t>Button2.config(state="active")</a:t>
            </a: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e.set</a:t>
            </a:r>
            <a:r>
              <a:rPr lang="en-US" altLang="zh-TW" dirty="0"/>
              <a:t>("</a:t>
            </a:r>
            <a:r>
              <a:rPr lang="zh-TW" altLang="en-US" dirty="0"/>
              <a:t>可按</a:t>
            </a:r>
            <a:r>
              <a:rPr lang="en-US" altLang="zh-TW" dirty="0"/>
              <a:t>")</a:t>
            </a:r>
          </a:p>
          <a:p>
            <a:pPr marL="365760" lvl="1" indent="0">
              <a:buNone/>
            </a:pPr>
            <a:r>
              <a:rPr lang="en-US" altLang="zh-TW" dirty="0"/>
              <a:t>    count=0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顯示字串與設定呼叫指定函式</a:t>
            </a:r>
          </a:p>
          <a:p>
            <a:pPr marL="365760" lvl="1" indent="0">
              <a:buNone/>
            </a:pPr>
            <a:r>
              <a:rPr lang="en-US" altLang="zh-TW" dirty="0"/>
              <a:t>Button1 = Button(root, text="</a:t>
            </a:r>
            <a:r>
              <a:rPr lang="en-US" altLang="zh-TW" dirty="0" err="1"/>
              <a:t>change",command</a:t>
            </a:r>
            <a:r>
              <a:rPr lang="en-US" altLang="zh-TW" dirty="0"/>
              <a:t>= click)</a:t>
            </a:r>
          </a:p>
          <a:p>
            <a:pPr marL="365760" lvl="1" indent="0">
              <a:buNone/>
            </a:pPr>
            <a:r>
              <a:rPr lang="en-US" altLang="zh-TW" dirty="0"/>
              <a:t>Button1.pack()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</a:p>
          <a:p>
            <a:pPr marL="365760" lvl="1" indent="0">
              <a:buNone/>
            </a:pPr>
            <a:r>
              <a:rPr lang="en-US" altLang="zh-TW" dirty="0"/>
              <a:t>Button2 = Button(root, </a:t>
            </a:r>
            <a:r>
              <a:rPr lang="en-US" altLang="zh-TW" dirty="0" err="1"/>
              <a:t>textvariable</a:t>
            </a:r>
            <a:r>
              <a:rPr lang="en-US" altLang="zh-TW" dirty="0"/>
              <a:t> = e)</a:t>
            </a:r>
          </a:p>
          <a:p>
            <a:pPr marL="365760" lvl="1" indent="0">
              <a:buNone/>
            </a:pPr>
            <a:r>
              <a:rPr lang="en-US" altLang="zh-TW" dirty="0"/>
              <a:t>Button2.pack()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699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Button</a:t>
            </a:r>
            <a:r>
              <a:rPr lang="zh-TW" altLang="en-US" dirty="0"/>
              <a:t>動態顯示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en-US" altLang="zh-TW" dirty="0"/>
              <a:t>change</a:t>
            </a:r>
            <a:r>
              <a:rPr lang="zh-TW" altLang="en-US" dirty="0"/>
              <a:t>鈕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889" y="3149530"/>
            <a:ext cx="12573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505" y="5048180"/>
            <a:ext cx="12573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121700" y="3668014"/>
            <a:ext cx="720080" cy="3036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890001" y="3819843"/>
            <a:ext cx="108012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5114137" y="3635177"/>
            <a:ext cx="156966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按鈕可以點選</a:t>
            </a:r>
          </a:p>
        </p:txBody>
      </p:sp>
      <p:sp>
        <p:nvSpPr>
          <p:cNvPr id="11" name="矩形 10"/>
          <p:cNvSpPr/>
          <p:nvPr/>
        </p:nvSpPr>
        <p:spPr>
          <a:xfrm>
            <a:off x="3121700" y="5607035"/>
            <a:ext cx="720080" cy="3036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890001" y="5758864"/>
            <a:ext cx="108012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5114137" y="5574198"/>
            <a:ext cx="20313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按鈕變成不可點選</a:t>
            </a:r>
          </a:p>
        </p:txBody>
      </p:sp>
    </p:spTree>
    <p:extLst>
      <p:ext uri="{BB962C8B-B14F-4D97-AF65-F5344CB8AC3E}">
        <p14:creationId xmlns:p14="http://schemas.microsoft.com/office/powerpoint/2010/main" val="26830393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</a:t>
            </a:r>
            <a:r>
              <a:rPr lang="en-US" altLang="zh-TW" dirty="0"/>
              <a:t>Button</a:t>
            </a:r>
            <a:r>
              <a:rPr lang="zh-TW" altLang="en-US" dirty="0"/>
              <a:t>消失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函式，使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  <a:r>
              <a:rPr lang="zh-TW" altLang="en-US" dirty="0">
                <a:solidFill>
                  <a:srgbClr val="FF0000"/>
                </a:solidFill>
              </a:rPr>
              <a:t>消失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hide_me</a:t>
            </a:r>
            <a:r>
              <a:rPr lang="en-US" altLang="zh-TW" dirty="0"/>
              <a:t>(event):</a:t>
            </a: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event.widget.pack_forget</a:t>
            </a:r>
            <a:r>
              <a:rPr lang="en-US" altLang="zh-TW" dirty="0"/>
              <a:t>()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b1=Button(root, text="Click")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b1.bind("&lt;Button-1&gt;", </a:t>
            </a:r>
            <a:r>
              <a:rPr lang="en-US" altLang="zh-TW" dirty="0" err="1"/>
              <a:t>hide_me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事件，當按下滑鼠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左鍵一下，呼叫函式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b1.pack()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237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</a:t>
            </a:r>
            <a:r>
              <a:rPr lang="en-US" altLang="zh-TW" dirty="0"/>
              <a:t>Button</a:t>
            </a:r>
            <a:r>
              <a:rPr lang="zh-TW" altLang="en-US" dirty="0"/>
              <a:t>消失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en-US" altLang="zh-TW" dirty="0"/>
              <a:t>Click</a:t>
            </a:r>
            <a:r>
              <a:rPr lang="zh-TW" altLang="en-US" dirty="0"/>
              <a:t>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40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116" y="3311277"/>
            <a:ext cx="12573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116" y="4823445"/>
            <a:ext cx="12573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176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</a:t>
            </a:r>
            <a:r>
              <a:rPr lang="en-US" altLang="zh-TW" dirty="0"/>
              <a:t>Button</a:t>
            </a:r>
            <a:r>
              <a:rPr lang="zh-TW" altLang="en-US" dirty="0"/>
              <a:t>消失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190063"/>
          </a:xfrm>
        </p:spPr>
        <p:txBody>
          <a:bodyPr>
            <a:normAutofit fontScale="40000" lnSpcReduction="20000"/>
          </a:bodyPr>
          <a:lstStyle/>
          <a:p>
            <a:r>
              <a:rPr lang="zh-TW" altLang="en-US" sz="4200" dirty="0"/>
              <a:t>範例</a:t>
            </a:r>
            <a:r>
              <a:rPr lang="en-US" altLang="zh-TW" sz="4200" dirty="0"/>
              <a:t>:</a:t>
            </a:r>
          </a:p>
          <a:p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載入視窗程式函式庫</a:t>
            </a:r>
          </a:p>
          <a:p>
            <a:r>
              <a:rPr lang="en-US" altLang="zh-TW" dirty="0"/>
              <a:t>from random import </a:t>
            </a:r>
            <a:r>
              <a:rPr lang="en-US" altLang="zh-TW" dirty="0" err="1"/>
              <a:t>randint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載入亂數函式庫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隱藏原本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  <a:r>
              <a:rPr lang="zh-TW" altLang="en-US" dirty="0">
                <a:solidFill>
                  <a:srgbClr val="FF0000"/>
                </a:solidFill>
              </a:rPr>
              <a:t>，在建立兩個新的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hide_me</a:t>
            </a:r>
            <a:r>
              <a:rPr lang="en-US" altLang="zh-TW" dirty="0"/>
              <a:t>(event):</a:t>
            </a:r>
          </a:p>
          <a:p>
            <a:r>
              <a:rPr lang="en-US" altLang="zh-TW" dirty="0"/>
              <a:t>    X=</a:t>
            </a:r>
            <a:r>
              <a:rPr lang="en-US" altLang="zh-TW" dirty="0" err="1"/>
              <a:t>randint</a:t>
            </a:r>
            <a:r>
              <a:rPr lang="en-US" altLang="zh-TW" dirty="0"/>
              <a:t>(0,4)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亂數產生</a:t>
            </a:r>
            <a:r>
              <a:rPr lang="en-US" altLang="zh-TW" dirty="0">
                <a:solidFill>
                  <a:srgbClr val="FF0000"/>
                </a:solidFill>
              </a:rPr>
              <a:t>0~4</a:t>
            </a:r>
            <a:r>
              <a:rPr lang="zh-TW" altLang="en-US" dirty="0">
                <a:solidFill>
                  <a:srgbClr val="FF0000"/>
                </a:solidFill>
              </a:rPr>
              <a:t>的數值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Y=</a:t>
            </a:r>
            <a:r>
              <a:rPr lang="en-US" altLang="zh-TW" dirty="0" err="1"/>
              <a:t>randint</a:t>
            </a:r>
            <a:r>
              <a:rPr lang="en-US" altLang="zh-TW" dirty="0"/>
              <a:t>(0,4)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亂數產生</a:t>
            </a:r>
            <a:r>
              <a:rPr lang="en-US" altLang="zh-TW" dirty="0">
                <a:solidFill>
                  <a:srgbClr val="FF0000"/>
                </a:solidFill>
              </a:rPr>
              <a:t>0~4</a:t>
            </a:r>
            <a:r>
              <a:rPr lang="zh-TW" altLang="en-US" dirty="0">
                <a:solidFill>
                  <a:srgbClr val="FF0000"/>
                </a:solidFill>
              </a:rPr>
              <a:t>的數值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X1=</a:t>
            </a:r>
            <a:r>
              <a:rPr lang="en-US" altLang="zh-TW" dirty="0" err="1"/>
              <a:t>randint</a:t>
            </a:r>
            <a:r>
              <a:rPr lang="en-US" altLang="zh-TW" dirty="0"/>
              <a:t>(0,4)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亂數產生</a:t>
            </a:r>
            <a:r>
              <a:rPr lang="en-US" altLang="zh-TW" dirty="0">
                <a:solidFill>
                  <a:srgbClr val="FF0000"/>
                </a:solidFill>
              </a:rPr>
              <a:t>0~4</a:t>
            </a:r>
            <a:r>
              <a:rPr lang="zh-TW" altLang="en-US" dirty="0">
                <a:solidFill>
                  <a:srgbClr val="FF0000"/>
                </a:solidFill>
              </a:rPr>
              <a:t>的數值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Y1=</a:t>
            </a:r>
            <a:r>
              <a:rPr lang="en-US" altLang="zh-TW" dirty="0" err="1"/>
              <a:t>randint</a:t>
            </a:r>
            <a:r>
              <a:rPr lang="en-US" altLang="zh-TW" dirty="0"/>
              <a:t>(0,4)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亂數產生</a:t>
            </a:r>
            <a:r>
              <a:rPr lang="en-US" altLang="zh-TW" dirty="0">
                <a:solidFill>
                  <a:srgbClr val="FF0000"/>
                </a:solidFill>
              </a:rPr>
              <a:t>0~4</a:t>
            </a:r>
            <a:r>
              <a:rPr lang="zh-TW" altLang="en-US" dirty="0">
                <a:solidFill>
                  <a:srgbClr val="FF0000"/>
                </a:solidFill>
              </a:rPr>
              <a:t>的數值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b1=Button(root, text="Click")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b1.bind("&lt;Button-1&gt;", </a:t>
            </a:r>
            <a:r>
              <a:rPr lang="en-US" altLang="zh-TW" dirty="0" err="1"/>
              <a:t>hide_me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事件，當按下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滑鼠左鍵一下，呼叫函式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b1.grid(row = </a:t>
            </a:r>
            <a:r>
              <a:rPr lang="en-US" altLang="zh-TW" dirty="0" err="1"/>
              <a:t>X,column</a:t>
            </a:r>
            <a:r>
              <a:rPr lang="en-US" altLang="zh-TW" dirty="0"/>
              <a:t> = Y)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  <a:r>
              <a:rPr lang="zh-TW" altLang="en-US" dirty="0">
                <a:solidFill>
                  <a:srgbClr val="FF0000"/>
                </a:solidFill>
              </a:rPr>
              <a:t>且隨機擺放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    </a:t>
            </a:r>
          </a:p>
          <a:p>
            <a:r>
              <a:rPr lang="en-US" altLang="zh-TW" dirty="0"/>
              <a:t>    b2=Button(root, text="Click")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b2.bind("&lt;Button-1&gt;", </a:t>
            </a:r>
            <a:r>
              <a:rPr lang="en-US" altLang="zh-TW" dirty="0" err="1"/>
              <a:t>hide_me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事件，當按下滑鼠左鍵一下，呼叫函式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b2.grid(row = X1,column = Y1)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  <a:r>
              <a:rPr lang="zh-TW" altLang="en-US" dirty="0">
                <a:solidFill>
                  <a:srgbClr val="FF0000"/>
                </a:solidFill>
              </a:rPr>
              <a:t>且隨機擺放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    </a:t>
            </a:r>
            <a:r>
              <a:rPr lang="en-US" altLang="zh-TW" dirty="0" err="1"/>
              <a:t>event.widget.grid_forget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使原本的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  <a:r>
              <a:rPr lang="zh-TW" altLang="en-US" dirty="0">
                <a:solidFill>
                  <a:srgbClr val="FF0000"/>
                </a:solidFill>
              </a:rPr>
              <a:t>消失</a:t>
            </a:r>
          </a:p>
          <a:p>
            <a:endParaRPr lang="zh-TW" altLang="en-US" dirty="0"/>
          </a:p>
          <a:p>
            <a:r>
              <a:rPr lang="zh-TW" altLang="en-US" dirty="0"/>
              <a:t>    </a:t>
            </a:r>
          </a:p>
          <a:p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</a:p>
          <a:p>
            <a:r>
              <a:rPr lang="en-US" altLang="zh-TW" dirty="0"/>
              <a:t>b1=Button(root, text="Click")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</a:p>
          <a:p>
            <a:r>
              <a:rPr lang="en-US" altLang="zh-TW" dirty="0"/>
              <a:t>b1.bind("&lt;Button-1&gt;", </a:t>
            </a:r>
            <a:r>
              <a:rPr lang="en-US" altLang="zh-TW" dirty="0" err="1"/>
              <a:t>hide_me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事件，當按下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滑鼠左鍵一下，呼叫函式</a:t>
            </a:r>
          </a:p>
          <a:p>
            <a:r>
              <a:rPr lang="en-US" altLang="zh-TW" dirty="0"/>
              <a:t>b1.grid(row = 0,column = 0)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Button</a:t>
            </a:r>
          </a:p>
          <a:p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7919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</a:t>
            </a:r>
            <a:r>
              <a:rPr lang="en-US" altLang="zh-TW" dirty="0"/>
              <a:t>Button</a:t>
            </a:r>
            <a:r>
              <a:rPr lang="zh-TW" altLang="en-US" dirty="0"/>
              <a:t>消失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en-US" altLang="zh-TW" dirty="0"/>
              <a:t>Click</a:t>
            </a:r>
            <a:r>
              <a:rPr lang="zh-TW" altLang="en-US" dirty="0"/>
              <a:t>後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890634"/>
            <a:ext cx="12573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209" y="3573016"/>
            <a:ext cx="12573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3138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資料來源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http://pan.baidu.com/share/link?shareid=2190696726&amp;uk=338543583&amp;fid=714357500588689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http://blog.csdn.net/a359680405/article/category/2799089/2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282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Button大小設為</a:t>
            </a:r>
            <a:r>
              <a:rPr lang="en-US" altLang="zh-TW" dirty="0"/>
              <a:t> width = 30，height = 5 ，</a:t>
            </a:r>
            <a:r>
              <a:rPr lang="zh-TW" altLang="en-US" dirty="0"/>
              <a:t>當按下</a:t>
            </a:r>
            <a:r>
              <a:rPr lang="en-US" altLang="zh-TW" dirty="0"/>
              <a:t>Button，</a:t>
            </a:r>
            <a:r>
              <a:rPr lang="zh-TW" altLang="en-US" dirty="0"/>
              <a:t>字串顯示方位順序為</a:t>
            </a:r>
            <a:r>
              <a:rPr lang="en-US" altLang="zh-TW" dirty="0"/>
              <a:t>e, se, s, </a:t>
            </a:r>
            <a:r>
              <a:rPr lang="en-US" altLang="zh-TW" dirty="0" err="1"/>
              <a:t>sw</a:t>
            </a:r>
            <a:r>
              <a:rPr lang="en-US" altLang="zh-TW" dirty="0"/>
              <a:t>, w, </a:t>
            </a:r>
            <a:r>
              <a:rPr lang="en-US" altLang="zh-TW" dirty="0" err="1"/>
              <a:t>nw</a:t>
            </a:r>
            <a:r>
              <a:rPr lang="en-US" altLang="zh-TW" dirty="0"/>
              <a:t>, n, ne, </a:t>
            </a:r>
            <a:r>
              <a:rPr lang="en-US" altLang="zh-TW" dirty="0" err="1"/>
              <a:t>center，最後會回到方位e</a:t>
            </a:r>
            <a:r>
              <a:rPr lang="zh-TW" altLang="en-US" dirty="0"/>
              <a:t>。</a:t>
            </a:r>
            <a:r>
              <a:rPr lang="en-US" altLang="zh-TW" dirty="0"/>
              <a:t>(</a:t>
            </a:r>
            <a:r>
              <a:rPr lang="en-US" altLang="zh-TW" dirty="0" err="1"/>
              <a:t>可以透過</a:t>
            </a:r>
            <a:r>
              <a:rPr lang="en-US" altLang="zh-TW" dirty="0"/>
              <a:t> Button1.config(anchor="w")</a:t>
            </a:r>
            <a:r>
              <a:rPr lang="en-US" altLang="zh-TW" dirty="0" err="1"/>
              <a:t>改變位置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150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按一下</a:t>
            </a:r>
            <a:r>
              <a:rPr lang="en-US" altLang="zh-TW" dirty="0" err="1"/>
              <a:t>Button後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45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140968"/>
            <a:ext cx="22479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939" y="5157192"/>
            <a:ext cx="22479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2114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altLang="zh-TW" dirty="0"/>
          </a:p>
          <a:p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*#</a:t>
            </a:r>
            <a:r>
              <a:rPr lang="zh-TW" altLang="en-US" dirty="0"/>
              <a:t>載入函式庫</a:t>
            </a:r>
          </a:p>
          <a:p>
            <a:r>
              <a:rPr lang="en-US" altLang="zh-TW" dirty="0"/>
              <a:t>root=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count=1#</a:t>
            </a:r>
            <a:r>
              <a:rPr lang="zh-TW" altLang="en-US" dirty="0"/>
              <a:t>整數變數當計數器</a:t>
            </a:r>
          </a:p>
          <a:p>
            <a:r>
              <a:rPr lang="en-US" altLang="zh-TW" dirty="0" err="1"/>
              <a:t>loc</a:t>
            </a:r>
            <a:r>
              <a:rPr lang="en-US" altLang="zh-TW" dirty="0"/>
              <a:t>=["e","se","s","</a:t>
            </a:r>
            <a:r>
              <a:rPr lang="en-US" altLang="zh-TW" dirty="0" err="1"/>
              <a:t>sw</a:t>
            </a:r>
            <a:r>
              <a:rPr lang="en-US" altLang="zh-TW" dirty="0"/>
              <a:t>","w","</a:t>
            </a:r>
            <a:r>
              <a:rPr lang="en-US" altLang="zh-TW" dirty="0" err="1"/>
              <a:t>nw</a:t>
            </a:r>
            <a:r>
              <a:rPr lang="en-US" altLang="zh-TW" dirty="0"/>
              <a:t>","</a:t>
            </a:r>
            <a:r>
              <a:rPr lang="en-US" altLang="zh-TW" dirty="0" err="1"/>
              <a:t>n","ne","center</a:t>
            </a:r>
            <a:r>
              <a:rPr lang="en-US" altLang="zh-TW" dirty="0"/>
              <a:t>"]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#</a:t>
            </a:r>
            <a:r>
              <a:rPr lang="zh-TW" altLang="en-US" dirty="0"/>
              <a:t>自行定義的函式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click():</a:t>
            </a:r>
          </a:p>
          <a:p>
            <a:r>
              <a:rPr lang="en-US" altLang="zh-TW" dirty="0"/>
              <a:t>    global count</a:t>
            </a:r>
          </a:p>
          <a:p>
            <a:r>
              <a:rPr lang="en-US" altLang="zh-TW" dirty="0"/>
              <a:t>    Button1.config(anchor=</a:t>
            </a:r>
            <a:r>
              <a:rPr lang="en-US" altLang="zh-TW" dirty="0" err="1"/>
              <a:t>loc</a:t>
            </a:r>
            <a:r>
              <a:rPr lang="en-US" altLang="zh-TW" dirty="0"/>
              <a:t>[count])</a:t>
            </a:r>
          </a:p>
          <a:p>
            <a:r>
              <a:rPr lang="en-US" altLang="zh-TW" dirty="0"/>
              <a:t>    count+=1</a:t>
            </a:r>
          </a:p>
          <a:p>
            <a:r>
              <a:rPr lang="en-US" altLang="zh-TW" dirty="0"/>
              <a:t>    if(count&gt;8):</a:t>
            </a:r>
          </a:p>
          <a:p>
            <a:r>
              <a:rPr lang="en-US" altLang="zh-TW" dirty="0"/>
              <a:t>        count=0</a:t>
            </a:r>
          </a:p>
          <a:p>
            <a:endParaRPr lang="en-US" altLang="zh-TW" dirty="0"/>
          </a:p>
          <a:p>
            <a:r>
              <a:rPr lang="en-US" altLang="zh-TW" dirty="0"/>
              <a:t>#</a:t>
            </a:r>
            <a:r>
              <a:rPr lang="zh-TW" altLang="en-US" dirty="0"/>
              <a:t>顯示字串與設定呼叫指定函式</a:t>
            </a:r>
          </a:p>
          <a:p>
            <a:r>
              <a:rPr lang="en-US" altLang="zh-TW" dirty="0"/>
              <a:t>Button1 = Button(</a:t>
            </a:r>
            <a:r>
              <a:rPr lang="en-US" altLang="zh-TW" dirty="0" err="1"/>
              <a:t>root,anchor</a:t>
            </a:r>
            <a:r>
              <a:rPr lang="en-US" altLang="zh-TW" dirty="0"/>
              <a:t>="</a:t>
            </a:r>
            <a:r>
              <a:rPr lang="en-US" altLang="zh-TW" dirty="0" err="1"/>
              <a:t>e",text</a:t>
            </a:r>
            <a:r>
              <a:rPr lang="en-US" altLang="zh-TW" dirty="0"/>
              <a:t>="</a:t>
            </a:r>
            <a:r>
              <a:rPr lang="en-US" altLang="zh-TW" dirty="0" err="1"/>
              <a:t>change",command</a:t>
            </a:r>
            <a:r>
              <a:rPr lang="en-US" altLang="zh-TW" dirty="0"/>
              <a:t>= </a:t>
            </a:r>
            <a:r>
              <a:rPr lang="en-US" altLang="zh-TW" dirty="0" err="1"/>
              <a:t>click,width</a:t>
            </a:r>
            <a:r>
              <a:rPr lang="en-US" altLang="zh-TW" dirty="0"/>
              <a:t> = 30,height = 5)</a:t>
            </a:r>
          </a:p>
          <a:p>
            <a:r>
              <a:rPr lang="en-US" altLang="zh-TW" dirty="0"/>
              <a:t>Button1.pack()</a:t>
            </a:r>
          </a:p>
          <a:p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508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512</TotalTime>
  <Words>2830</Words>
  <Application>Microsoft Office PowerPoint</Application>
  <PresentationFormat>如螢幕大小 (4:3)</PresentationFormat>
  <Paragraphs>471</Paragraphs>
  <Slides>46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6" baseType="lpstr">
      <vt:lpstr>黑体</vt:lpstr>
      <vt:lpstr>微軟正黑體</vt:lpstr>
      <vt:lpstr>新細明體</vt:lpstr>
      <vt:lpstr>Brush Script MT</vt:lpstr>
      <vt:lpstr>Calibri</vt:lpstr>
      <vt:lpstr>Constantia</vt:lpstr>
      <vt:lpstr>Franklin Gothic Book</vt:lpstr>
      <vt:lpstr>Rage Italic</vt:lpstr>
      <vt:lpstr>Wingdings</vt:lpstr>
      <vt:lpstr>圖釘</vt:lpstr>
      <vt:lpstr>Button組件</vt:lpstr>
      <vt:lpstr>學習目標</vt:lpstr>
      <vt:lpstr>建立一個Button</vt:lpstr>
      <vt:lpstr>建立一個Button</vt:lpstr>
      <vt:lpstr>建立一個Button</vt:lpstr>
      <vt:lpstr>Button外框效果</vt:lpstr>
      <vt:lpstr>Button外框效果</vt:lpstr>
      <vt:lpstr>Button外框效果</vt:lpstr>
      <vt:lpstr>Button顯示字串與圖示</vt:lpstr>
      <vt:lpstr>Button顯示字串與圖示</vt:lpstr>
      <vt:lpstr>Button顯示字串與圖示</vt:lpstr>
      <vt:lpstr>設定Button大小</vt:lpstr>
      <vt:lpstr>設定Button大小</vt:lpstr>
      <vt:lpstr>設定Button顏色</vt:lpstr>
      <vt:lpstr>設定Button顏色</vt:lpstr>
      <vt:lpstr>Button元件放置</vt:lpstr>
      <vt:lpstr>Button元件放置</vt:lpstr>
      <vt:lpstr>Button元件放置</vt:lpstr>
      <vt:lpstr>Button元件放置</vt:lpstr>
      <vt:lpstr>Button元件放置</vt:lpstr>
      <vt:lpstr>PowerPoint 簡報</vt:lpstr>
      <vt:lpstr>透過Button呼叫函式</vt:lpstr>
      <vt:lpstr>透過Button呼叫函式</vt:lpstr>
      <vt:lpstr>透過Button呼叫函式</vt:lpstr>
      <vt:lpstr>PowerPoint 簡報</vt:lpstr>
      <vt:lpstr>設置Button字串位置</vt:lpstr>
      <vt:lpstr>設置Button字串位置</vt:lpstr>
      <vt:lpstr>設置Button字串位置</vt:lpstr>
      <vt:lpstr>設置Button字串位置</vt:lpstr>
      <vt:lpstr>設置Button邊框粗細</vt:lpstr>
      <vt:lpstr>設置Button邊框粗細</vt:lpstr>
      <vt:lpstr>設置Button狀態</vt:lpstr>
      <vt:lpstr>設置Button狀態</vt:lpstr>
      <vt:lpstr>Button動態顯示</vt:lpstr>
      <vt:lpstr>Button動態顯示</vt:lpstr>
      <vt:lpstr>Button動態顯示</vt:lpstr>
      <vt:lpstr>Button動態顯示</vt:lpstr>
      <vt:lpstr>Button動態顯示</vt:lpstr>
      <vt:lpstr>使Button消失</vt:lpstr>
      <vt:lpstr>使Button消失</vt:lpstr>
      <vt:lpstr>使Button消失</vt:lpstr>
      <vt:lpstr>使Button消失</vt:lpstr>
      <vt:lpstr>資料來源</vt:lpstr>
      <vt:lpstr>作業</vt:lpstr>
      <vt:lpstr>作業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weng1</dc:creator>
  <cp:lastModifiedBy>user</cp:lastModifiedBy>
  <cp:revision>208</cp:revision>
  <dcterms:created xsi:type="dcterms:W3CDTF">2015-08-18T06:38:18Z</dcterms:created>
  <dcterms:modified xsi:type="dcterms:W3CDTF">2021-03-10T08:09:50Z</dcterms:modified>
</cp:coreProperties>
</file>