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317" r:id="rId3"/>
    <p:sldId id="299" r:id="rId4"/>
    <p:sldId id="298" r:id="rId5"/>
    <p:sldId id="313" r:id="rId6"/>
    <p:sldId id="303" r:id="rId7"/>
    <p:sldId id="302" r:id="rId8"/>
    <p:sldId id="314" r:id="rId9"/>
    <p:sldId id="315" r:id="rId10"/>
    <p:sldId id="316" r:id="rId11"/>
    <p:sldId id="306" r:id="rId12"/>
    <p:sldId id="304" r:id="rId13"/>
    <p:sldId id="305" r:id="rId14"/>
    <p:sldId id="308" r:id="rId15"/>
    <p:sldId id="307" r:id="rId16"/>
    <p:sldId id="318" r:id="rId17"/>
    <p:sldId id="320" r:id="rId18"/>
    <p:sldId id="321" r:id="rId19"/>
    <p:sldId id="309" r:id="rId20"/>
    <p:sldId id="310" r:id="rId21"/>
    <p:sldId id="311" r:id="rId22"/>
    <p:sldId id="324" r:id="rId23"/>
    <p:sldId id="325" r:id="rId24"/>
    <p:sldId id="297" r:id="rId25"/>
    <p:sldId id="295" r:id="rId26"/>
    <p:sldId id="322" r:id="rId27"/>
    <p:sldId id="323" r:id="rId28"/>
    <p:sldId id="319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8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1699-69A6-452F-94A2-04B496C86193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B030-809D-4F61-94E6-0002C8946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97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dirty="0" smtClean="0"/>
              <a:t>#000000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5B030-809D-4F61-94E6-0002C8946AD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491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5B030-809D-4F61-94E6-0002C8946AD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9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27AE2D2-A899-4222-B9E0-2F69355B53BC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192E-6208-4E27-A69B-DF41C22FD586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82997-9E3C-4301-9282-F0F92367602E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8171-A347-4DE4-88EE-D86B84DCD9DD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533-66AC-48FB-8D23-2B4034A4DE38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8968-96BB-4BFF-A510-AD4037A29133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D790-731F-4A61-9FC7-05D45F6D1FAF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28DF2AF-5749-46D1-9AE0-D7EC8D4C4B64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A8F7E521-B9D8-4552-956E-0B4097B33FC4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E005-3431-4CA6-99FE-DC8F94E06F88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12D6-09A4-4224-925F-508AFE4BDD81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0293653-15F7-4FC6-B79E-128EDD0C8141}" type="datetime1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freesite.com/color/" TargetMode="External"/><Relationship Id="rId2" Type="http://schemas.openxmlformats.org/officeDocument/2006/relationships/hyperlink" Target="http://pan.baidu.com/share/link?shareid=2190696726&amp;uk=338543583&amp;fid=71435750058868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funotes.blogspot.tw/2014/11/python-34-tkinter-widgets.htm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Label</a:t>
            </a:r>
            <a:r>
              <a:rPr lang="zh-TW" altLang="en-US" dirty="0" smtClean="0"/>
              <a:t>組件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07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本章節介紹</a:t>
            </a:r>
            <a:r>
              <a:rPr lang="en-US" altLang="zh-TW" dirty="0" smtClean="0"/>
              <a:t>:</a:t>
            </a:r>
            <a:endParaRPr lang="en-US" altLang="zh-TW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建立一個</a:t>
            </a:r>
            <a:r>
              <a:rPr lang="en-US" altLang="zh-TW" dirty="0" smtClean="0"/>
              <a:t>Label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Label</a:t>
            </a:r>
            <a:r>
              <a:rPr lang="zh-TW" altLang="en-US" dirty="0"/>
              <a:t>顯示字串與圖示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/>
              <a:t>顏色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 smtClean="0"/>
              <a:t>大小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/>
              <a:t>中的字體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Label</a:t>
            </a:r>
            <a:r>
              <a:rPr lang="zh-TW" altLang="en-US" dirty="0"/>
              <a:t>多行表示</a:t>
            </a:r>
            <a:r>
              <a:rPr lang="zh-TW" altLang="en-US" dirty="0" smtClean="0"/>
              <a:t>方式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Label</a:t>
            </a:r>
            <a:r>
              <a:rPr lang="zh-TW" altLang="en-US" dirty="0"/>
              <a:t>動態顯示</a:t>
            </a:r>
          </a:p>
          <a:p>
            <a:pPr marL="822960" lvl="1" indent="-457200">
              <a:buFont typeface="+mj-lt"/>
              <a:buAutoNum type="arabicPeriod"/>
            </a:pPr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99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zh-TW" altLang="en-US" dirty="0" smtClean="0"/>
              <a:t>一個</a:t>
            </a:r>
            <a:r>
              <a:rPr lang="en-US" altLang="zh-TW" dirty="0"/>
              <a:t>Label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1: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顯示字串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label = Label(</a:t>
            </a:r>
            <a:r>
              <a:rPr lang="en-US" altLang="zh-TW" dirty="0" err="1"/>
              <a:t>root,text</a:t>
            </a:r>
            <a:r>
              <a:rPr lang="en-US" altLang="zh-TW" dirty="0"/>
              <a:t> = "Hello KUAS ")</a:t>
            </a:r>
          </a:p>
          <a:p>
            <a:pPr marL="365760" lvl="1" indent="0">
              <a:buNone/>
            </a:pPr>
            <a:r>
              <a:rPr lang="en-US" altLang="zh-TW" dirty="0" err="1"/>
              <a:t>label.pack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語法</a:t>
            </a:r>
            <a:r>
              <a:rPr lang="en-US" altLang="zh-TW" dirty="0" smtClean="0"/>
              <a:t>2: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顯示字串</a:t>
            </a:r>
            <a:endParaRPr lang="en-US" altLang="zh-TW" dirty="0" smtClean="0"/>
          </a:p>
          <a:p>
            <a:pPr marL="365760" lvl="1" indent="0">
              <a:buNone/>
            </a:pPr>
            <a:r>
              <a:rPr lang="en-US" altLang="zh-TW" dirty="0"/>
              <a:t>Label(</a:t>
            </a:r>
            <a:r>
              <a:rPr lang="en-US" altLang="zh-TW" dirty="0" err="1"/>
              <a:t>root,text</a:t>
            </a:r>
            <a:r>
              <a:rPr lang="en-US" altLang="zh-TW" dirty="0"/>
              <a:t> = </a:t>
            </a:r>
            <a:r>
              <a:rPr lang="en-US" altLang="zh-TW" dirty="0" smtClean="0"/>
              <a:t>"Hello KUAS").</a:t>
            </a:r>
            <a:r>
              <a:rPr lang="en-US" altLang="zh-TW" dirty="0"/>
              <a:t>pack()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2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/>
              <a:t>Label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</a:t>
            </a:r>
            <a:r>
              <a:rPr lang="zh-TW" altLang="en-US" dirty="0" smtClean="0">
                <a:solidFill>
                  <a:srgbClr val="FF0000"/>
                </a:solidFill>
              </a:rPr>
              <a:t>庫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建立視窗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設定Label並顯示字串</a:t>
            </a:r>
            <a:r>
              <a:rPr lang="en-US" altLang="zh-TW" dirty="0" smtClean="0"/>
              <a:t> </a:t>
            </a:r>
          </a:p>
          <a:p>
            <a:pPr marL="365760" lvl="1" indent="0">
              <a:buNone/>
            </a:pPr>
            <a:r>
              <a:rPr lang="en-US" altLang="zh-TW" dirty="0" smtClean="0"/>
              <a:t>label </a:t>
            </a:r>
            <a:r>
              <a:rPr lang="en-US" altLang="zh-TW" dirty="0"/>
              <a:t>= Label(</a:t>
            </a:r>
            <a:r>
              <a:rPr lang="en-US" altLang="zh-TW" dirty="0" err="1"/>
              <a:t>root,text</a:t>
            </a:r>
            <a:r>
              <a:rPr lang="en-US" altLang="zh-TW" dirty="0"/>
              <a:t> = "Hello KUAS ")</a:t>
            </a:r>
          </a:p>
          <a:p>
            <a:pPr marL="365760" lvl="1" indent="0">
              <a:buNone/>
            </a:pPr>
            <a:r>
              <a:rPr lang="en-US" altLang="zh-TW" dirty="0" err="1"/>
              <a:t>label.pack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 smtClean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 Label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 smtClean="0"/>
              <a:t>()</a:t>
            </a: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589240"/>
            <a:ext cx="15430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139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 smtClean="0"/>
              <a:t>顯示</a:t>
            </a:r>
            <a:r>
              <a:rPr lang="zh-TW" altLang="en-US" dirty="0"/>
              <a:t>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圖示顯示</a:t>
            </a:r>
            <a:r>
              <a:rPr lang="zh-TW" altLang="en-US" dirty="0" smtClean="0"/>
              <a:t>位置</a:t>
            </a:r>
            <a:r>
              <a:rPr lang="en-US" altLang="zh-TW" dirty="0" smtClean="0"/>
              <a:t>(compound)</a:t>
            </a:r>
            <a:r>
              <a:rPr lang="zh-TW" altLang="en-US" dirty="0" smtClean="0"/>
              <a:t>的指令</a:t>
            </a:r>
            <a:r>
              <a:rPr lang="zh-CN" altLang="en-US" dirty="0" smtClean="0"/>
              <a:t>：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top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smtClean="0"/>
              <a:t>bottom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c</a:t>
            </a:r>
            <a:r>
              <a:rPr lang="en-US" altLang="zh-TW" dirty="0" smtClean="0"/>
              <a:t>enter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/>
              <a:t>l</a:t>
            </a:r>
            <a:r>
              <a:rPr lang="en-US" altLang="zh-TW" dirty="0" smtClean="0"/>
              <a:t>eft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right</a:t>
            </a:r>
          </a:p>
          <a:p>
            <a:pPr marL="822960" lvl="1" indent="-45720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0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 smtClean="0"/>
              <a:t>顯示</a:t>
            </a:r>
            <a:r>
              <a:rPr lang="zh-TW" altLang="en-US" dirty="0"/>
              <a:t>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其他可用圖示</a:t>
            </a:r>
            <a:r>
              <a:rPr lang="en-US" altLang="zh-TW" dirty="0" smtClean="0"/>
              <a:t>(bitmap)</a:t>
            </a:r>
            <a:r>
              <a:rPr lang="zh-TW" altLang="en-US" dirty="0" smtClean="0"/>
              <a:t>的指令</a:t>
            </a:r>
            <a:r>
              <a:rPr lang="zh-CN" altLang="en-US" dirty="0" smtClean="0"/>
              <a:t>：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 </a:t>
            </a:r>
            <a:r>
              <a:rPr lang="en-US" altLang="zh-TW" dirty="0"/>
              <a:t>error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 </a:t>
            </a:r>
            <a:r>
              <a:rPr lang="en-US" altLang="zh-TW" dirty="0"/>
              <a:t>hourglass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info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err="1" smtClean="0"/>
              <a:t>questhead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question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warning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gray12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gray25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gray50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smtClean="0"/>
              <a:t>gray75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38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Label</a:t>
            </a:r>
            <a:r>
              <a:rPr lang="zh-TW" altLang="en-US" dirty="0" smtClean="0"/>
              <a:t>顯示字串與圖示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語法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顯示字串、設定圖示位置、圖示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sz="1400" dirty="0"/>
              <a:t>Label(</a:t>
            </a:r>
            <a:r>
              <a:rPr lang="en-US" altLang="zh-TW" sz="1400" dirty="0" err="1"/>
              <a:t>root,</a:t>
            </a:r>
            <a:r>
              <a:rPr lang="en-US" altLang="zh-TW" sz="1400" dirty="0" err="1">
                <a:solidFill>
                  <a:srgbClr val="00B050"/>
                </a:solidFill>
              </a:rPr>
              <a:t>text</a:t>
            </a:r>
            <a:r>
              <a:rPr lang="en-US" altLang="zh-TW" sz="1400" dirty="0">
                <a:solidFill>
                  <a:srgbClr val="00B050"/>
                </a:solidFill>
              </a:rPr>
              <a:t> = "</a:t>
            </a:r>
            <a:r>
              <a:rPr lang="en-US" altLang="zh-TW" sz="1400" dirty="0" err="1">
                <a:solidFill>
                  <a:srgbClr val="00B050"/>
                </a:solidFill>
              </a:rPr>
              <a:t>label",compound</a:t>
            </a:r>
            <a:r>
              <a:rPr lang="en-US" altLang="zh-TW" sz="1400" dirty="0">
                <a:solidFill>
                  <a:srgbClr val="00B050"/>
                </a:solidFill>
              </a:rPr>
              <a:t> = "</a:t>
            </a:r>
            <a:r>
              <a:rPr lang="en-US" altLang="zh-TW" sz="1400" dirty="0" err="1">
                <a:solidFill>
                  <a:srgbClr val="00B050"/>
                </a:solidFill>
              </a:rPr>
              <a:t>bottom",bitmap</a:t>
            </a:r>
            <a:r>
              <a:rPr lang="en-US" altLang="zh-TW" sz="1400" dirty="0">
                <a:solidFill>
                  <a:srgbClr val="00B050"/>
                </a:solidFill>
              </a:rPr>
              <a:t> = </a:t>
            </a:r>
            <a:r>
              <a:rPr lang="en-US" altLang="zh-TW" sz="1400" dirty="0" smtClean="0">
                <a:solidFill>
                  <a:srgbClr val="00B050"/>
                </a:solidFill>
              </a:rPr>
              <a:t>"error"</a:t>
            </a:r>
            <a:r>
              <a:rPr lang="en-US" altLang="zh-TW" sz="1400" dirty="0" smtClean="0"/>
              <a:t>).</a:t>
            </a:r>
            <a:r>
              <a:rPr lang="en-US" altLang="zh-TW" sz="1400" dirty="0"/>
              <a:t>pack()</a:t>
            </a:r>
            <a:endParaRPr lang="zh-TW" altLang="en-US" dirty="0"/>
          </a:p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sz="1400" dirty="0" smtClean="0"/>
              <a:t>from </a:t>
            </a:r>
            <a:r>
              <a:rPr lang="en-US" altLang="zh-TW" sz="1400" dirty="0" err="1"/>
              <a:t>tkinter</a:t>
            </a:r>
            <a:r>
              <a:rPr lang="en-US" altLang="zh-TW" sz="1400" dirty="0"/>
              <a:t> import </a:t>
            </a:r>
            <a:r>
              <a:rPr lang="en-US" altLang="zh-TW" sz="1400" dirty="0" smtClean="0"/>
              <a:t>*</a:t>
            </a: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載入函式庫</a:t>
            </a:r>
            <a:endParaRPr lang="en-US" altLang="zh-TW" sz="1400" dirty="0"/>
          </a:p>
          <a:p>
            <a:pPr marL="365760" lvl="1" indent="0">
              <a:buNone/>
            </a:pPr>
            <a:r>
              <a:rPr lang="en-US" altLang="zh-TW" sz="1400" dirty="0"/>
              <a:t>root = </a:t>
            </a:r>
            <a:r>
              <a:rPr lang="en-US" altLang="zh-TW" sz="1400" dirty="0" err="1"/>
              <a:t>Tk</a:t>
            </a:r>
            <a:r>
              <a:rPr lang="en-US" altLang="zh-TW" sz="1400" dirty="0" smtClean="0"/>
              <a:t>()</a:t>
            </a:r>
            <a:r>
              <a:rPr lang="en-US" altLang="zh-TW" sz="1400" dirty="0" smtClean="0">
                <a:solidFill>
                  <a:srgbClr val="FF0000"/>
                </a:solidFill>
              </a:rPr>
              <a:t>#</a:t>
            </a:r>
            <a:r>
              <a:rPr lang="en-US" altLang="zh-TW" sz="1400" dirty="0" err="1" smtClean="0">
                <a:solidFill>
                  <a:srgbClr val="FF0000"/>
                </a:solidFill>
              </a:rPr>
              <a:t>建立視窗</a:t>
            </a:r>
            <a:endParaRPr lang="en-US" altLang="zh-TW" sz="1400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400" dirty="0">
                <a:solidFill>
                  <a:srgbClr val="FF0000"/>
                </a:solidFill>
              </a:rPr>
              <a:t>#</a:t>
            </a:r>
            <a:r>
              <a:rPr lang="zh-TW" altLang="en-US" sz="1400" dirty="0">
                <a:solidFill>
                  <a:srgbClr val="FF0000"/>
                </a:solidFill>
              </a:rPr>
              <a:t>顯示字串、設定放置位置、設定顯示的</a:t>
            </a:r>
            <a:r>
              <a:rPr lang="zh-TW" altLang="en-US" sz="1400" dirty="0" smtClean="0">
                <a:solidFill>
                  <a:srgbClr val="FF0000"/>
                </a:solidFill>
              </a:rPr>
              <a:t>圖案</a:t>
            </a:r>
            <a:endParaRPr lang="en-US" altLang="zh-TW" sz="1400" dirty="0"/>
          </a:p>
          <a:p>
            <a:pPr marL="365760" lvl="1" indent="0">
              <a:buNone/>
            </a:pPr>
            <a:r>
              <a:rPr lang="en-US" altLang="zh-TW" sz="1400" dirty="0"/>
              <a:t>Label(</a:t>
            </a:r>
            <a:r>
              <a:rPr lang="en-US" altLang="zh-TW" sz="1400" dirty="0" err="1"/>
              <a:t>root,text</a:t>
            </a:r>
            <a:r>
              <a:rPr lang="en-US" altLang="zh-TW" sz="1400" dirty="0"/>
              <a:t> = "</a:t>
            </a:r>
            <a:r>
              <a:rPr lang="en-US" altLang="zh-TW" sz="1400" dirty="0" err="1"/>
              <a:t>label",compound</a:t>
            </a:r>
            <a:r>
              <a:rPr lang="en-US" altLang="zh-TW" sz="1400" dirty="0"/>
              <a:t> = "</a:t>
            </a:r>
            <a:r>
              <a:rPr lang="en-US" altLang="zh-TW" sz="1400" dirty="0" err="1"/>
              <a:t>bottom",bitmap</a:t>
            </a:r>
            <a:r>
              <a:rPr lang="en-US" altLang="zh-TW" sz="1400" dirty="0"/>
              <a:t> = " </a:t>
            </a:r>
            <a:r>
              <a:rPr lang="en-US" altLang="zh-TW" sz="1400" dirty="0" smtClean="0"/>
              <a:t>error</a:t>
            </a:r>
            <a:r>
              <a:rPr lang="en-US" altLang="zh-TW" sz="1400" dirty="0"/>
              <a:t> ").pack()</a:t>
            </a:r>
          </a:p>
          <a:p>
            <a:pPr marL="365760" lvl="1" indent="0">
              <a:buNone/>
            </a:pPr>
            <a:r>
              <a:rPr lang="en-US" altLang="zh-TW" sz="1400" dirty="0" err="1"/>
              <a:t>root.mainloop</a:t>
            </a:r>
            <a:r>
              <a:rPr lang="en-US" altLang="zh-TW" sz="1400" dirty="0"/>
              <a:t>()</a:t>
            </a:r>
          </a:p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445224"/>
            <a:ext cx="154305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67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 smtClean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載入函式庫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logo = </a:t>
            </a:r>
            <a:r>
              <a:rPr lang="en-US" altLang="zh-TW" dirty="0" err="1"/>
              <a:t>PhotoImage</a:t>
            </a:r>
            <a:r>
              <a:rPr lang="en-US" altLang="zh-TW" dirty="0"/>
              <a:t>(file</a:t>
            </a:r>
            <a:r>
              <a:rPr lang="en-US" altLang="zh-TW" dirty="0" smtClean="0"/>
              <a:t>="C</a:t>
            </a:r>
            <a:r>
              <a:rPr lang="en-US" altLang="zh-TW" dirty="0"/>
              <a:t>:\</a:t>
            </a:r>
            <a:r>
              <a:rPr lang="en-US" altLang="zh-TW" dirty="0" smtClean="0"/>
              <a:t>KUAS.gif")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載入圖片路徑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Label(root, image=logo).pack(side</a:t>
            </a:r>
            <a:r>
              <a:rPr lang="en-US" altLang="zh-TW" dirty="0" smtClean="0"/>
              <a:t>="right")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載入圖片與設定</a:t>
            </a:r>
            <a:r>
              <a:rPr lang="en-US" altLang="zh-TW" dirty="0">
                <a:solidFill>
                  <a:srgbClr val="FF0000"/>
                </a:solidFill>
              </a:rPr>
              <a:t>Label</a:t>
            </a:r>
            <a:r>
              <a:rPr lang="zh-TW" altLang="en-US" dirty="0" smtClean="0">
                <a:solidFill>
                  <a:srgbClr val="FF0000"/>
                </a:solidFill>
              </a:rPr>
              <a:t>放置的位置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顯示字串與設定</a:t>
            </a:r>
            <a:r>
              <a:rPr lang="en-US" altLang="zh-TW" dirty="0">
                <a:solidFill>
                  <a:srgbClr val="FF0000"/>
                </a:solidFill>
              </a:rPr>
              <a:t>Label</a:t>
            </a:r>
            <a:r>
              <a:rPr lang="zh-TW" altLang="en-US" dirty="0">
                <a:solidFill>
                  <a:srgbClr val="FF0000"/>
                </a:solidFill>
              </a:rPr>
              <a:t>放置的位置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Label(</a:t>
            </a:r>
            <a:r>
              <a:rPr lang="en-US" altLang="zh-TW" dirty="0" err="1" smtClean="0"/>
              <a:t>root,text</a:t>
            </a:r>
            <a:r>
              <a:rPr lang="en-US" altLang="zh-TW" dirty="0"/>
              <a:t>="KUAS").pack(side="left")</a:t>
            </a:r>
          </a:p>
          <a:p>
            <a:pPr marL="365760" lvl="1" indent="0">
              <a:buNone/>
            </a:pPr>
            <a:r>
              <a:rPr lang="en-US" altLang="zh-TW" dirty="0" err="1" smtClean="0"/>
              <a:t>root.mainloop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執行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5301208"/>
            <a:ext cx="1656184" cy="1342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80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90063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 smtClean="0"/>
              <a:t>import </a:t>
            </a:r>
            <a:r>
              <a:rPr lang="en-US" altLang="zh-TW" dirty="0" err="1" smtClean="0"/>
              <a:t>tkinter</a:t>
            </a:r>
            <a:r>
              <a:rPr lang="en-US" altLang="zh-TW" dirty="0" smtClean="0"/>
              <a:t> as </a:t>
            </a:r>
            <a:r>
              <a:rPr lang="en-US" altLang="zh-TW" dirty="0" err="1" smtClean="0"/>
              <a:t>tk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載入函式庫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counter </a:t>
            </a:r>
            <a:r>
              <a:rPr lang="en-US" altLang="zh-TW" dirty="0"/>
              <a:t>= 0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當秒的計時器使用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自行定義的函式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counter_label</a:t>
            </a:r>
            <a:r>
              <a:rPr lang="en-US" altLang="zh-TW" dirty="0"/>
              <a:t>(label):</a:t>
            </a:r>
          </a:p>
          <a:p>
            <a:pPr marL="365760" lvl="1" indent="0">
              <a:buNone/>
            </a:pPr>
            <a:r>
              <a:rPr lang="en-US" altLang="zh-TW" dirty="0"/>
              <a:t>  </a:t>
            </a:r>
            <a:r>
              <a:rPr lang="en-US" altLang="zh-TW" dirty="0" err="1"/>
              <a:t>def</a:t>
            </a:r>
            <a:r>
              <a:rPr lang="en-US" altLang="zh-TW" dirty="0"/>
              <a:t> count():</a:t>
            </a:r>
          </a:p>
          <a:p>
            <a:pPr marL="365760" lvl="1" indent="0">
              <a:buNone/>
            </a:pPr>
            <a:r>
              <a:rPr lang="en-US" altLang="zh-TW" dirty="0"/>
              <a:t>    global counter</a:t>
            </a:r>
          </a:p>
          <a:p>
            <a:pPr marL="365760" lvl="1" indent="0">
              <a:buNone/>
            </a:pPr>
            <a:r>
              <a:rPr lang="en-US" altLang="zh-TW" dirty="0"/>
              <a:t>    counter += </a:t>
            </a:r>
            <a:r>
              <a:rPr lang="en-US" altLang="zh-TW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計時器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label.config</a:t>
            </a:r>
            <a:r>
              <a:rPr lang="en-US" altLang="zh-TW" dirty="0"/>
              <a:t>(text=</a:t>
            </a:r>
            <a:r>
              <a:rPr lang="en-US" altLang="zh-TW" dirty="0" err="1"/>
              <a:t>str</a:t>
            </a:r>
            <a:r>
              <a:rPr lang="en-US" altLang="zh-TW" dirty="0"/>
              <a:t>(counter</a:t>
            </a:r>
            <a:r>
              <a:rPr lang="en-US" altLang="zh-TW" dirty="0" smtClean="0"/>
              <a:t>))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顯示幾秒鐘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label.after</a:t>
            </a:r>
            <a:r>
              <a:rPr lang="en-US" altLang="zh-TW" dirty="0"/>
              <a:t>(1000, count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rgbClr val="FF0000"/>
                </a:solidFill>
              </a:rPr>
              <a:t>#delay</a:t>
            </a:r>
            <a:r>
              <a:rPr lang="zh-TW" altLang="en-US" dirty="0" smtClean="0">
                <a:solidFill>
                  <a:srgbClr val="FF0000"/>
                </a:solidFill>
              </a:rPr>
              <a:t>一秒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持續執行</a:t>
            </a:r>
            <a:r>
              <a:rPr lang="en-US" altLang="zh-TW" dirty="0">
                <a:solidFill>
                  <a:srgbClr val="FF0000"/>
                </a:solidFill>
              </a:rPr>
              <a:t>count() </a:t>
            </a:r>
            <a:r>
              <a:rPr lang="zh-TW" altLang="en-US" dirty="0" smtClean="0">
                <a:solidFill>
                  <a:srgbClr val="FF0000"/>
                </a:solidFill>
              </a:rPr>
              <a:t>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count</a:t>
            </a:r>
            <a:r>
              <a:rPr lang="en-US" altLang="zh-TW" dirty="0" smtClean="0"/>
              <a:t>() 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tk.Tk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root.title</a:t>
            </a:r>
            <a:r>
              <a:rPr lang="en-US" altLang="zh-TW" dirty="0"/>
              <a:t>("</a:t>
            </a:r>
            <a:r>
              <a:rPr lang="en-US" altLang="zh-TW" dirty="0" smtClean="0"/>
              <a:t>Counting </a:t>
            </a:r>
            <a:r>
              <a:rPr lang="en-US" altLang="zh-TW" dirty="0"/>
              <a:t>Seconds")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</a:t>
            </a:r>
            <a:r>
              <a:rPr lang="en-US" altLang="zh-TW" dirty="0">
                <a:solidFill>
                  <a:srgbClr val="FF0000"/>
                </a:solidFill>
              </a:rPr>
              <a:t>title</a:t>
            </a:r>
          </a:p>
          <a:p>
            <a:pPr marL="365760" lvl="1" indent="0">
              <a:buNone/>
            </a:pPr>
            <a:r>
              <a:rPr lang="en-US" altLang="zh-TW" dirty="0"/>
              <a:t>label = </a:t>
            </a:r>
            <a:r>
              <a:rPr lang="en-US" altLang="zh-TW" dirty="0" err="1"/>
              <a:t>tk.Label</a:t>
            </a:r>
            <a:r>
              <a:rPr lang="en-US" altLang="zh-TW" dirty="0"/>
              <a:t>(root, </a:t>
            </a:r>
            <a:r>
              <a:rPr lang="en-US" altLang="zh-TW" dirty="0" err="1"/>
              <a:t>fg</a:t>
            </a:r>
            <a:r>
              <a:rPr lang="en-US" altLang="zh-TW" dirty="0"/>
              <a:t>="</a:t>
            </a:r>
            <a:r>
              <a:rPr lang="en-US" altLang="zh-TW" dirty="0" smtClean="0"/>
              <a:t>green</a:t>
            </a:r>
            <a:r>
              <a:rPr lang="en-US" altLang="zh-TW" dirty="0"/>
              <a:t>")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設定前景顏色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label.pack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counter_label</a:t>
            </a:r>
            <a:r>
              <a:rPr lang="en-US" altLang="zh-TW" dirty="0"/>
              <a:t>(label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執行</a:t>
            </a:r>
            <a:r>
              <a:rPr lang="en-US" altLang="zh-TW" dirty="0" err="1" smtClean="0">
                <a:solidFill>
                  <a:srgbClr val="FF0000"/>
                </a:solidFill>
              </a:rPr>
              <a:t>counter_label</a:t>
            </a:r>
            <a:r>
              <a:rPr lang="zh-TW" altLang="en-US" dirty="0" smtClean="0">
                <a:solidFill>
                  <a:srgbClr val="FF0000"/>
                </a:solidFill>
              </a:rPr>
              <a:t>函式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設定顯示的字串、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Button</a:t>
            </a:r>
            <a:r>
              <a:rPr lang="zh-TW" altLang="en-US" dirty="0" smtClean="0">
                <a:solidFill>
                  <a:srgbClr val="FF0000"/>
                </a:solidFill>
              </a:rPr>
              <a:t>寬度、按下後關閉視窗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button = </a:t>
            </a:r>
            <a:r>
              <a:rPr lang="en-US" altLang="zh-TW" dirty="0" err="1" smtClean="0"/>
              <a:t>tk.Button</a:t>
            </a:r>
            <a:r>
              <a:rPr lang="en-US" altLang="zh-TW" dirty="0" smtClean="0"/>
              <a:t>(root, text="Stop", width=25, command=</a:t>
            </a:r>
            <a:r>
              <a:rPr lang="en-US" altLang="zh-TW" dirty="0" err="1" smtClean="0"/>
              <a:t>root.destroy</a:t>
            </a:r>
            <a:r>
              <a:rPr lang="en-US" altLang="zh-TW" dirty="0" smtClean="0"/>
              <a:t>)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</a:t>
            </a:r>
            <a:r>
              <a:rPr lang="en-US" altLang="zh-TW" dirty="0" smtClean="0">
                <a:solidFill>
                  <a:srgbClr val="FF0000"/>
                </a:solidFill>
              </a:rPr>
              <a:t>Button</a:t>
            </a:r>
          </a:p>
          <a:p>
            <a:pPr marL="365760" lvl="1" indent="0">
              <a:buNone/>
            </a:pPr>
            <a:r>
              <a:rPr lang="en-US" altLang="zh-TW" dirty="0" err="1" smtClean="0"/>
              <a:t>button.pack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06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顯示字串與圖示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068960"/>
            <a:ext cx="191452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58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/>
              <a:t>顏色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顏色設定可以輸入顏色英文名稱或是RGB色碼編號。例如:black</a:t>
            </a:r>
            <a:r>
              <a:rPr lang="zh-TW" altLang="en-US" dirty="0" smtClean="0"/>
              <a:t>、</a:t>
            </a:r>
            <a:r>
              <a:rPr lang="en-US" altLang="zh-TW" dirty="0" smtClean="0"/>
              <a:t>#000000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3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設定</a:t>
            </a:r>
            <a:r>
              <a:rPr lang="en-US" altLang="zh-TW" dirty="0"/>
              <a:t>Label</a:t>
            </a:r>
            <a:r>
              <a:rPr lang="zh-TW" altLang="en-US" dirty="0" smtClean="0"/>
              <a:t>顏色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語法</a:t>
            </a:r>
            <a:r>
              <a:rPr lang="en-US" altLang="zh-TW" smtClean="0"/>
              <a:t>1:</a:t>
            </a:r>
          </a:p>
          <a:p>
            <a:pPr marL="365760" lvl="1" indent="0">
              <a:buNone/>
            </a:pPr>
            <a:r>
              <a:rPr lang="en-US" altLang="zh-TW" smtClean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輸入顏色英文名稱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Label(</a:t>
            </a:r>
            <a:r>
              <a:rPr lang="en-US" altLang="zh-TW" dirty="0" err="1" smtClean="0"/>
              <a:t>root,</a:t>
            </a:r>
            <a:r>
              <a:rPr lang="en-US" altLang="zh-TW" dirty="0" err="1" smtClean="0">
                <a:solidFill>
                  <a:srgbClr val="00B050"/>
                </a:solidFill>
              </a:rPr>
              <a:t>fg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" </a:t>
            </a:r>
            <a:r>
              <a:rPr lang="en-US" altLang="zh-TW" dirty="0" smtClean="0">
                <a:solidFill>
                  <a:srgbClr val="00B050"/>
                </a:solidFill>
              </a:rPr>
              <a:t>red</a:t>
            </a:r>
            <a:r>
              <a:rPr lang="en-US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 smtClean="0">
                <a:solidFill>
                  <a:srgbClr val="00B050"/>
                </a:solidFill>
              </a:rPr>
              <a:t>,</a:t>
            </a:r>
            <a:r>
              <a:rPr lang="en-US" altLang="zh-TW" dirty="0" err="1" smtClean="0">
                <a:solidFill>
                  <a:srgbClr val="00B050"/>
                </a:solidFill>
              </a:rPr>
              <a:t>bg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" </a:t>
            </a:r>
            <a:r>
              <a:rPr lang="en-US" altLang="zh-TW" dirty="0" smtClean="0">
                <a:solidFill>
                  <a:srgbClr val="00B050"/>
                </a:solidFill>
              </a:rPr>
              <a:t>blue</a:t>
            </a:r>
            <a:r>
              <a:rPr lang="en-US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/>
              <a:t>,</a:t>
            </a:r>
            <a:r>
              <a:rPr lang="en-US" altLang="zh-TW" dirty="0" smtClean="0"/>
              <a:t>text </a:t>
            </a:r>
            <a:r>
              <a:rPr lang="en-US" altLang="zh-TW" dirty="0"/>
              <a:t>= " Hello KUAS ").pack</a:t>
            </a:r>
            <a:r>
              <a:rPr lang="en-US" altLang="zh-TW" dirty="0" smtClean="0"/>
              <a:t>()</a:t>
            </a:r>
          </a:p>
          <a:p>
            <a:r>
              <a:rPr lang="zh-TW" altLang="en-US" dirty="0" smtClean="0"/>
              <a:t>語法</a:t>
            </a:r>
            <a:r>
              <a:rPr lang="en-US" altLang="zh-TW" dirty="0" smtClean="0"/>
              <a:t>2: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輸入顏色英文名稱或顏色代碼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Label(</a:t>
            </a:r>
            <a:r>
              <a:rPr lang="en-US" altLang="zh-TW" dirty="0" err="1" smtClean="0"/>
              <a:t>root,</a:t>
            </a:r>
            <a:r>
              <a:rPr lang="en-US" altLang="zh-TW" dirty="0" err="1" smtClean="0">
                <a:solidFill>
                  <a:srgbClr val="00B050"/>
                </a:solidFill>
              </a:rPr>
              <a:t>fg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" </a:t>
            </a:r>
            <a:r>
              <a:rPr lang="en-US" altLang="zh-TW" dirty="0" smtClean="0">
                <a:solidFill>
                  <a:srgbClr val="00B050"/>
                </a:solidFill>
              </a:rPr>
              <a:t>red</a:t>
            </a:r>
            <a:r>
              <a:rPr lang="en-US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 smtClean="0">
                <a:solidFill>
                  <a:srgbClr val="00B050"/>
                </a:solidFill>
              </a:rPr>
              <a:t>,</a:t>
            </a:r>
            <a:r>
              <a:rPr lang="en-US" altLang="zh-TW" dirty="0" err="1" smtClean="0">
                <a:solidFill>
                  <a:srgbClr val="00B050"/>
                </a:solidFill>
              </a:rPr>
              <a:t>bg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" </a:t>
            </a:r>
            <a:r>
              <a:rPr lang="en-US" altLang="zh-TW" dirty="0" smtClean="0">
                <a:solidFill>
                  <a:srgbClr val="00B050"/>
                </a:solidFill>
              </a:rPr>
              <a:t>#FF00FF</a:t>
            </a:r>
            <a:r>
              <a:rPr lang="en-US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/>
              <a:t>,</a:t>
            </a:r>
            <a:r>
              <a:rPr lang="en-US" altLang="zh-TW" dirty="0" smtClean="0"/>
              <a:t>text </a:t>
            </a:r>
            <a:r>
              <a:rPr lang="en-US" altLang="zh-TW" dirty="0"/>
              <a:t>= " Hello KUAS </a:t>
            </a:r>
            <a:r>
              <a:rPr lang="en-US" altLang="zh-TW" dirty="0" smtClean="0"/>
              <a:t>").pack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1018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/>
              <a:t>顏色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>
                <a:solidFill>
                  <a:srgbClr val="FF0000"/>
                </a:solidFill>
              </a:rPr>
              <a:t>建立</a:t>
            </a:r>
            <a:r>
              <a:rPr lang="zh-TW" altLang="en-US" dirty="0" smtClean="0">
                <a:solidFill>
                  <a:srgbClr val="FF0000"/>
                </a:solidFill>
              </a:rPr>
              <a:t>視窗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設定前景與背景顏色、字串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Label(</a:t>
            </a:r>
            <a:r>
              <a:rPr lang="en-US" altLang="zh-TW" dirty="0" err="1"/>
              <a:t>root,fg</a:t>
            </a:r>
            <a:r>
              <a:rPr lang="en-US" altLang="zh-TW" dirty="0"/>
              <a:t> = " </a:t>
            </a:r>
            <a:r>
              <a:rPr lang="en-US" altLang="zh-TW" dirty="0" smtClean="0"/>
              <a:t>black</a:t>
            </a:r>
            <a:r>
              <a:rPr lang="en-US" altLang="zh-TW" dirty="0"/>
              <a:t> ",</a:t>
            </a:r>
            <a:r>
              <a:rPr lang="en-US" altLang="zh-TW" dirty="0" err="1"/>
              <a:t>bg</a:t>
            </a:r>
            <a:r>
              <a:rPr lang="en-US" altLang="zh-TW" dirty="0"/>
              <a:t> = " #FF00FF ",text = " Hello KUAS ").pack()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301208"/>
            <a:ext cx="15430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019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大小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sz="1600" dirty="0" smtClean="0">
                <a:solidFill>
                  <a:srgbClr val="FF0000"/>
                </a:solidFill>
              </a:rPr>
              <a:t>#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表格大小自行設定</a:t>
            </a:r>
            <a:endParaRPr lang="en-US" altLang="zh-TW" sz="1600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 smtClean="0"/>
              <a:t>Label(</a:t>
            </a:r>
            <a:r>
              <a:rPr lang="en-US" altLang="zh-TW" sz="1600" dirty="0" err="1" smtClean="0"/>
              <a:t>root,text</a:t>
            </a:r>
            <a:r>
              <a:rPr lang="en-US" altLang="zh-TW" sz="1600" dirty="0" smtClean="0"/>
              <a:t> = </a:t>
            </a:r>
            <a:r>
              <a:rPr lang="en-US" altLang="zh-TW" sz="1600" dirty="0"/>
              <a:t>" </a:t>
            </a:r>
            <a:r>
              <a:rPr lang="en-US" altLang="zh-TW" sz="1600" dirty="0" smtClean="0"/>
              <a:t>red</a:t>
            </a:r>
            <a:r>
              <a:rPr lang="en-US" altLang="zh-TW" sz="1600" dirty="0"/>
              <a:t> "</a:t>
            </a:r>
            <a:r>
              <a:rPr lang="en-US" altLang="zh-TW" sz="1600" dirty="0" smtClean="0"/>
              <a:t>,</a:t>
            </a:r>
            <a:r>
              <a:rPr lang="en-US" altLang="zh-TW" sz="1600" dirty="0" err="1" smtClean="0"/>
              <a:t>bg</a:t>
            </a:r>
            <a:r>
              <a:rPr lang="en-US" altLang="zh-TW" sz="1600" dirty="0" smtClean="0"/>
              <a:t> = </a:t>
            </a:r>
            <a:r>
              <a:rPr lang="en-US" altLang="zh-TW" sz="1600" dirty="0"/>
              <a:t>" </a:t>
            </a:r>
            <a:r>
              <a:rPr lang="en-US" altLang="zh-TW" sz="1600" dirty="0" smtClean="0"/>
              <a:t>red</a:t>
            </a:r>
            <a:r>
              <a:rPr lang="en-US" altLang="zh-TW" sz="1600" dirty="0"/>
              <a:t> "</a:t>
            </a:r>
            <a:r>
              <a:rPr lang="en-US" altLang="zh-TW" sz="1600" dirty="0" smtClean="0"/>
              <a:t>,</a:t>
            </a:r>
            <a:r>
              <a:rPr lang="en-US" altLang="zh-TW" sz="1600" dirty="0" smtClean="0">
                <a:solidFill>
                  <a:srgbClr val="00B050"/>
                </a:solidFill>
              </a:rPr>
              <a:t>width = 10,height = 3</a:t>
            </a:r>
            <a:r>
              <a:rPr lang="en-US" altLang="zh-TW" sz="1600" dirty="0" smtClean="0"/>
              <a:t>).pack()</a:t>
            </a:r>
            <a:endParaRPr lang="zh-TW" altLang="en-US" sz="1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294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大小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sz="1600" dirty="0"/>
              <a:t>from </a:t>
            </a:r>
            <a:r>
              <a:rPr lang="en-US" altLang="zh-TW" sz="1600" dirty="0" err="1"/>
              <a:t>tkinter</a:t>
            </a:r>
            <a:r>
              <a:rPr lang="en-US" altLang="zh-TW" sz="1600" dirty="0"/>
              <a:t> import *</a:t>
            </a: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zh-TW" altLang="en-US" sz="1600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sz="1600" dirty="0"/>
              <a:t>root = </a:t>
            </a:r>
            <a:r>
              <a:rPr lang="en-US" altLang="zh-TW" sz="1600" dirty="0" err="1"/>
              <a:t>Tk</a:t>
            </a:r>
            <a:r>
              <a:rPr lang="en-US" altLang="zh-TW" sz="1600" dirty="0" smtClean="0"/>
              <a:t>()</a:t>
            </a:r>
            <a:r>
              <a:rPr lang="en-US" altLang="zh-TW" sz="1600" dirty="0"/>
              <a:t> </a:t>
            </a:r>
            <a:r>
              <a:rPr lang="en-US" altLang="zh-TW" sz="1600" dirty="0" smtClean="0">
                <a:solidFill>
                  <a:srgbClr val="FF0000"/>
                </a:solidFill>
              </a:rPr>
              <a:t>#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建立</a:t>
            </a:r>
            <a:r>
              <a:rPr lang="zh-TW" altLang="en-US" sz="1600" dirty="0" smtClean="0">
                <a:solidFill>
                  <a:srgbClr val="FF0000"/>
                </a:solidFill>
              </a:rPr>
              <a:t>視窗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>
                <a:solidFill>
                  <a:srgbClr val="FF0000"/>
                </a:solidFill>
              </a:rPr>
              <a:t>#</a:t>
            </a:r>
            <a:r>
              <a:rPr lang="en-US" altLang="zh-TW" sz="1600" dirty="0" err="1">
                <a:solidFill>
                  <a:srgbClr val="FF0000"/>
                </a:solidFill>
              </a:rPr>
              <a:t>表格大小與字串長度有關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/>
              <a:t>Label(</a:t>
            </a:r>
            <a:r>
              <a:rPr lang="en-US" altLang="zh-TW" sz="1600" dirty="0" err="1"/>
              <a:t>root,text</a:t>
            </a:r>
            <a:r>
              <a:rPr lang="en-US" altLang="zh-TW" sz="1600" dirty="0"/>
              <a:t> = " red ",</a:t>
            </a:r>
            <a:r>
              <a:rPr lang="en-US" altLang="zh-TW" sz="1600" dirty="0" err="1"/>
              <a:t>bg</a:t>
            </a:r>
            <a:r>
              <a:rPr lang="en-US" altLang="zh-TW" sz="1600" dirty="0"/>
              <a:t> = " red ").pack</a:t>
            </a:r>
            <a:r>
              <a:rPr lang="en-US" altLang="zh-TW" sz="1600" dirty="0" smtClean="0"/>
              <a:t>()</a:t>
            </a:r>
          </a:p>
          <a:p>
            <a:pPr marL="365760" lvl="1" indent="0">
              <a:buNone/>
            </a:pPr>
            <a:r>
              <a:rPr lang="en-US" altLang="zh-TW" sz="1600" dirty="0" smtClean="0">
                <a:solidFill>
                  <a:srgbClr val="FF0000"/>
                </a:solidFill>
              </a:rPr>
              <a:t>#</a:t>
            </a:r>
            <a:r>
              <a:rPr lang="en-US" altLang="zh-TW" sz="1600" dirty="0" err="1">
                <a:solidFill>
                  <a:srgbClr val="FF0000"/>
                </a:solidFill>
              </a:rPr>
              <a:t>設定字串、背景顏色</a:t>
            </a:r>
            <a:r>
              <a:rPr lang="en-US" altLang="zh-TW" sz="1600" dirty="0">
                <a:solidFill>
                  <a:srgbClr val="FF0000"/>
                </a:solidFill>
              </a:rPr>
              <a:t>、 </a:t>
            </a:r>
            <a:r>
              <a:rPr lang="en-US" altLang="zh-TW" sz="1600" dirty="0" err="1" smtClean="0">
                <a:solidFill>
                  <a:srgbClr val="FF0000"/>
                </a:solidFill>
              </a:rPr>
              <a:t>Label大小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sz="1600" dirty="0"/>
              <a:t>Label(</a:t>
            </a:r>
            <a:r>
              <a:rPr lang="en-US" altLang="zh-TW" sz="1600" dirty="0" err="1"/>
              <a:t>root,text</a:t>
            </a:r>
            <a:r>
              <a:rPr lang="en-US" altLang="zh-TW" sz="1600" dirty="0"/>
              <a:t> = " red ",</a:t>
            </a:r>
            <a:r>
              <a:rPr lang="en-US" altLang="zh-TW" sz="1600" dirty="0" err="1"/>
              <a:t>bg</a:t>
            </a:r>
            <a:r>
              <a:rPr lang="en-US" altLang="zh-TW" sz="1600" dirty="0"/>
              <a:t> = " red ",</a:t>
            </a:r>
            <a:r>
              <a:rPr lang="en-US" altLang="zh-TW" sz="1600" dirty="0" smtClean="0"/>
              <a:t>width = </a:t>
            </a:r>
            <a:r>
              <a:rPr lang="en-US" altLang="zh-TW" sz="1600" dirty="0"/>
              <a:t>10,height = 3).pack()</a:t>
            </a:r>
          </a:p>
          <a:p>
            <a:pPr marL="365760" lvl="1" indent="0">
              <a:buNone/>
            </a:pPr>
            <a:r>
              <a:rPr lang="en-US" altLang="zh-TW" sz="1600" dirty="0" err="1"/>
              <a:t>root.mainloop</a:t>
            </a:r>
            <a:r>
              <a:rPr lang="en-US" altLang="zh-TW" sz="1600" dirty="0" smtClean="0"/>
              <a:t>()</a:t>
            </a:r>
            <a:endParaRPr lang="en-US" altLang="zh-TW" sz="1600" dirty="0" smtClean="0">
              <a:solidFill>
                <a:srgbClr val="FF0000"/>
              </a:solidFill>
            </a:endParaRPr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5157192"/>
            <a:ext cx="12573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47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中的字體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1:</a:t>
            </a:r>
          </a:p>
          <a:p>
            <a:pPr marL="320040" lvl="2" indent="0">
              <a:buNone/>
            </a:pPr>
            <a:r>
              <a:rPr lang="en-US" altLang="zh-TW" dirty="0" smtClean="0"/>
              <a:t>label</a:t>
            </a:r>
            <a:r>
              <a:rPr lang="en-US" altLang="zh-TW" dirty="0"/>
              <a:t>["font"] = 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字型</a:t>
            </a:r>
            <a:r>
              <a:rPr lang="en-US" altLang="zh-TW" dirty="0"/>
              <a:t>, </a:t>
            </a:r>
            <a:r>
              <a:rPr lang="zh-TW" altLang="en-US" dirty="0"/>
              <a:t>大小</a:t>
            </a:r>
            <a:r>
              <a:rPr lang="en-US" altLang="zh-TW" dirty="0"/>
              <a:t>, </a:t>
            </a:r>
            <a:r>
              <a:rPr lang="zh-TW" altLang="en-US" dirty="0"/>
              <a:t>效果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語法</a:t>
            </a:r>
            <a:r>
              <a:rPr lang="en-US" altLang="zh-TW" dirty="0" smtClean="0"/>
              <a:t>2: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label.config</a:t>
            </a:r>
            <a:r>
              <a:rPr lang="en-US" altLang="zh-TW" dirty="0"/>
              <a:t>(font</a:t>
            </a:r>
            <a:r>
              <a:rPr lang="en-US" altLang="zh-TW" dirty="0" smtClean="0"/>
              <a:t>=(</a:t>
            </a:r>
            <a:r>
              <a:rPr lang="zh-TW" altLang="en-US" dirty="0"/>
              <a:t>字型</a:t>
            </a:r>
            <a:r>
              <a:rPr lang="en-US" altLang="zh-TW" dirty="0"/>
              <a:t>, </a:t>
            </a:r>
            <a:r>
              <a:rPr lang="zh-TW" altLang="en-US" dirty="0"/>
              <a:t>大小</a:t>
            </a:r>
            <a:r>
              <a:rPr lang="en-US" altLang="zh-TW" dirty="0"/>
              <a:t>, </a:t>
            </a:r>
            <a:r>
              <a:rPr lang="zh-TW" altLang="en-US" dirty="0"/>
              <a:t>效果</a:t>
            </a:r>
            <a:r>
              <a:rPr lang="en-US" altLang="zh-TW" dirty="0" smtClean="0"/>
              <a:t>))</a:t>
            </a:r>
          </a:p>
          <a:p>
            <a:pPr marL="365760" lvl="1" indent="0">
              <a:buNone/>
            </a:pPr>
            <a:endParaRPr lang="en-US" altLang="zh-TW" dirty="0" smtClean="0"/>
          </a:p>
          <a:p>
            <a:pPr marL="365760" lvl="1" indent="0">
              <a:buNone/>
            </a:pPr>
            <a:endParaRPr lang="en-US" altLang="zh-TW" dirty="0" smtClean="0"/>
          </a:p>
          <a:p>
            <a:r>
              <a:rPr lang="zh-TW" altLang="en-US" dirty="0" smtClean="0"/>
              <a:t>功能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字型：字串，例如 </a:t>
            </a:r>
            <a:r>
              <a:rPr lang="en-US" altLang="zh-TW" dirty="0"/>
              <a:t>Times, </a:t>
            </a:r>
            <a:r>
              <a:rPr lang="en-US" altLang="zh-TW" dirty="0" err="1" smtClean="0"/>
              <a:t>arial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大小：數字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效果：</a:t>
            </a:r>
            <a:r>
              <a:rPr lang="en-US" altLang="zh-TW" dirty="0"/>
              <a:t>normal, bold, italic, underline, </a:t>
            </a:r>
            <a:r>
              <a:rPr lang="en-US" altLang="zh-TW" dirty="0" smtClean="0"/>
              <a:t>overstrike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中的字體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dirty="0"/>
              <a:t>label=Label(root,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視窗名稱</a:t>
            </a:r>
          </a:p>
          <a:p>
            <a:pPr marL="365760" lvl="1" indent="0">
              <a:buNone/>
            </a:pPr>
            <a:r>
              <a:rPr lang="en-US" altLang="zh-TW" dirty="0"/>
              <a:t>text = "welcome to KUAS",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pPr marL="365760" lvl="1" indent="0">
              <a:buNone/>
            </a:pPr>
            <a:r>
              <a:rPr lang="en-US" altLang="zh-TW" dirty="0" err="1"/>
              <a:t>bg</a:t>
            </a:r>
            <a:r>
              <a:rPr lang="en-US" altLang="zh-TW" dirty="0"/>
              <a:t> = </a:t>
            </a:r>
            <a:r>
              <a:rPr lang="en-US" altLang="zh-TW" dirty="0" smtClean="0"/>
              <a:t>"yellow",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背景顏色</a:t>
            </a:r>
          </a:p>
          <a:p>
            <a:pPr marL="365760" lvl="1" indent="0">
              <a:buNone/>
            </a:pPr>
            <a:r>
              <a:rPr lang="en-US" altLang="zh-TW" dirty="0"/>
              <a:t>anchor = "s",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靠下方顯示字串</a:t>
            </a:r>
          </a:p>
          <a:p>
            <a:pPr marL="365760" lvl="1" indent="0">
              <a:buNone/>
            </a:pPr>
            <a:r>
              <a:rPr lang="en-US" altLang="zh-TW" dirty="0"/>
              <a:t>justify = "left")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顯示的字串靠左對齊且建立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使用</a:t>
            </a:r>
            <a:r>
              <a:rPr lang="en-US" altLang="zh-TW" dirty="0" err="1" smtClean="0">
                <a:solidFill>
                  <a:srgbClr val="FF0000"/>
                </a:solidFill>
              </a:rPr>
              <a:t>arial</a:t>
            </a:r>
            <a:r>
              <a:rPr lang="zh-TW" altLang="en-US" dirty="0" smtClean="0">
                <a:solidFill>
                  <a:srgbClr val="FF0000"/>
                </a:solidFill>
              </a:rPr>
              <a:t>字形</a:t>
            </a:r>
            <a:r>
              <a:rPr lang="en-US" altLang="zh-TW" dirty="0" smtClean="0">
                <a:solidFill>
                  <a:srgbClr val="FF0000"/>
                </a:solidFill>
              </a:rPr>
              <a:t>,</a:t>
            </a:r>
            <a:r>
              <a:rPr lang="zh-TW" altLang="en-US" dirty="0" smtClean="0">
                <a:solidFill>
                  <a:srgbClr val="FF0000"/>
                </a:solidFill>
              </a:rPr>
              <a:t>字體大小為</a:t>
            </a:r>
            <a:r>
              <a:rPr lang="en-US" altLang="zh-TW" dirty="0" smtClean="0">
                <a:solidFill>
                  <a:srgbClr val="FF0000"/>
                </a:solidFill>
              </a:rPr>
              <a:t>20,</a:t>
            </a:r>
            <a:r>
              <a:rPr lang="zh-TW" altLang="en-US" dirty="0" smtClean="0">
                <a:solidFill>
                  <a:srgbClr val="FF0000"/>
                </a:solidFill>
              </a:rPr>
              <a:t>使用斜體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label</a:t>
            </a:r>
            <a:r>
              <a:rPr lang="en-US" altLang="zh-TW" dirty="0" smtClean="0"/>
              <a:t>["font"] </a:t>
            </a:r>
            <a:r>
              <a:rPr lang="en-US" altLang="zh-TW" dirty="0"/>
              <a:t>= </a:t>
            </a:r>
            <a:r>
              <a:rPr lang="en-US" altLang="zh-TW" dirty="0" smtClean="0"/>
              <a:t>("</a:t>
            </a:r>
            <a:r>
              <a:rPr lang="en-US" altLang="zh-TW" dirty="0" err="1" smtClean="0"/>
              <a:t>arial</a:t>
            </a:r>
            <a:r>
              <a:rPr lang="en-US" altLang="zh-TW" dirty="0" smtClean="0"/>
              <a:t>", </a:t>
            </a:r>
            <a:r>
              <a:rPr lang="en-US" altLang="zh-TW" dirty="0"/>
              <a:t>20, </a:t>
            </a:r>
            <a:r>
              <a:rPr lang="en-US" altLang="zh-TW" dirty="0" smtClean="0"/>
              <a:t>"italic")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label.config</a:t>
            </a:r>
            <a:r>
              <a:rPr lang="en-US" altLang="zh-TW" dirty="0" smtClean="0">
                <a:solidFill>
                  <a:srgbClr val="FF0000"/>
                </a:solidFill>
              </a:rPr>
              <a:t>(font=("arial",</a:t>
            </a:r>
            <a:r>
              <a:rPr lang="en-US" altLang="zh-TW" dirty="0">
                <a:solidFill>
                  <a:srgbClr val="FF0000"/>
                </a:solidFill>
              </a:rPr>
              <a:t>20, </a:t>
            </a:r>
            <a:r>
              <a:rPr lang="en-US" altLang="zh-TW" dirty="0" smtClean="0">
                <a:solidFill>
                  <a:srgbClr val="FF0000"/>
                </a:solidFill>
              </a:rPr>
              <a:t>"italic"))#</a:t>
            </a:r>
            <a:r>
              <a:rPr lang="zh-TW" altLang="en-US" dirty="0" smtClean="0">
                <a:solidFill>
                  <a:srgbClr val="FF0000"/>
                </a:solidFill>
              </a:rPr>
              <a:t>相同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label.pack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</a:p>
          <a:p>
            <a:pPr marL="365760" lvl="1" indent="0">
              <a:buNone/>
            </a:pPr>
            <a:r>
              <a:rPr lang="en-US" altLang="zh-TW" dirty="0" err="1" smtClean="0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120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Label</a:t>
            </a:r>
            <a:r>
              <a:rPr lang="zh-TW" altLang="en-US" dirty="0"/>
              <a:t>中的字體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071813"/>
            <a:ext cx="229552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698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Label</a:t>
            </a:r>
            <a:r>
              <a:rPr lang="zh-TW" altLang="en-US" dirty="0" smtClean="0"/>
              <a:t>多行表示方式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wraplength</a:t>
            </a:r>
            <a:r>
              <a:rPr lang="zh-TW" altLang="en-US" dirty="0" smtClean="0"/>
              <a:t>：指定多少單位後開始換行</a:t>
            </a:r>
            <a:endParaRPr lang="en-US" altLang="zh-TW" dirty="0"/>
          </a:p>
          <a:p>
            <a:r>
              <a:rPr lang="en-US" altLang="zh-TW" dirty="0" smtClean="0"/>
              <a:t>justify</a:t>
            </a:r>
            <a:r>
              <a:rPr lang="zh-TW" altLang="en-US" dirty="0" smtClean="0"/>
              <a:t>：指定多行的對齊方式，可</a:t>
            </a:r>
            <a:r>
              <a:rPr lang="zh-TW" altLang="en-US" dirty="0"/>
              <a:t>用</a:t>
            </a:r>
            <a:r>
              <a:rPr lang="zh-TW" altLang="en-US" dirty="0" smtClean="0"/>
              <a:t>的指令： </a:t>
            </a:r>
            <a:r>
              <a:rPr lang="en-US" altLang="zh-TW" dirty="0" smtClean="0"/>
              <a:t>left/right/center。</a:t>
            </a:r>
            <a:endParaRPr lang="en-US" altLang="zh-TW" dirty="0"/>
          </a:p>
          <a:p>
            <a:r>
              <a:rPr lang="en-US" altLang="zh-TW" dirty="0" err="1" smtClean="0"/>
              <a:t>ahchor</a:t>
            </a:r>
            <a:r>
              <a:rPr lang="zh-TW" altLang="en-US" dirty="0" smtClean="0"/>
              <a:t>：指定</a:t>
            </a:r>
            <a:r>
              <a:rPr lang="zh-TW" altLang="en-US" dirty="0"/>
              <a:t>的</a:t>
            </a:r>
            <a:r>
              <a:rPr lang="en-US" altLang="zh-TW" dirty="0" smtClean="0"/>
              <a:t>text</a:t>
            </a:r>
            <a:r>
              <a:rPr lang="zh-TW" altLang="en-US" dirty="0" smtClean="0"/>
              <a:t>或圖像</a:t>
            </a:r>
            <a:r>
              <a:rPr lang="en-US" altLang="zh-TW" dirty="0" smtClean="0"/>
              <a:t>(</a:t>
            </a:r>
            <a:r>
              <a:rPr lang="en-US" altLang="zh-TW" dirty="0"/>
              <a:t>bitmap/image)</a:t>
            </a:r>
            <a:r>
              <a:rPr lang="zh-TW" altLang="en-US" dirty="0"/>
              <a:t>在</a:t>
            </a:r>
            <a:r>
              <a:rPr lang="en-US" altLang="zh-TW" dirty="0"/>
              <a:t>Label </a:t>
            </a:r>
            <a:r>
              <a:rPr lang="zh-TW" altLang="en-US" dirty="0" smtClean="0"/>
              <a:t>中的顯示位置，</a:t>
            </a:r>
            <a:r>
              <a:rPr lang="zh-TW" altLang="en-US" dirty="0"/>
              <a:t>可用的指令： </a:t>
            </a:r>
            <a:r>
              <a:rPr lang="en-US" altLang="zh-TW" dirty="0" smtClean="0"/>
              <a:t>e/w/n/s/ne/se/</a:t>
            </a:r>
            <a:r>
              <a:rPr lang="en-US" altLang="zh-TW" dirty="0" err="1" smtClean="0"/>
              <a:t>sw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nw</a:t>
            </a:r>
            <a:r>
              <a:rPr lang="en-US" altLang="zh-TW" dirty="0" smtClean="0"/>
              <a:t>/center </a:t>
            </a:r>
            <a:r>
              <a:rPr lang="en-US" altLang="zh-TW" dirty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006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多行表示方式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程式碼太長也可以這樣表示</a:t>
            </a:r>
          </a:p>
          <a:p>
            <a:pPr marL="365760" lvl="1" indent="0">
              <a:buNone/>
            </a:pPr>
            <a:r>
              <a:rPr lang="en-US" altLang="zh-TW" dirty="0"/>
              <a:t>Label(root,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視窗名稱</a:t>
            </a:r>
          </a:p>
          <a:p>
            <a:pPr marL="365760" lvl="1" indent="0">
              <a:buNone/>
            </a:pPr>
            <a:r>
              <a:rPr lang="en-US" altLang="zh-TW" dirty="0"/>
              <a:t>text = " </a:t>
            </a:r>
            <a:r>
              <a:rPr lang="en-US" altLang="zh-TW" dirty="0" smtClean="0"/>
              <a:t>welcome </a:t>
            </a:r>
            <a:r>
              <a:rPr lang="en-US" altLang="zh-TW" dirty="0"/>
              <a:t>to </a:t>
            </a:r>
            <a:r>
              <a:rPr lang="en-US" altLang="zh-TW" dirty="0" smtClean="0"/>
              <a:t>KUAS</a:t>
            </a:r>
            <a:r>
              <a:rPr lang="en-US" altLang="zh-TW" dirty="0"/>
              <a:t> "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</a:t>
            </a:r>
            <a:r>
              <a:rPr lang="zh-TW" altLang="en-US" dirty="0" smtClean="0">
                <a:solidFill>
                  <a:srgbClr val="FF0000"/>
                </a:solidFill>
              </a:rPr>
              <a:t>字串</a:t>
            </a:r>
            <a:r>
              <a:rPr lang="en-US" altLang="zh-TW" dirty="0" err="1" smtClean="0">
                <a:solidFill>
                  <a:srgbClr val="00B050"/>
                </a:solidFill>
              </a:rPr>
              <a:t>wraplength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60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多少單位換行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00B050"/>
                </a:solidFill>
              </a:rPr>
              <a:t>anchor = </a:t>
            </a:r>
            <a:r>
              <a:rPr lang="en-US" altLang="zh-TW" dirty="0" smtClean="0">
                <a:solidFill>
                  <a:srgbClr val="00B050"/>
                </a:solidFill>
              </a:rPr>
              <a:t>"s"</a:t>
            </a:r>
            <a:r>
              <a:rPr lang="en-US" altLang="zh-TW" dirty="0" smtClean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靠下方顯示字串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00B050"/>
                </a:solidFill>
              </a:rPr>
              <a:t>justify = "left"</a:t>
            </a:r>
            <a:r>
              <a:rPr lang="en-US" altLang="zh-TW" dirty="0" smtClean="0"/>
              <a:t>).pack()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顯示的字串靠左對齊且建立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42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多行表示方式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err="1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程式碼太長也可以這樣表示</a:t>
            </a:r>
          </a:p>
          <a:p>
            <a:pPr marL="365760" lvl="1" indent="0">
              <a:buNone/>
            </a:pPr>
            <a:r>
              <a:rPr lang="en-US" altLang="zh-TW" dirty="0"/>
              <a:t>Label(root,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視窗名稱</a:t>
            </a:r>
          </a:p>
          <a:p>
            <a:pPr marL="365760" lvl="1" indent="0">
              <a:buNone/>
            </a:pPr>
            <a:r>
              <a:rPr lang="en-US" altLang="zh-TW" dirty="0"/>
              <a:t>text = </a:t>
            </a:r>
            <a:r>
              <a:rPr lang="en-US" altLang="zh-TW" dirty="0" smtClean="0"/>
              <a:t>"welcome </a:t>
            </a:r>
            <a:r>
              <a:rPr lang="en-US" altLang="zh-TW" dirty="0"/>
              <a:t>to </a:t>
            </a:r>
            <a:r>
              <a:rPr lang="en-US" altLang="zh-TW" dirty="0" smtClean="0"/>
              <a:t>KUAS",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顯示字串</a:t>
            </a:r>
          </a:p>
          <a:p>
            <a:pPr marL="365760" lvl="1" indent="0">
              <a:buNone/>
            </a:pPr>
            <a:r>
              <a:rPr lang="en-US" altLang="zh-TW" dirty="0" err="1"/>
              <a:t>bg</a:t>
            </a:r>
            <a:r>
              <a:rPr lang="en-US" altLang="zh-TW" dirty="0"/>
              <a:t> = </a:t>
            </a:r>
            <a:r>
              <a:rPr lang="en-US" altLang="zh-TW" dirty="0" smtClean="0"/>
              <a:t>"yellow",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背景顏色</a:t>
            </a:r>
          </a:p>
          <a:p>
            <a:pPr marL="365760" lvl="1" indent="0">
              <a:buNone/>
            </a:pPr>
            <a:r>
              <a:rPr lang="en-US" altLang="zh-TW" dirty="0"/>
              <a:t>width = 10,</a:t>
            </a:r>
            <a:r>
              <a:rPr lang="en-US" altLang="zh-TW" dirty="0">
                <a:solidFill>
                  <a:srgbClr val="FF0000"/>
                </a:solidFill>
              </a:rPr>
              <a:t>#Label</a:t>
            </a:r>
            <a:r>
              <a:rPr lang="zh-TW" altLang="en-US" dirty="0">
                <a:solidFill>
                  <a:srgbClr val="FF0000"/>
                </a:solidFill>
              </a:rPr>
              <a:t>寬度</a:t>
            </a:r>
          </a:p>
          <a:p>
            <a:pPr marL="365760" lvl="1" indent="0">
              <a:buNone/>
            </a:pPr>
            <a:r>
              <a:rPr lang="en-US" altLang="zh-TW" dirty="0"/>
              <a:t>height = 10, </a:t>
            </a:r>
            <a:r>
              <a:rPr lang="en-US" altLang="zh-TW" dirty="0">
                <a:solidFill>
                  <a:srgbClr val="FF0000"/>
                </a:solidFill>
              </a:rPr>
              <a:t>#Label</a:t>
            </a:r>
            <a:r>
              <a:rPr lang="zh-TW" altLang="en-US" dirty="0">
                <a:solidFill>
                  <a:srgbClr val="FF0000"/>
                </a:solidFill>
              </a:rPr>
              <a:t>高度</a:t>
            </a:r>
          </a:p>
          <a:p>
            <a:pPr marL="365760" lvl="1" indent="0">
              <a:buNone/>
            </a:pPr>
            <a:r>
              <a:rPr lang="en-US" altLang="zh-TW" dirty="0" err="1"/>
              <a:t>wraplength</a:t>
            </a:r>
            <a:r>
              <a:rPr lang="en-US" altLang="zh-TW" dirty="0"/>
              <a:t> = 60,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多少單位換行</a:t>
            </a:r>
          </a:p>
          <a:p>
            <a:pPr marL="365760" lvl="1" indent="0">
              <a:buNone/>
            </a:pPr>
            <a:r>
              <a:rPr lang="en-US" altLang="zh-TW" dirty="0"/>
              <a:t>anchor = </a:t>
            </a:r>
            <a:r>
              <a:rPr lang="en-US" altLang="zh-TW" dirty="0" smtClean="0"/>
              <a:t>"s",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en-US" altLang="zh-TW" dirty="0" err="1">
                <a:solidFill>
                  <a:srgbClr val="FF0000"/>
                </a:solidFill>
              </a:rPr>
              <a:t>靠下方顯示字串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justify </a:t>
            </a:r>
            <a:r>
              <a:rPr lang="en-US" altLang="zh-TW" dirty="0"/>
              <a:t>= </a:t>
            </a:r>
            <a:r>
              <a:rPr lang="en-US" altLang="zh-TW" dirty="0" smtClean="0"/>
              <a:t>"left").</a:t>
            </a:r>
            <a:r>
              <a:rPr lang="en-US" altLang="zh-TW" dirty="0"/>
              <a:t>pack()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顯示的字串靠左對齊且建立</a:t>
            </a:r>
            <a:r>
              <a:rPr lang="en-US" altLang="zh-TW" dirty="0">
                <a:solidFill>
                  <a:srgbClr val="FF0000"/>
                </a:solidFill>
              </a:rPr>
              <a:t>Label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dirty="0"/>
              <a:t>執行結果</a:t>
            </a:r>
            <a:r>
              <a:rPr lang="en-US" altLang="zh-TW" dirty="0"/>
              <a:t>:</a:t>
            </a:r>
            <a:endParaRPr lang="zh-TW" altLang="en-US" dirty="0"/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5229200"/>
            <a:ext cx="774369" cy="119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202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Label</a:t>
            </a:r>
            <a:r>
              <a:rPr lang="zh-TW" altLang="en-US" dirty="0" smtClean="0"/>
              <a:t>動態顯示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</a:p>
          <a:p>
            <a:pPr marL="365760" lvl="1" indent="0">
              <a:buNone/>
            </a:pPr>
            <a:r>
              <a:rPr lang="en-US" altLang="zh-TW" dirty="0"/>
              <a:t>string</a:t>
            </a:r>
            <a:r>
              <a:rPr lang="en-US" altLang="zh-TW" dirty="0" smtClean="0"/>
              <a:t>=["</a:t>
            </a:r>
            <a:r>
              <a:rPr lang="en-US" altLang="zh-TW" dirty="0" err="1" smtClean="0"/>
              <a:t>welcome","to","KUAS</a:t>
            </a:r>
            <a:r>
              <a:rPr lang="en-US" altLang="zh-TW" dirty="0" smtClean="0"/>
              <a:t>"]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count=1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計數器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</a:t>
            </a:r>
            <a:r>
              <a:rPr lang="en-US" altLang="zh-TW" dirty="0" err="1"/>
              <a:t>func</a:t>
            </a:r>
            <a:r>
              <a:rPr lang="en-US" altLang="zh-TW" dirty="0"/>
              <a:t>():</a:t>
            </a:r>
          </a:p>
          <a:p>
            <a:pPr marL="365760" lvl="1" indent="0">
              <a:buNone/>
            </a:pPr>
            <a:r>
              <a:rPr lang="en-US" altLang="zh-TW" dirty="0"/>
              <a:t>    global </a:t>
            </a:r>
            <a:r>
              <a:rPr lang="en-US" altLang="zh-TW" dirty="0" smtClean="0"/>
              <a:t>count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使用全域的</a:t>
            </a:r>
            <a:r>
              <a:rPr lang="en-US" altLang="zh-TW" dirty="0" smtClean="0">
                <a:solidFill>
                  <a:srgbClr val="FF0000"/>
                </a:solidFill>
              </a:rPr>
              <a:t>count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label.config</a:t>
            </a:r>
            <a:r>
              <a:rPr lang="en-US" altLang="zh-TW" dirty="0"/>
              <a:t>(text=string[count</a:t>
            </a:r>
            <a:r>
              <a:rPr lang="en-US" altLang="zh-TW" dirty="0" smtClean="0"/>
              <a:t>])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改變</a:t>
            </a:r>
            <a:r>
              <a:rPr lang="en-US" altLang="zh-TW" dirty="0" smtClean="0">
                <a:solidFill>
                  <a:srgbClr val="FF0000"/>
                </a:solidFill>
              </a:rPr>
              <a:t>text</a:t>
            </a:r>
            <a:r>
              <a:rPr lang="zh-TW" altLang="en-US" dirty="0" smtClean="0">
                <a:solidFill>
                  <a:srgbClr val="FF0000"/>
                </a:solidFill>
              </a:rPr>
              <a:t>中字串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smtClean="0"/>
              <a:t>count=count+1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下次顯示下一筆字串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if(count&gt;2</a:t>
            </a:r>
            <a:r>
              <a:rPr lang="en-US" altLang="zh-TW" dirty="0" smtClean="0"/>
              <a:t>):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大於</a:t>
            </a:r>
            <a:r>
              <a:rPr lang="en-US" altLang="zh-TW" dirty="0" smtClean="0">
                <a:solidFill>
                  <a:srgbClr val="FF0000"/>
                </a:solidFill>
              </a:rPr>
              <a:t>2(</a:t>
            </a:r>
            <a:r>
              <a:rPr lang="zh-TW" altLang="en-US" dirty="0" smtClean="0">
                <a:solidFill>
                  <a:srgbClr val="FF0000"/>
                </a:solidFill>
              </a:rPr>
              <a:t>索引值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</a:rPr>
              <a:t>回到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FF0000"/>
                </a:solidFill>
              </a:rPr>
              <a:t> (</a:t>
            </a:r>
            <a:r>
              <a:rPr lang="zh-TW" altLang="en-US" dirty="0">
                <a:solidFill>
                  <a:srgbClr val="FF0000"/>
                </a:solidFill>
              </a:rPr>
              <a:t>索引值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 marL="365760" lvl="1" indent="0">
              <a:buNone/>
            </a:pPr>
            <a:r>
              <a:rPr lang="en-US" altLang="zh-TW" dirty="0"/>
              <a:t>        count=0</a:t>
            </a:r>
          </a:p>
          <a:p>
            <a:pPr lvl="1"/>
            <a:endParaRPr lang="en-US" altLang="zh-TW" dirty="0"/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</a:t>
            </a:r>
            <a:r>
              <a:rPr lang="en-US" altLang="zh-TW" dirty="0">
                <a:solidFill>
                  <a:srgbClr val="FF0000"/>
                </a:solidFill>
              </a:rPr>
              <a:t>Label</a:t>
            </a:r>
            <a:r>
              <a:rPr lang="zh-TW" altLang="en-US" dirty="0">
                <a:solidFill>
                  <a:srgbClr val="FF0000"/>
                </a:solidFill>
              </a:rPr>
              <a:t>並顯示字串 </a:t>
            </a:r>
          </a:p>
          <a:p>
            <a:pPr marL="365760" lvl="1" indent="0">
              <a:buNone/>
            </a:pPr>
            <a:r>
              <a:rPr lang="en-US" altLang="zh-TW" dirty="0"/>
              <a:t>label = Label(</a:t>
            </a:r>
            <a:r>
              <a:rPr lang="en-US" altLang="zh-TW" dirty="0" err="1"/>
              <a:t>root,text</a:t>
            </a:r>
            <a:r>
              <a:rPr lang="en-US" altLang="zh-TW" dirty="0"/>
              <a:t> = </a:t>
            </a:r>
            <a:r>
              <a:rPr lang="en-US" altLang="zh-TW" dirty="0" smtClean="0"/>
              <a:t>"</a:t>
            </a:r>
            <a:r>
              <a:rPr lang="en-US" altLang="zh-TW" dirty="0"/>
              <a:t> welcome </a:t>
            </a:r>
            <a:r>
              <a:rPr lang="en-US" altLang="zh-TW" dirty="0" smtClean="0"/>
              <a:t>")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label.pack</a:t>
            </a:r>
            <a:r>
              <a:rPr lang="en-US" altLang="zh-TW" dirty="0"/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 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 </a:t>
            </a:r>
            <a:r>
              <a:rPr lang="en-US" altLang="zh-TW" dirty="0" smtClean="0">
                <a:solidFill>
                  <a:srgbClr val="FF0000"/>
                </a:solidFill>
              </a:rPr>
              <a:t>Button</a:t>
            </a:r>
            <a:r>
              <a:rPr lang="zh-TW" altLang="en-US" dirty="0" smtClean="0">
                <a:solidFill>
                  <a:srgbClr val="FF0000"/>
                </a:solidFill>
              </a:rPr>
              <a:t>，按下後呼叫</a:t>
            </a:r>
            <a:r>
              <a:rPr lang="en-US" altLang="zh-TW" dirty="0" err="1" smtClean="0">
                <a:solidFill>
                  <a:srgbClr val="FF0000"/>
                </a:solidFill>
              </a:rPr>
              <a:t>func</a:t>
            </a:r>
            <a:r>
              <a:rPr lang="en-US" altLang="zh-TW" dirty="0" smtClean="0">
                <a:solidFill>
                  <a:srgbClr val="FF0000"/>
                </a:solidFill>
              </a:rPr>
              <a:t>()</a:t>
            </a:r>
            <a:r>
              <a:rPr lang="zh-TW" altLang="en-US" dirty="0" smtClean="0">
                <a:solidFill>
                  <a:srgbClr val="FF0000"/>
                </a:solidFill>
              </a:rPr>
              <a:t>函式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Button(root</a:t>
            </a:r>
            <a:r>
              <a:rPr lang="en-US" altLang="zh-TW" dirty="0"/>
              <a:t>, text = "click", command=</a:t>
            </a:r>
            <a:r>
              <a:rPr lang="en-US" altLang="zh-TW" dirty="0" err="1"/>
              <a:t>func</a:t>
            </a:r>
            <a:r>
              <a:rPr lang="en-US" altLang="zh-TW" dirty="0"/>
              <a:t>).pack</a:t>
            </a:r>
            <a:r>
              <a:rPr lang="en-US" altLang="zh-TW" dirty="0" smtClean="0"/>
              <a:t>()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863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Label</a:t>
            </a:r>
            <a:r>
              <a:rPr lang="zh-TW" altLang="en-US" dirty="0"/>
              <a:t>動態顯示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</a:t>
            </a:r>
            <a:r>
              <a:rPr lang="zh-TW" altLang="en-US" dirty="0" smtClean="0"/>
              <a:t>狀態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按下</a:t>
            </a:r>
            <a:r>
              <a:rPr lang="en-US" altLang="zh-TW" dirty="0" smtClean="0"/>
              <a:t>click</a:t>
            </a:r>
            <a:r>
              <a:rPr lang="zh-TW" altLang="en-US" dirty="0" smtClean="0"/>
              <a:t>按鈕後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再次按下</a:t>
            </a:r>
            <a:r>
              <a:rPr lang="en-US" altLang="zh-TW" dirty="0"/>
              <a:t>click</a:t>
            </a:r>
            <a:r>
              <a:rPr lang="zh-TW" altLang="en-US" dirty="0"/>
              <a:t>按鈕後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430" y="5262364"/>
            <a:ext cx="1257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611016"/>
            <a:ext cx="1257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430" y="4005064"/>
            <a:ext cx="12573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412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資料來源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pan.baidu.com/share/link?shareid=2190696726&amp;uk=338543583&amp;fid=714357500588689</a:t>
            </a:r>
            <a:endParaRPr lang="en-US" altLang="zh-TW" dirty="0" smtClean="0"/>
          </a:p>
          <a:p>
            <a:pPr marL="274320" lvl="1"/>
            <a:r>
              <a:rPr lang="en-US" altLang="zh-TW" dirty="0">
                <a:hlinkClick r:id="rId3"/>
              </a:rPr>
              <a:t>http://www.ifreesite.com/color</a:t>
            </a:r>
            <a:r>
              <a:rPr lang="en-US" altLang="zh-TW" dirty="0" smtClean="0">
                <a:hlinkClick r:id="rId3"/>
              </a:rPr>
              <a:t>/</a:t>
            </a:r>
            <a:endParaRPr lang="en-US" altLang="zh-TW" dirty="0" smtClean="0"/>
          </a:p>
          <a:p>
            <a:pPr marL="274320" lvl="1"/>
            <a:r>
              <a:rPr lang="en-US" altLang="zh-TW" dirty="0">
                <a:hlinkClick r:id="rId4"/>
              </a:rPr>
              <a:t>http://</a:t>
            </a:r>
            <a:r>
              <a:rPr lang="en-US" altLang="zh-TW" dirty="0" smtClean="0">
                <a:hlinkClick r:id="rId4"/>
              </a:rPr>
              <a:t>efunotes.blogspot.tw/2014/11/python-34-tkinter-widgets.html</a:t>
            </a:r>
            <a:endParaRPr lang="en-US" altLang="zh-TW" dirty="0" smtClean="0"/>
          </a:p>
          <a:p>
            <a:pPr marL="274320" lvl="1"/>
            <a:endParaRPr lang="en-US" altLang="zh-TW" dirty="0" smtClean="0"/>
          </a:p>
          <a:p>
            <a:pPr marL="274320"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82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有三個按鈕，第一個為讓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中的字串變大，第二個為讓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中的字串變小，第三個可以讓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背景改變顏色，其中預設背景顏色為黃色，按下後變成紅色，再按一次恢復為黃色。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24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預設狀態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按下字體</a:t>
            </a:r>
            <a:r>
              <a:rPr lang="zh-TW" altLang="en-US" dirty="0" smtClean="0"/>
              <a:t>放大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780928"/>
            <a:ext cx="183832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745" y="4653135"/>
            <a:ext cx="20478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5081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按下</a:t>
            </a:r>
            <a:r>
              <a:rPr lang="zh-TW" altLang="en-US" dirty="0" smtClean="0"/>
              <a:t>字體縮小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按下改變顏色</a:t>
            </a:r>
            <a:r>
              <a:rPr lang="en-US" altLang="zh-TW" dirty="0" smtClean="0"/>
              <a:t>:</a:t>
            </a:r>
          </a:p>
          <a:p>
            <a:pPr marL="1097280" lvl="2" indent="-457200">
              <a:buFont typeface="Wingdings" pitchFamily="2" charset="2"/>
              <a:buChar char="n"/>
            </a:pPr>
            <a:r>
              <a:rPr lang="en-US" altLang="zh-TW" dirty="0" smtClean="0"/>
              <a:t>1</a:t>
            </a:r>
            <a:r>
              <a:rPr lang="zh-TW" altLang="en-US" dirty="0" smtClean="0"/>
              <a:t>次</a:t>
            </a:r>
            <a:r>
              <a:rPr lang="en-US" altLang="zh-TW" dirty="0" smtClean="0"/>
              <a:t>:	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924943"/>
            <a:ext cx="1838325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669" y="4816290"/>
            <a:ext cx="183832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282" y="4809431"/>
            <a:ext cx="183832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內容版面配置區 2"/>
          <p:cNvSpPr txBox="1">
            <a:spLocks/>
          </p:cNvSpPr>
          <p:nvPr/>
        </p:nvSpPr>
        <p:spPr>
          <a:xfrm>
            <a:off x="4934637" y="4237241"/>
            <a:ext cx="3384376" cy="681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16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Brush Script MT" pitchFamily="66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lang="zh-TW" altLang="en-US" sz="2000" dirty="0" smtClean="0"/>
              <a:t> </a:t>
            </a:r>
            <a:r>
              <a:rPr lang="en-US" altLang="zh-TW" sz="2000" dirty="0" smtClean="0"/>
              <a:t>2</a:t>
            </a:r>
            <a:r>
              <a:rPr lang="zh-TW" altLang="en-US" sz="2000" dirty="0" smtClean="0"/>
              <a:t>次</a:t>
            </a:r>
            <a:endParaRPr lang="en-US" altLang="zh-TW" sz="2000" dirty="0" smtClean="0"/>
          </a:p>
          <a:p>
            <a:pPr>
              <a:buFont typeface="Wingdings" pitchFamily="2" charset="2"/>
              <a:buChar char="n"/>
            </a:pP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10447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*#</a:t>
            </a:r>
            <a:r>
              <a:rPr lang="zh-TW" altLang="en-US" dirty="0"/>
              <a:t>載入函式庫</a:t>
            </a:r>
          </a:p>
          <a:p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()#</a:t>
            </a:r>
            <a:r>
              <a:rPr lang="zh-TW" altLang="en-US" dirty="0"/>
              <a:t>建立視窗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程式碼太長也可以這樣表示</a:t>
            </a:r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en-US" altLang="zh-TW" dirty="0"/>
              <a:t>count=10</a:t>
            </a:r>
          </a:p>
          <a:p>
            <a:r>
              <a:rPr lang="en-US" altLang="zh-TW" dirty="0" err="1"/>
              <a:t>color_count</a:t>
            </a:r>
            <a:r>
              <a:rPr lang="en-US" altLang="zh-TW" dirty="0"/>
              <a:t>=0</a:t>
            </a:r>
          </a:p>
          <a:p>
            <a:r>
              <a:rPr lang="en-US" altLang="zh-TW" dirty="0" err="1"/>
              <a:t>color_list</a:t>
            </a:r>
            <a:r>
              <a:rPr lang="en-US" altLang="zh-TW" dirty="0"/>
              <a:t>=["</a:t>
            </a:r>
            <a:r>
              <a:rPr lang="en-US" altLang="zh-TW" dirty="0" err="1"/>
              <a:t>yellow","red</a:t>
            </a:r>
            <a:r>
              <a:rPr lang="en-US" altLang="zh-TW" dirty="0"/>
              <a:t>"]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larger():</a:t>
            </a:r>
          </a:p>
          <a:p>
            <a:r>
              <a:rPr lang="en-US" altLang="zh-TW" dirty="0"/>
              <a:t>    global count</a:t>
            </a:r>
          </a:p>
          <a:p>
            <a:r>
              <a:rPr lang="en-US" altLang="zh-TW" dirty="0"/>
              <a:t>    count+=5</a:t>
            </a:r>
          </a:p>
          <a:p>
            <a:r>
              <a:rPr lang="en-US" altLang="zh-TW" dirty="0"/>
              <a:t>    label["font"] = ("", count, "")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small():</a:t>
            </a:r>
          </a:p>
          <a:p>
            <a:r>
              <a:rPr lang="en-US" altLang="zh-TW" dirty="0"/>
              <a:t>    global count</a:t>
            </a:r>
          </a:p>
          <a:p>
            <a:r>
              <a:rPr lang="en-US" altLang="zh-TW" dirty="0"/>
              <a:t>    count-=5</a:t>
            </a:r>
          </a:p>
          <a:p>
            <a:r>
              <a:rPr lang="en-US" altLang="zh-TW" dirty="0"/>
              <a:t>    label["font"] = ("", count, "")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color():</a:t>
            </a:r>
          </a:p>
          <a:p>
            <a:r>
              <a:rPr lang="en-US" altLang="zh-TW" dirty="0"/>
              <a:t>    global </a:t>
            </a:r>
            <a:r>
              <a:rPr lang="en-US" altLang="zh-TW" dirty="0" err="1"/>
              <a:t>color_count</a:t>
            </a:r>
            <a:endParaRPr lang="en-US" altLang="zh-TW" dirty="0"/>
          </a:p>
          <a:p>
            <a:r>
              <a:rPr lang="en-US" altLang="zh-TW" dirty="0"/>
              <a:t>    </a:t>
            </a:r>
            <a:r>
              <a:rPr lang="en-US" altLang="zh-TW" dirty="0" err="1"/>
              <a:t>color_count</a:t>
            </a:r>
            <a:r>
              <a:rPr lang="en-US" altLang="zh-TW" dirty="0"/>
              <a:t>+=1</a:t>
            </a:r>
          </a:p>
          <a:p>
            <a:r>
              <a:rPr lang="en-US" altLang="zh-TW" dirty="0"/>
              <a:t>    if(color_count%2==0):</a:t>
            </a:r>
          </a:p>
          <a:p>
            <a:r>
              <a:rPr lang="en-US" altLang="zh-TW" dirty="0"/>
              <a:t>        label["</a:t>
            </a:r>
            <a:r>
              <a:rPr lang="en-US" altLang="zh-TW" dirty="0" err="1"/>
              <a:t>bg</a:t>
            </a:r>
            <a:r>
              <a:rPr lang="en-US" altLang="zh-TW" dirty="0"/>
              <a:t>"] =  </a:t>
            </a:r>
            <a:r>
              <a:rPr lang="en-US" altLang="zh-TW" dirty="0" err="1"/>
              <a:t>color_list</a:t>
            </a:r>
            <a:r>
              <a:rPr lang="en-US" altLang="zh-TW" dirty="0"/>
              <a:t>[0]</a:t>
            </a:r>
          </a:p>
          <a:p>
            <a:r>
              <a:rPr lang="en-US" altLang="zh-TW" dirty="0"/>
              <a:t>    else:</a:t>
            </a:r>
          </a:p>
          <a:p>
            <a:r>
              <a:rPr lang="en-US" altLang="zh-TW" dirty="0"/>
              <a:t>        label["</a:t>
            </a:r>
            <a:r>
              <a:rPr lang="en-US" altLang="zh-TW" dirty="0" err="1"/>
              <a:t>bg</a:t>
            </a:r>
            <a:r>
              <a:rPr lang="en-US" altLang="zh-TW" dirty="0"/>
              <a:t>"] =  </a:t>
            </a:r>
            <a:r>
              <a:rPr lang="en-US" altLang="zh-TW" dirty="0" err="1"/>
              <a:t>color_list</a:t>
            </a:r>
            <a:r>
              <a:rPr lang="en-US" altLang="zh-TW" dirty="0"/>
              <a:t>[1]</a:t>
            </a:r>
          </a:p>
          <a:p>
            <a:r>
              <a:rPr lang="en-US" altLang="zh-TW" dirty="0"/>
              <a:t>    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label=Label(root,#</a:t>
            </a:r>
            <a:r>
              <a:rPr lang="zh-TW" altLang="en-US" dirty="0"/>
              <a:t>視窗名稱</a:t>
            </a:r>
          </a:p>
          <a:p>
            <a:r>
              <a:rPr lang="en-US" altLang="zh-TW" dirty="0"/>
              <a:t>text = "welcome to KUAS",#</a:t>
            </a:r>
            <a:r>
              <a:rPr lang="zh-TW" altLang="en-US" dirty="0"/>
              <a:t>顯示字串</a:t>
            </a:r>
          </a:p>
          <a:p>
            <a:r>
              <a:rPr lang="en-US" altLang="zh-TW" dirty="0" err="1"/>
              <a:t>bg</a:t>
            </a:r>
            <a:r>
              <a:rPr lang="en-US" altLang="zh-TW" dirty="0"/>
              <a:t> = </a:t>
            </a:r>
            <a:r>
              <a:rPr lang="en-US" altLang="zh-TW" dirty="0" err="1"/>
              <a:t>color_list</a:t>
            </a:r>
            <a:r>
              <a:rPr lang="en-US" altLang="zh-TW" dirty="0"/>
              <a:t>[0],#</a:t>
            </a:r>
            <a:r>
              <a:rPr lang="zh-TW" altLang="en-US" dirty="0"/>
              <a:t>背景顏色</a:t>
            </a:r>
          </a:p>
          <a:p>
            <a:r>
              <a:rPr lang="en-US" altLang="zh-TW" dirty="0"/>
              <a:t>anchor = "s", #</a:t>
            </a:r>
            <a:r>
              <a:rPr lang="zh-TW" altLang="en-US" dirty="0"/>
              <a:t>靠下方顯示字串</a:t>
            </a:r>
          </a:p>
          <a:p>
            <a:r>
              <a:rPr lang="en-US" altLang="zh-TW" dirty="0"/>
              <a:t>justify = "left") #</a:t>
            </a:r>
            <a:r>
              <a:rPr lang="zh-TW" altLang="en-US" dirty="0"/>
              <a:t>顯示的字串靠左對齊且建立</a:t>
            </a:r>
            <a:r>
              <a:rPr lang="en-US" altLang="zh-TW" dirty="0"/>
              <a:t>Label</a:t>
            </a:r>
          </a:p>
          <a:p>
            <a:r>
              <a:rPr lang="en-US" altLang="zh-TW" dirty="0"/>
              <a:t>label["font"] = ("", 10, "")</a:t>
            </a:r>
          </a:p>
          <a:p>
            <a:r>
              <a:rPr lang="en-US" altLang="zh-TW" dirty="0" err="1"/>
              <a:t>label.pack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#</a:t>
            </a:r>
            <a:r>
              <a:rPr lang="zh-TW" altLang="en-US" dirty="0"/>
              <a:t>顯示字串與設定呼叫指定函式</a:t>
            </a:r>
          </a:p>
          <a:p>
            <a:r>
              <a:rPr lang="en-US" altLang="zh-TW" dirty="0"/>
              <a:t>Button1 = Button(</a:t>
            </a:r>
            <a:r>
              <a:rPr lang="en-US" altLang="zh-TW" dirty="0" err="1"/>
              <a:t>root,anchor</a:t>
            </a:r>
            <a:r>
              <a:rPr lang="en-US" altLang="zh-TW" dirty="0"/>
              <a:t>="</a:t>
            </a:r>
            <a:r>
              <a:rPr lang="en-US" altLang="zh-TW" dirty="0" err="1"/>
              <a:t>e",text</a:t>
            </a:r>
            <a:r>
              <a:rPr lang="en-US" altLang="zh-TW" dirty="0"/>
              <a:t>="</a:t>
            </a:r>
            <a:r>
              <a:rPr lang="zh-TW" altLang="en-US" dirty="0"/>
              <a:t>字體放大</a:t>
            </a:r>
            <a:r>
              <a:rPr lang="en-US" altLang="zh-TW" dirty="0"/>
              <a:t>",command= larger)</a:t>
            </a:r>
          </a:p>
          <a:p>
            <a:r>
              <a:rPr lang="en-US" altLang="zh-TW" dirty="0"/>
              <a:t>Button1.pack(side="left")</a:t>
            </a:r>
          </a:p>
          <a:p>
            <a:endParaRPr lang="en-US" altLang="zh-TW" dirty="0"/>
          </a:p>
          <a:p>
            <a:r>
              <a:rPr lang="en-US" altLang="zh-TW" dirty="0"/>
              <a:t>Button2 = Button(</a:t>
            </a:r>
            <a:r>
              <a:rPr lang="en-US" altLang="zh-TW" dirty="0" err="1"/>
              <a:t>root,anchor</a:t>
            </a:r>
            <a:r>
              <a:rPr lang="en-US" altLang="zh-TW" dirty="0"/>
              <a:t>="</a:t>
            </a:r>
            <a:r>
              <a:rPr lang="en-US" altLang="zh-TW" dirty="0" err="1"/>
              <a:t>e",text</a:t>
            </a:r>
            <a:r>
              <a:rPr lang="en-US" altLang="zh-TW" dirty="0"/>
              <a:t>="</a:t>
            </a:r>
            <a:r>
              <a:rPr lang="zh-TW" altLang="en-US" dirty="0"/>
              <a:t>字體縮小</a:t>
            </a:r>
            <a:r>
              <a:rPr lang="en-US" altLang="zh-TW" dirty="0"/>
              <a:t>",command= small)</a:t>
            </a:r>
          </a:p>
          <a:p>
            <a:r>
              <a:rPr lang="en-US" altLang="zh-TW" dirty="0"/>
              <a:t>Button2.pack(side="left")</a:t>
            </a:r>
          </a:p>
          <a:p>
            <a:r>
              <a:rPr lang="en-US" altLang="zh-TW" dirty="0"/>
              <a:t>Button3 = Button(</a:t>
            </a:r>
            <a:r>
              <a:rPr lang="en-US" altLang="zh-TW" dirty="0" err="1"/>
              <a:t>root,anchor</a:t>
            </a:r>
            <a:r>
              <a:rPr lang="en-US" altLang="zh-TW" dirty="0"/>
              <a:t>="</a:t>
            </a:r>
            <a:r>
              <a:rPr lang="en-US" altLang="zh-TW" dirty="0" err="1"/>
              <a:t>e",text</a:t>
            </a:r>
            <a:r>
              <a:rPr lang="en-US" altLang="zh-TW" dirty="0"/>
              <a:t>="</a:t>
            </a:r>
            <a:r>
              <a:rPr lang="zh-TW" altLang="en-US" dirty="0"/>
              <a:t>改變顏色</a:t>
            </a:r>
            <a:r>
              <a:rPr lang="en-US" altLang="zh-TW" dirty="0"/>
              <a:t>",command= color)</a:t>
            </a:r>
          </a:p>
          <a:p>
            <a:r>
              <a:rPr lang="en-US" altLang="zh-TW" dirty="0"/>
              <a:t>Button3.pack(side="left")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3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481</TotalTime>
  <Words>1488</Words>
  <Application>Microsoft Office PowerPoint</Application>
  <PresentationFormat>如螢幕大小 (4:3)</PresentationFormat>
  <Paragraphs>308</Paragraphs>
  <Slides>28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29" baseType="lpstr">
      <vt:lpstr>圖釘</vt:lpstr>
      <vt:lpstr>Label組件</vt:lpstr>
      <vt:lpstr>學習目標</vt:lpstr>
      <vt:lpstr>建立一個Label</vt:lpstr>
      <vt:lpstr>建立一個Label</vt:lpstr>
      <vt:lpstr>Label顯示字串與圖示</vt:lpstr>
      <vt:lpstr>Label顯示字串與圖示</vt:lpstr>
      <vt:lpstr>Label顯示字串與圖示</vt:lpstr>
      <vt:lpstr>Label顯示字串與圖示</vt:lpstr>
      <vt:lpstr>Label顯示字串與圖示</vt:lpstr>
      <vt:lpstr>Label顯示字串與圖示</vt:lpstr>
      <vt:lpstr>設定Label顏色</vt:lpstr>
      <vt:lpstr>設定Label顏色</vt:lpstr>
      <vt:lpstr>設定Label顏色</vt:lpstr>
      <vt:lpstr>設定Label大小</vt:lpstr>
      <vt:lpstr>設定Label大小</vt:lpstr>
      <vt:lpstr>設定Label中的字體</vt:lpstr>
      <vt:lpstr>設定Label中的字體</vt:lpstr>
      <vt:lpstr>設定Label中的字體</vt:lpstr>
      <vt:lpstr>Label多行表示方式</vt:lpstr>
      <vt:lpstr>Label多行表示方式</vt:lpstr>
      <vt:lpstr>Label多行表示方式</vt:lpstr>
      <vt:lpstr>Label動態顯示</vt:lpstr>
      <vt:lpstr>Label動態顯示</vt:lpstr>
      <vt:lpstr>資料來源</vt:lpstr>
      <vt:lpstr>作業</vt:lpstr>
      <vt:lpstr>作業</vt:lpstr>
      <vt:lpstr>作業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weng1</dc:creator>
  <cp:lastModifiedBy>user</cp:lastModifiedBy>
  <cp:revision>250</cp:revision>
  <dcterms:created xsi:type="dcterms:W3CDTF">2015-08-18T06:38:18Z</dcterms:created>
  <dcterms:modified xsi:type="dcterms:W3CDTF">2019-03-27T03:02:41Z</dcterms:modified>
</cp:coreProperties>
</file>